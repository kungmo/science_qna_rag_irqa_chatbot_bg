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95" r:id="rId2"/>
    <p:sldId id="257" r:id="rId3"/>
    <p:sldId id="259" r:id="rId4"/>
    <p:sldId id="258" r:id="rId5"/>
    <p:sldId id="304" r:id="rId6"/>
    <p:sldId id="303" r:id="rId7"/>
    <p:sldId id="305" r:id="rId8"/>
    <p:sldId id="311" r:id="rId9"/>
    <p:sldId id="309" r:id="rId10"/>
    <p:sldId id="307" r:id="rId11"/>
    <p:sldId id="310" r:id="rId12"/>
    <p:sldId id="30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0"/>
    <p:restoredTop sz="84572"/>
  </p:normalViewPr>
  <p:slideViewPr>
    <p:cSldViewPr snapToGrid="0">
      <p:cViewPr varScale="1">
        <p:scale>
          <a:sx n="89" d="100"/>
          <a:sy n="89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BD093-1B92-9D43-A42A-8D7AA076151F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6E038-37BF-984B-B2CC-E10CD9D362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600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Hello, everyone. Thank you for inviting me today. I am very honored to speak at Plovdiv University.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334155"/>
                </a:solidFill>
              </a:rPr>
              <a:t>I want to introduce myself first. I am a high school teacher in Korea — teaching 12th-grade students. As you know, teaching 12th graders is a very busy job. And I am an instructor at Seoul National University.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Today’s lecture will be focused on interactive hands-on activities.</a:t>
            </a:r>
            <a:endParaRPr lang="en-US" altLang="ko-KR" sz="1200" dirty="0">
              <a:solidFill>
                <a:srgbClr val="334155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4F10F-18E8-4319-973F-13274A4BAA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183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As a teacher, I see many students using AI chatbots like ChatGPT.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But using commercial AI chatbots in public schools is difficult:</a:t>
            </a:r>
          </a:p>
          <a:p>
            <a:endParaRPr lang="en-US" altLang="ko-KR" dirty="0"/>
          </a:p>
          <a:p>
            <a:r>
              <a:rPr lang="en-US" altLang="ko-KR" dirty="0"/>
              <a:t>These three worries shaped every decision in our research.</a:t>
            </a:r>
          </a:p>
          <a:p>
            <a:endParaRPr lang="en-US" altLang="ko-KR" dirty="0"/>
          </a:p>
          <a:p>
            <a:r>
              <a:rPr lang="en-US" altLang="ko-KR" dirty="0"/>
              <a:t>Recently, smart 'AI Agents' are very popular. They can solve complex problems automatically.</a:t>
            </a:r>
          </a:p>
          <a:p>
            <a:r>
              <a:rPr lang="en-US" altLang="ko-KR" dirty="0"/>
              <a:t>But for simple high school science questions, this is dangerous.</a:t>
            </a:r>
          </a:p>
          <a:p>
            <a:r>
              <a:rPr lang="en-US" altLang="ko-KR" dirty="0"/>
              <a:t>The AI does the thinking, not the student.</a:t>
            </a:r>
          </a:p>
          <a:p>
            <a:r>
              <a:rPr lang="en-US" altLang="ko-KR" dirty="0"/>
              <a:t>We need an AI that acts as a 'Guide', not a 'Problem Solver'.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4F10F-18E8-4319-973F-13274A4BAAE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40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For example, student asks about photosynthesis → AI finds relevant Q&amp;A pairs made from students’ real questions and the corpuses in the textbook → It can give a safe, accurate answer.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4F10F-18E8-4319-973F-13274A4BAA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287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4F10F-18E8-4319-973F-13274A4BAA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503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(Please look at the screenshot)</a:t>
            </a:r>
          </a:p>
          <a:p>
            <a:r>
              <a:rPr lang="en-US" altLang="ko-KR" dirty="0"/>
              <a:t>This is what my students see on their phones.</a:t>
            </a:r>
          </a:p>
          <a:p>
            <a:r>
              <a:rPr lang="en-US" altLang="ko-KR" dirty="0"/>
              <a:t>A student asks: 'Why is photosynthesis considered anabolism?'</a:t>
            </a:r>
          </a:p>
          <a:p>
            <a:r>
              <a:rPr lang="en-US" altLang="ko-KR" dirty="0"/>
              <a:t>The AI explains it step-by-step.</a:t>
            </a:r>
          </a:p>
          <a:p>
            <a:r>
              <a:rPr lang="en-US" altLang="ko-KR" dirty="0"/>
              <a:t>Below, you see buttons suggesting other related questions.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4F10F-18E8-4319-973F-13274A4BAA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56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33C8E-CFEF-32D8-ABCE-ADB0A4CBF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5CA4B0-56B0-B12A-F9F4-8C8130B62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D20FE-F8B3-8B15-24DD-018BC5E2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E61645-55AC-C63A-7E56-768AC91D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3FA1E-7207-01E2-7E46-51D8A558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7535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66E5B-B93D-9E67-A15A-6BD839FED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1822A-D4C3-3A8E-6BC6-D55F4CB9F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40203-E6AD-1807-F819-9F0C7F5BE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5726A7-A08A-17D0-C440-913AFAF9B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9151D8-67A9-F4C0-3E99-4445DC7F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10370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7831A-8AE3-EBD5-56D3-161A8CC9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432C3F-6B0C-CDE0-17E7-2C39437B1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618970-D88B-1B31-C449-EF69E464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4F789-42F6-E1E6-EE6D-389C37B0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0289A-BA7C-BC22-8A8A-2CCC6E1B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250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760A0-DF81-45A1-574B-F2715A7E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96A45-40B8-DFA4-B659-A2208C83A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A3ED77-D5E3-5142-E967-B5844AC10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E99759-B3A6-A99D-A661-7BBC9A2EA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6D90E0-E6A6-206E-421E-14539AD6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C989A9-0F61-5F57-9D8A-F38C2A1C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471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0A0DB2-F51D-B37C-E1B3-4302102FA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6F2A77-A71E-C3E7-1D3F-51A156B96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6D311C-B2C9-4EA0-FC6A-DCE1C771A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B5129D-5C00-4589-8286-490935D16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D96480-A275-073B-D8AA-BB451A38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E12E35-3C1D-13C3-E8B6-10BA02DB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19AF24-6DA7-E94C-072B-513F2BC9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1BD653-B916-0264-0884-75649FE3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305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05236-8335-CF09-F32D-BCBAF74D6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98CD9C-A720-11C4-EBF7-655D9AF1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9432AC-2E30-8818-2D31-3B0ACC5D9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21CCF8-62D4-9DAC-BEEA-A9359DB9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1491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173145-B931-CB86-9D2E-7AEAC475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56C066-2FB3-BBF9-4471-5D04C84A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E9E47-19BE-440F-84D8-F807C18A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8846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633CF-2455-8A16-5CA7-0ED98B9E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87BBFF-46C2-2AB4-865E-F41D81B25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60BE91-D2B4-EB27-6914-794AABB42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9EC649-02FF-225E-B223-58F36425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2BFC6F-69F3-4572-13CB-D95767B6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2214DE-5D94-163C-D6BC-E20B5E60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7580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106CC-61FA-8CB5-6644-C46A0C88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E3C880-FA8B-9B3A-9150-D2DB526C6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0738FF-2AF5-55A2-DB7D-AF7561C04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048F87-9D3B-7DD2-DDA0-7EED8DF35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571DC3-1F3A-CE22-EEB7-3D14C6C5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4F3768-300A-8630-1025-CFFF4455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91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E7D5A-C254-4290-FD52-33ABAAC6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76126E-685D-0B66-8015-C4BA72388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D4D20E-C69A-87E3-8533-E60807A28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08995B-61B8-2329-0913-E1B803C5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ABE55E-0A12-D721-5FA4-4D9F7D95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52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06D6E1-4205-7A0E-EDA7-441DC893C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1704F4-C1CB-4076-8DF6-F0845B44A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DA21AE-6E33-8F12-FDC6-F818B38D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ED6EAF-362A-51AB-23B8-7C470002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541721-8DD1-C8F4-7B78-3DFB50DD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963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3A25D7-FBDE-BE1D-D64D-BA126C65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090AB9-5522-F7CD-8BD1-3AEE2F57A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5D6A0C-F3D3-9C3A-4666-DDBA352E5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922312-940B-B546-AFEA-4B752D7D0CA1}" type="datetimeFigureOut">
              <a:rPr kumimoji="1" lang="ko-KR" altLang="en-US" smtClean="0"/>
              <a:t>2026. 4. 21.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6034AA-921D-14CB-2977-DDEC1147B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F0890A-77C6-194A-D6D8-EEBE853C4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52835-6021-C741-B3EF-8F1D6805358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962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er2.snu.ac.kr:8503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kungmo/science_qna_rag_irqa_chatbot_b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813E2-5A3C-04FA-C430-4E6C34460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278391"/>
            <a:ext cx="10668000" cy="2387600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High School Science Q&amp;A Chatbot:</a:t>
            </a:r>
            <a:br>
              <a:rPr lang="en-US" altLang="ko-KR" sz="4400" dirty="0"/>
            </a:br>
            <a:r>
              <a:rPr lang="en-US" altLang="ko-KR" sz="4400" dirty="0"/>
              <a:t>A Hybrid IRQA–RAG Approach with an</a:t>
            </a:r>
            <a:r>
              <a:rPr lang="ko-KR" altLang="en-US" sz="4400" dirty="0"/>
              <a:t> </a:t>
            </a:r>
            <a:r>
              <a:rPr lang="en-US" altLang="ko-KR" sz="4400" dirty="0"/>
              <a:t>Open-Source LLMs</a:t>
            </a:r>
            <a:br>
              <a:rPr lang="en-US" altLang="ko-KR" sz="4400" dirty="0"/>
            </a:br>
            <a:r>
              <a:rPr lang="en-US" altLang="ko-KR" sz="4400" dirty="0"/>
              <a:t>(part 2: run on your own chatbot.)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343CEE-88C5-9EE5-47CF-DBF1339F7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7756"/>
            <a:ext cx="9144000" cy="1655762"/>
          </a:xfrm>
        </p:spPr>
        <p:txBody>
          <a:bodyPr/>
          <a:lstStyle/>
          <a:p>
            <a:r>
              <a:rPr lang="en-US" altLang="ko-KR" dirty="0" err="1"/>
              <a:t>Gyeongmo</a:t>
            </a:r>
            <a:r>
              <a:rPr lang="en-US" altLang="ko-KR" dirty="0"/>
              <a:t> Min, </a:t>
            </a:r>
            <a:r>
              <a:rPr lang="en-US" altLang="ko-KR" dirty="0" err="1"/>
              <a:t>Junehee</a:t>
            </a:r>
            <a:r>
              <a:rPr lang="en-US" altLang="ko-KR" dirty="0"/>
              <a:t> Yoo</a:t>
            </a:r>
          </a:p>
          <a:p>
            <a:endParaRPr lang="en-US" altLang="ko-KR" dirty="0"/>
          </a:p>
          <a:p>
            <a:r>
              <a:rPr lang="en-US" altLang="ko-KR" dirty="0"/>
              <a:t>Department of Physics Education, Seoul 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481793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FAD6C-3DC9-B1A4-0FBD-A61D819A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191B68-E232-B8C9-6A27-2784C7F9E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ko-KR" dirty="0"/>
              <a:t>A science teacher’s worries about AI chatbots</a:t>
            </a:r>
          </a:p>
          <a:p>
            <a:pPr lvl="1"/>
            <a:r>
              <a:rPr lang="en-US" altLang="ko-KR" dirty="0"/>
              <a:t>Cost: Public schools do not have enough money to pay for commercial AI services.</a:t>
            </a:r>
          </a:p>
          <a:p>
            <a:pPr lvl="1"/>
            <a:r>
              <a:rPr lang="en-US" altLang="ko-KR" dirty="0"/>
              <a:t>Privacy: We must protect student data. It’s necessary that students’ information do not flow to the public.</a:t>
            </a:r>
          </a:p>
          <a:p>
            <a:pPr lvl="1"/>
            <a:r>
              <a:rPr lang="en-US" altLang="ko-KR" dirty="0"/>
              <a:t>The Danger of AI Agents: If AI chatbots just give the final answer, students stop thinking for themselves.</a:t>
            </a:r>
          </a:p>
          <a:p>
            <a:pPr lvl="2"/>
            <a:r>
              <a:rPr lang="en-US" altLang="ko-KR" dirty="0"/>
              <a:t>AI agent solves complex problems automatically.</a:t>
            </a:r>
          </a:p>
          <a:p>
            <a:pPr lvl="2"/>
            <a:r>
              <a:rPr lang="en-US" altLang="ko-KR" dirty="0"/>
              <a:t>The AI does ALL the thinking.</a:t>
            </a:r>
          </a:p>
          <a:p>
            <a:pPr lvl="2"/>
            <a:r>
              <a:rPr lang="en-US" altLang="ko-KR" dirty="0"/>
              <a:t>Students just wait for the answer.</a:t>
            </a:r>
          </a:p>
          <a:p>
            <a:pPr lvl="2"/>
            <a:r>
              <a:rPr lang="en-US" altLang="ko-KR" dirty="0"/>
              <a:t>Reasoning process is invisible.</a:t>
            </a:r>
          </a:p>
          <a:p>
            <a:pPr lvl="2"/>
            <a:r>
              <a:rPr lang="en-US" altLang="ko-KR" dirty="0"/>
              <a:t>Student thinking is replaced, not supported.</a:t>
            </a:r>
          </a:p>
          <a:p>
            <a:r>
              <a:rPr lang="en-US" altLang="ko-KR" dirty="0"/>
              <a:t>We need an AI that acts as a 'Guide', not a 'Problem Solver'.</a:t>
            </a:r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558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DF939-3476-9FEF-4C02-ABAF5C3CE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altLang="ko-KR" dirty="0"/>
              <a:t>Two Core Technologies for hybrid approach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D5D5FC-2540-AF67-EAB2-E93B6593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62139" cy="4844807"/>
          </a:xfrm>
        </p:spPr>
        <p:txBody>
          <a:bodyPr/>
          <a:lstStyle/>
          <a:p>
            <a:r>
              <a:rPr lang="en-US" altLang="ko-KR" dirty="0"/>
              <a:t>RAG (Retrieval-Augmented Generation) for grounded answers</a:t>
            </a:r>
          </a:p>
          <a:p>
            <a:pPr lvl="1"/>
            <a:r>
              <a:rPr lang="en-US" altLang="ko-KR" dirty="0"/>
              <a:t>AI reads contexts about students’ question before answering.</a:t>
            </a:r>
          </a:p>
          <a:p>
            <a:pPr lvl="1"/>
            <a:r>
              <a:rPr lang="en-US" altLang="ko-KR" dirty="0"/>
              <a:t>Contexts:</a:t>
            </a:r>
          </a:p>
          <a:p>
            <a:pPr lvl="2"/>
            <a:r>
              <a:rPr lang="en-US" altLang="ko-KR" dirty="0"/>
              <a:t>4 pairs of the actual students’ questions and teacher’s answers.</a:t>
            </a:r>
          </a:p>
          <a:p>
            <a:pPr lvl="2"/>
            <a:r>
              <a:rPr lang="en-US" altLang="ko-KR" dirty="0"/>
              <a:t>6 corpuses of the actual science textbooks.</a:t>
            </a:r>
          </a:p>
          <a:p>
            <a:pPr lvl="1"/>
            <a:r>
              <a:rPr lang="en-US" altLang="ko-KR" dirty="0"/>
              <a:t>Benefits: It answers based on Q&amp;A pairs and the textbooks. So it reduces hallucination.</a:t>
            </a:r>
          </a:p>
          <a:p>
            <a:pPr lvl="1"/>
            <a:endParaRPr lang="en-US" altLang="ko-KR" dirty="0"/>
          </a:p>
          <a:p>
            <a:r>
              <a:rPr lang="fr-FR" altLang="ko-KR" dirty="0"/>
              <a:t>IRQA (Information Retrieval Q&amp;A) for peer learning</a:t>
            </a:r>
          </a:p>
          <a:p>
            <a:pPr lvl="1"/>
            <a:r>
              <a:rPr lang="en-US" altLang="ko-KR" dirty="0"/>
              <a:t>System searches past student questions and shows similar Q&amp;A pairs.</a:t>
            </a:r>
          </a:p>
          <a:p>
            <a:pPr lvl="1"/>
            <a:r>
              <a:rPr lang="en-US" altLang="ko-KR" dirty="0"/>
              <a:t>Benefits: Like reading a friend's study notes, students feel they are not studying alone by showing actual students’ Q&amp;A pairs.</a:t>
            </a:r>
          </a:p>
        </p:txBody>
      </p:sp>
    </p:spTree>
    <p:extLst>
      <p:ext uri="{BB962C8B-B14F-4D97-AF65-F5344CB8AC3E}">
        <p14:creationId xmlns:p14="http://schemas.microsoft.com/office/powerpoint/2010/main" val="82623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23D4B-3881-9F2E-6C46-821AB5C79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Our Solution: A Hybrid Approach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85C278-D07E-ACBC-50F5-BC33BA3B1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02815" cy="5032375"/>
          </a:xfrm>
        </p:spPr>
        <p:txBody>
          <a:bodyPr>
            <a:normAutofit/>
          </a:bodyPr>
          <a:lstStyle/>
          <a:p>
            <a:r>
              <a:rPr lang="en-US" altLang="ko-KR" dirty="0"/>
              <a:t>To solve these real classroom problems, we made a new system.</a:t>
            </a:r>
          </a:p>
          <a:p>
            <a:pPr lvl="1"/>
            <a:r>
              <a:rPr lang="en-US" altLang="ko-KR" dirty="0"/>
              <a:t>No API costs using open-source LLM – like Google Gemma 3 12B.</a:t>
            </a:r>
          </a:p>
          <a:p>
            <a:pPr lvl="1"/>
            <a:r>
              <a:rPr lang="en-US" altLang="ko-KR" dirty="0"/>
              <a:t>Runs on a local school server – No student data leaves the school.</a:t>
            </a:r>
          </a:p>
          <a:p>
            <a:pPr lvl="1"/>
            <a:r>
              <a:rPr lang="en-US" altLang="ko-KR" dirty="0"/>
              <a:t>Hybrid system – RAG + IRQA for accurate answers and peer learning.</a:t>
            </a:r>
          </a:p>
          <a:p>
            <a:endParaRPr lang="en-US" altLang="ko-KR" dirty="0"/>
          </a:p>
          <a:p>
            <a:r>
              <a:rPr lang="en-US" altLang="ko-KR" dirty="0"/>
              <a:t>By applying these hybrid approach, AI chatbots can be a guide.</a:t>
            </a:r>
          </a:p>
          <a:p>
            <a:pPr lvl="1"/>
            <a:r>
              <a:rPr lang="en-US" altLang="ko-KR" dirty="0"/>
              <a:t>Provides relevant information only.</a:t>
            </a:r>
          </a:p>
          <a:p>
            <a:pPr lvl="1"/>
            <a:r>
              <a:rPr lang="en-US" altLang="ko-KR" dirty="0"/>
              <a:t>Students still have to think and decide. – Active thinking is facilitated.</a:t>
            </a:r>
          </a:p>
          <a:p>
            <a:pPr lvl="1"/>
            <a:r>
              <a:rPr lang="en-US" altLang="ko-KR" dirty="0"/>
              <a:t>LLM’s reasoning process is shown step-by-step.</a:t>
            </a:r>
          </a:p>
          <a:p>
            <a:pPr lvl="1"/>
            <a:r>
              <a:rPr lang="en-US" altLang="ko-KR" dirty="0"/>
              <a:t>Teachers can control chatbot’s answers with its dataset.</a:t>
            </a:r>
          </a:p>
        </p:txBody>
      </p:sp>
    </p:spTree>
    <p:extLst>
      <p:ext uri="{BB962C8B-B14F-4D97-AF65-F5344CB8AC3E}">
        <p14:creationId xmlns:p14="http://schemas.microsoft.com/office/powerpoint/2010/main" val="3195852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77B9A-8BB5-EC54-F3D8-37D8A1EF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What we are going to do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0166F-81D7-C2FD-72D5-29C46FD76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kumimoji="1" lang="en-US" altLang="ko-KR" dirty="0"/>
              <a:t>Today, we are going to setup your chatbot running on your computer. – hands on activity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Yesterday, I ported my chatbot to Bulgarian, and uploaded customized educational chatbot template on GitHub to public.</a:t>
            </a:r>
          </a:p>
          <a:p>
            <a:endParaRPr kumimoji="1" lang="en-US" altLang="ko-KR" dirty="0"/>
          </a:p>
          <a:p>
            <a:r>
              <a:rPr lang="en-US" altLang="ko-KR" dirty="0"/>
              <a:t>I made a chatbot for integrated science education, but this template can be used for general purpose as well.</a:t>
            </a:r>
          </a:p>
          <a:p>
            <a:endParaRPr lang="en-US" altLang="ko-KR" dirty="0"/>
          </a:p>
          <a:p>
            <a:r>
              <a:rPr lang="en-US" altLang="ko-KR" dirty="0"/>
              <a:t>If you change dataset, you can make any chatbot which is be able to control almost on your favor, for free.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284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16419-B36F-3EC1-412F-FC2AF39FA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Chatbot demonstration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734B6-C0AB-9F35-C044-F129FE9F1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01400" cy="4771118"/>
          </a:xfrm>
        </p:spPr>
        <p:txBody>
          <a:bodyPr>
            <a:normAutofit/>
          </a:bodyPr>
          <a:lstStyle/>
          <a:p>
            <a:r>
              <a:rPr lang="en-US" altLang="ko-KR" dirty="0"/>
              <a:t>You can access our science Q&amp;A chatbot</a:t>
            </a:r>
            <a:r>
              <a:rPr lang="ko-KR" altLang="en-US" dirty="0"/>
              <a:t> </a:t>
            </a:r>
            <a:r>
              <a:rPr lang="en-US" altLang="ko-KR" dirty="0"/>
              <a:t>which is translated into Bulgarian.</a:t>
            </a:r>
          </a:p>
          <a:p>
            <a:endParaRPr lang="en-US" altLang="ko-KR" dirty="0"/>
          </a:p>
          <a:p>
            <a:r>
              <a:rPr lang="en-US" altLang="ko-KR" dirty="0">
                <a:hlinkClick r:id="rId3"/>
              </a:rPr>
              <a:t>https://acer2.snu.ac.kr:8503</a:t>
            </a:r>
            <a:br>
              <a:rPr lang="en-US" altLang="ko-KR" dirty="0"/>
            </a:br>
            <a:r>
              <a:rPr lang="en-US" altLang="ko-KR" dirty="0"/>
              <a:t>(I am running a temporary</a:t>
            </a:r>
            <a:br>
              <a:rPr lang="en-US" altLang="ko-KR" dirty="0"/>
            </a:br>
            <a:r>
              <a:rPr lang="en-US" altLang="ko-KR" dirty="0"/>
              <a:t>web server for this chatbot.)</a:t>
            </a:r>
          </a:p>
          <a:p>
            <a:endParaRPr lang="en-US" altLang="ko-KR" dirty="0"/>
          </a:p>
          <a:p>
            <a:r>
              <a:rPr lang="en-US" altLang="ko-KR" dirty="0"/>
              <a:t>You’ll get this chatbot from now on.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80CC54-B1A3-6E91-3C9C-4EDB57609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095" y="2350593"/>
            <a:ext cx="4142282" cy="414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32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487CA-3091-1219-2DFB-FDBC6EE9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44212" cy="1325563"/>
          </a:xfrm>
        </p:spPr>
        <p:txBody>
          <a:bodyPr/>
          <a:lstStyle/>
          <a:p>
            <a:r>
              <a:rPr kumimoji="1" lang="en-US" altLang="ko-KR" dirty="0"/>
              <a:t>Download the template from GitHub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1B1FD-4659-4EE7-BC21-A744B0BD0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98903" cy="5032375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Open the web browser and go to the page below.</a:t>
            </a:r>
            <a:endParaRPr kumimoji="1" lang="en-US" altLang="ko-KR" b="1" dirty="0">
              <a:solidFill>
                <a:srgbClr val="467886"/>
              </a:solidFill>
              <a:latin typeface="Consolas" panose="020B0609020204030204" pitchFamily="49" charset="0"/>
              <a:cs typeface="Consolas" panose="020B0609020204030204" pitchFamily="49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kumimoji="1" lang="en-US" altLang="ko-KR" sz="3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github.com/kungmo/science_qna_rag_irqa_chatbot_bg</a:t>
            </a:r>
            <a:endParaRPr kumimoji="1" lang="en-US" altLang="ko-KR" sz="32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en-US" altLang="ko-KR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10D420-1546-12E9-DFCB-0E53BA983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23" y="2985533"/>
            <a:ext cx="7772400" cy="3872467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A21BFB4-0E6C-5524-5AAC-55E5C26EB82E}"/>
              </a:ext>
            </a:extLst>
          </p:cNvPr>
          <p:cNvCxnSpPr>
            <a:cxnSpLocks/>
          </p:cNvCxnSpPr>
          <p:nvPr/>
        </p:nvCxnSpPr>
        <p:spPr>
          <a:xfrm flipH="1">
            <a:off x="8045052" y="3843338"/>
            <a:ext cx="89892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AB1D3E9-6194-B518-6D3D-C24BA997D0B4}"/>
              </a:ext>
            </a:extLst>
          </p:cNvPr>
          <p:cNvCxnSpPr>
            <a:cxnSpLocks/>
          </p:cNvCxnSpPr>
          <p:nvPr/>
        </p:nvCxnSpPr>
        <p:spPr>
          <a:xfrm flipH="1">
            <a:off x="7267575" y="4921766"/>
            <a:ext cx="1676400" cy="16925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E1E5376-2811-D927-0141-9F004442B2FB}"/>
              </a:ext>
            </a:extLst>
          </p:cNvPr>
          <p:cNvSpPr txBox="1"/>
          <p:nvPr/>
        </p:nvSpPr>
        <p:spPr>
          <a:xfrm>
            <a:off x="8965404" y="3648075"/>
            <a:ext cx="286940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ko-KR" sz="2800" dirty="0"/>
              <a:t>Click a Code button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ko-KR" sz="2800" dirty="0"/>
              <a:t>Click a Download ZIP button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ko-KR" sz="2800" dirty="0"/>
              <a:t>Extract it to your Desktop</a:t>
            </a:r>
            <a:endParaRPr kumimoji="1"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6883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2B381-123C-8643-1F48-4917AA769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Install </a:t>
            </a:r>
            <a:r>
              <a:rPr kumimoji="1" lang="en-US" altLang="ko-KR" dirty="0" err="1"/>
              <a:t>uv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2F4B51-BF00-04E4-369A-95615B8C2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93098" cy="4351338"/>
          </a:xfrm>
        </p:spPr>
        <p:txBody>
          <a:bodyPr/>
          <a:lstStyle/>
          <a:p>
            <a:r>
              <a:rPr kumimoji="1" lang="en-US" altLang="ko-KR" dirty="0"/>
              <a:t>Before you proceed, </a:t>
            </a:r>
            <a:r>
              <a:rPr kumimoji="1" lang="en-US" altLang="ko-KR" dirty="0" err="1"/>
              <a:t>uv</a:t>
            </a:r>
            <a:r>
              <a:rPr kumimoji="1" lang="en-US" altLang="ko-KR" dirty="0"/>
              <a:t> must be installed on your computer.</a:t>
            </a:r>
          </a:p>
          <a:p>
            <a:pPr lvl="1"/>
            <a:endParaRPr kumimoji="1" lang="en-US" altLang="ko-KR" dirty="0"/>
          </a:p>
          <a:p>
            <a:pPr lvl="1"/>
            <a:r>
              <a:rPr kumimoji="1" lang="en-US" altLang="ko-KR" dirty="0" err="1"/>
              <a:t>uv</a:t>
            </a:r>
            <a:r>
              <a:rPr kumimoji="1" lang="en-US" altLang="ko-KR" dirty="0"/>
              <a:t> is </a:t>
            </a:r>
            <a:r>
              <a:rPr lang="en-US" altLang="ko-KR" dirty="0"/>
              <a:t>an extremely fast Python package and project manager.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We will install </a:t>
            </a:r>
            <a:r>
              <a:rPr kumimoji="1" lang="en-US" altLang="ko-KR" dirty="0" err="1"/>
              <a:t>uv</a:t>
            </a:r>
            <a:r>
              <a:rPr kumimoji="1" lang="en-US" altLang="ko-KR" dirty="0"/>
              <a:t> in CLI environment.</a:t>
            </a:r>
          </a:p>
          <a:p>
            <a:pPr lvl="1"/>
            <a:r>
              <a:rPr kumimoji="1" lang="en-US" altLang="ko-KR" dirty="0"/>
              <a:t>CLI: command line interface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E7A311-AB7D-6AA8-A77C-17C03DD0C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330" y="1490506"/>
            <a:ext cx="3000794" cy="4067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284ECA-DF83-E3F5-1D11-4CBCD225192E}"/>
              </a:ext>
            </a:extLst>
          </p:cNvPr>
          <p:cNvSpPr txBox="1"/>
          <p:nvPr/>
        </p:nvSpPr>
        <p:spPr>
          <a:xfrm>
            <a:off x="2018277" y="5834845"/>
            <a:ext cx="64930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kumimoji="1" lang="en-US" altLang="ko-KR" sz="2800" dirty="0"/>
              <a:t>Windows: Click the right button of</a:t>
            </a:r>
          </a:p>
          <a:p>
            <a:r>
              <a:rPr kumimoji="1" lang="en-US" altLang="ko-KR" sz="2800" dirty="0"/>
              <a:t>    your mouse on the Start button</a:t>
            </a:r>
            <a:endParaRPr kumimoji="1" lang="ko-KR" alt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882C37-0A59-E513-AD7E-9D5B9FA00081}"/>
              </a:ext>
            </a:extLst>
          </p:cNvPr>
          <p:cNvSpPr txBox="1"/>
          <p:nvPr/>
        </p:nvSpPr>
        <p:spPr>
          <a:xfrm>
            <a:off x="9291201" y="550852"/>
            <a:ext cx="2062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dirty="0"/>
              <a:t>2. Click Terminal</a:t>
            </a:r>
            <a:endParaRPr kumimoji="1" lang="ko-KR" alt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1D96D-D176-D09D-E65C-00510213F6FA}"/>
              </a:ext>
            </a:extLst>
          </p:cNvPr>
          <p:cNvSpPr txBox="1"/>
          <p:nvPr/>
        </p:nvSpPr>
        <p:spPr>
          <a:xfrm>
            <a:off x="8511375" y="5834846"/>
            <a:ext cx="3622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dirty="0"/>
              <a:t>1. MacOS/Linux:</a:t>
            </a:r>
            <a:br>
              <a:rPr kumimoji="1" lang="en-US" altLang="ko-KR" sz="2800" dirty="0"/>
            </a:br>
            <a:r>
              <a:rPr kumimoji="1" lang="en-US" altLang="ko-KR" sz="2800" dirty="0"/>
              <a:t>   Launch terminal</a:t>
            </a:r>
            <a:endParaRPr kumimoji="1"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5011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44974E2-F147-5C2F-AD16-362A5816F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878" y="330681"/>
            <a:ext cx="8886244" cy="6196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F732B5-4C25-FC7C-5E80-8A25402E1B7E}"/>
              </a:ext>
            </a:extLst>
          </p:cNvPr>
          <p:cNvSpPr txBox="1"/>
          <p:nvPr/>
        </p:nvSpPr>
        <p:spPr>
          <a:xfrm>
            <a:off x="6229350" y="2046268"/>
            <a:ext cx="6141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dirty="0"/>
              <a:t>3.</a:t>
            </a:r>
            <a:r>
              <a:rPr kumimoji="1" lang="ko-KR" altLang="en-US" sz="2800" dirty="0"/>
              <a:t> </a:t>
            </a:r>
            <a:r>
              <a:rPr kumimoji="1" lang="en-US" altLang="ko-KR" sz="2800" dirty="0"/>
              <a:t>Search for '</a:t>
            </a:r>
            <a:r>
              <a:rPr kumimoji="1" lang="en-US" altLang="ko-KR" sz="2800" dirty="0" err="1"/>
              <a:t>uv</a:t>
            </a:r>
            <a:r>
              <a:rPr kumimoji="1" lang="en-US" altLang="ko-KR" sz="2800" dirty="0"/>
              <a:t> astral' on Google and go to the installation page.</a:t>
            </a:r>
            <a:endParaRPr kumimoji="1" lang="ko-KR" altLang="en-US" sz="28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C62EF1F-0DCD-512D-E371-B280504DEE7A}"/>
              </a:ext>
            </a:extLst>
          </p:cNvPr>
          <p:cNvCxnSpPr>
            <a:cxnSpLocks/>
          </p:cNvCxnSpPr>
          <p:nvPr/>
        </p:nvCxnSpPr>
        <p:spPr>
          <a:xfrm flipH="1">
            <a:off x="3358753" y="2886075"/>
            <a:ext cx="2870597" cy="16573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606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8AA826-350A-F4D9-B1F9-136C78398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267" y="1227431"/>
            <a:ext cx="9972986" cy="51243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35D94E-C73C-01BA-5ED8-CAB03F08A813}"/>
              </a:ext>
            </a:extLst>
          </p:cNvPr>
          <p:cNvSpPr txBox="1"/>
          <p:nvPr/>
        </p:nvSpPr>
        <p:spPr>
          <a:xfrm>
            <a:off x="1351267" y="244606"/>
            <a:ext cx="9972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dirty="0"/>
              <a:t>4.</a:t>
            </a:r>
            <a:r>
              <a:rPr kumimoji="1" lang="ko-KR" altLang="en-US" sz="2800" dirty="0"/>
              <a:t> </a:t>
            </a:r>
            <a:r>
              <a:rPr kumimoji="1" lang="en-US" altLang="ko-KR" sz="2800" dirty="0"/>
              <a:t>Copy and paste installation command of </a:t>
            </a:r>
            <a:r>
              <a:rPr kumimoji="1" lang="en-US" altLang="ko-KR" sz="2800" dirty="0" err="1"/>
              <a:t>uv</a:t>
            </a:r>
            <a:r>
              <a:rPr kumimoji="1" lang="en-US" altLang="ko-KR" sz="2800" dirty="0"/>
              <a:t> for Windows.</a:t>
            </a:r>
            <a:endParaRPr kumimoji="1"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49977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C721B3C-995B-33D9-03D5-76883661DD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98" b="11373"/>
          <a:stretch>
            <a:fillRect/>
          </a:stretch>
        </p:blipFill>
        <p:spPr>
          <a:xfrm>
            <a:off x="1048286" y="1126901"/>
            <a:ext cx="10095428" cy="57310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5D2A5F-A773-95BD-F505-F5273A8CA1B4}"/>
              </a:ext>
            </a:extLst>
          </p:cNvPr>
          <p:cNvSpPr txBox="1"/>
          <p:nvPr/>
        </p:nvSpPr>
        <p:spPr>
          <a:xfrm>
            <a:off x="1357313" y="360609"/>
            <a:ext cx="95803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800" dirty="0"/>
              <a:t>4. Copy and paste installation command of </a:t>
            </a:r>
            <a:r>
              <a:rPr kumimoji="1" lang="en-US" altLang="ko-KR" sz="2800" dirty="0" err="1"/>
              <a:t>uv</a:t>
            </a:r>
            <a:r>
              <a:rPr kumimoji="1" lang="en-US" altLang="ko-KR" sz="2800" dirty="0"/>
              <a:t> for MacOS.</a:t>
            </a:r>
            <a:endParaRPr kumimoji="1"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53374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A19E2-E668-2AFD-AAEA-F1D720E29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Demonstration / Contacts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D48C6-5C2B-FE86-7D07-AA2463EF5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I’ll show remaining setup process step by step.</a:t>
            </a:r>
          </a:p>
          <a:p>
            <a:endParaRPr lang="en-US" altLang="ko-KR" dirty="0"/>
          </a:p>
          <a:p>
            <a:r>
              <a:rPr lang="en-US" altLang="ko-KR" dirty="0"/>
              <a:t>After you watch my procedure, you can do it anytime you want.</a:t>
            </a:r>
          </a:p>
          <a:p>
            <a:endParaRPr lang="en-US" altLang="ko-KR" dirty="0"/>
          </a:p>
          <a:p>
            <a:r>
              <a:rPr lang="en-US" altLang="ko-KR" dirty="0"/>
              <a:t>If it is not working in this class, call me.</a:t>
            </a:r>
          </a:p>
          <a:p>
            <a:r>
              <a:rPr lang="en-US" altLang="ko-KR" dirty="0"/>
              <a:t>When you encounter problems after this class during installation process, email me. (</a:t>
            </a:r>
            <a:r>
              <a:rPr lang="en-US" altLang="ko-KR" dirty="0" err="1"/>
              <a:t>kungmo@snu.ac.kr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6816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981</Words>
  <Application>Microsoft Macintosh PowerPoint</Application>
  <PresentationFormat>와이드스크린</PresentationFormat>
  <Paragraphs>101</Paragraphs>
  <Slides>12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Consolas</vt:lpstr>
      <vt:lpstr>Office 테마</vt:lpstr>
      <vt:lpstr>High School Science Q&amp;A Chatbot: A Hybrid IRQA–RAG Approach with an Open-Source LLMs (part 2: run on your own chatbot.)</vt:lpstr>
      <vt:lpstr>Introduction</vt:lpstr>
      <vt:lpstr>Two Core Technologies for hybrid approach</vt:lpstr>
      <vt:lpstr>Our Solution: A Hybrid Approach</vt:lpstr>
      <vt:lpstr>What we are going to do</vt:lpstr>
      <vt:lpstr>Chatbot demonstration</vt:lpstr>
      <vt:lpstr>Download the template from GitHub</vt:lpstr>
      <vt:lpstr>Install uv</vt:lpstr>
      <vt:lpstr>PowerPoint 프레젠테이션</vt:lpstr>
      <vt:lpstr>PowerPoint 프레젠테이션</vt:lpstr>
      <vt:lpstr>PowerPoint 프레젠테이션</vt:lpstr>
      <vt:lpstr>Demonstration / Contacts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민경모</dc:creator>
  <cp:lastModifiedBy>민경모</cp:lastModifiedBy>
  <cp:revision>24</cp:revision>
  <dcterms:created xsi:type="dcterms:W3CDTF">2026-04-20T14:41:29Z</dcterms:created>
  <dcterms:modified xsi:type="dcterms:W3CDTF">2026-04-21T02:48:53Z</dcterms:modified>
</cp:coreProperties>
</file>