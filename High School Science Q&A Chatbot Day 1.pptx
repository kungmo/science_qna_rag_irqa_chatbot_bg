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7"/>
  </p:notesMasterIdLst>
  <p:sldIdLst>
    <p:sldId id="267" r:id="rId2"/>
    <p:sldId id="268" r:id="rId3"/>
    <p:sldId id="269" r:id="rId4"/>
    <p:sldId id="270" r:id="rId5"/>
    <p:sldId id="256" r:id="rId6"/>
    <p:sldId id="260" r:id="rId7"/>
    <p:sldId id="263" r:id="rId8"/>
    <p:sldId id="271" r:id="rId9"/>
    <p:sldId id="261" r:id="rId10"/>
    <p:sldId id="262" r:id="rId11"/>
    <p:sldId id="272" r:id="rId12"/>
    <p:sldId id="273" r:id="rId13"/>
    <p:sldId id="274" r:id="rId14"/>
    <p:sldId id="275" r:id="rId15"/>
    <p:sldId id="276" r:id="rId16"/>
    <p:sldId id="277" r:id="rId17"/>
    <p:sldId id="279" r:id="rId18"/>
    <p:sldId id="282" r:id="rId19"/>
    <p:sldId id="290" r:id="rId20"/>
    <p:sldId id="293" r:id="rId21"/>
    <p:sldId id="280" r:id="rId22"/>
    <p:sldId id="285" r:id="rId23"/>
    <p:sldId id="286" r:id="rId24"/>
    <p:sldId id="288" r:id="rId25"/>
    <p:sldId id="289" r:id="rId26"/>
    <p:sldId id="292" r:id="rId27"/>
    <p:sldId id="294" r:id="rId28"/>
    <p:sldId id="295" r:id="rId29"/>
    <p:sldId id="303" r:id="rId30"/>
    <p:sldId id="257" r:id="rId31"/>
    <p:sldId id="296" r:id="rId32"/>
    <p:sldId id="297" r:id="rId33"/>
    <p:sldId id="298" r:id="rId34"/>
    <p:sldId id="258" r:id="rId35"/>
    <p:sldId id="259" r:id="rId36"/>
    <p:sldId id="264" r:id="rId37"/>
    <p:sldId id="265" r:id="rId38"/>
    <p:sldId id="266" r:id="rId39"/>
    <p:sldId id="299" r:id="rId40"/>
    <p:sldId id="300" r:id="rId41"/>
    <p:sldId id="301" r:id="rId42"/>
    <p:sldId id="302" r:id="rId43"/>
    <p:sldId id="304" r:id="rId44"/>
    <p:sldId id="287" r:id="rId45"/>
    <p:sldId id="305" r:id="rId46"/>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357" autoAdjust="0"/>
    <p:restoredTop sz="80694" autoAdjust="0"/>
  </p:normalViewPr>
  <p:slideViewPr>
    <p:cSldViewPr snapToGrid="0">
      <p:cViewPr varScale="1">
        <p:scale>
          <a:sx n="67" d="100"/>
          <a:sy n="67" d="100"/>
        </p:scale>
        <p:origin x="208" y="3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C4943E2-DE17-498E-B424-DC8779E58BA7}" type="datetimeFigureOut">
              <a:rPr lang="ko-KR" altLang="en-US" smtClean="0"/>
              <a:t>2026. 4. 21.</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EB7427D-EF9A-4ECA-BDCC-0697E0A45644}" type="slidenum">
              <a:rPr lang="ko-KR" altLang="en-US" smtClean="0"/>
              <a:t>‹#›</a:t>
            </a:fld>
            <a:endParaRPr lang="ko-KR" altLang="en-US"/>
          </a:p>
        </p:txBody>
      </p:sp>
    </p:spTree>
    <p:extLst>
      <p:ext uri="{BB962C8B-B14F-4D97-AF65-F5344CB8AC3E}">
        <p14:creationId xmlns:p14="http://schemas.microsoft.com/office/powerpoint/2010/main" val="3274832080"/>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Hello everyone.</a:t>
            </a:r>
            <a:br>
              <a:rPr lang="en-US" altLang="ko-KR" dirty="0"/>
            </a:br>
            <a:r>
              <a:rPr lang="en-US" altLang="ko-KR" dirty="0"/>
              <a:t>Today, I will talk about educational chatbots and why we need a science Q&amp;A chatbot in real high school classrooms.</a:t>
            </a:r>
            <a:br>
              <a:rPr lang="en-US" altLang="ko-KR" dirty="0"/>
            </a:br>
            <a:r>
              <a:rPr lang="en-US" altLang="ko-KR" dirty="0"/>
              <a:t>This talk is based on my research and real experience in schools. I am a physics and integrated science teacher at a </a:t>
            </a:r>
            <a:r>
              <a:rPr lang="en-US" altLang="ko-KR" dirty="0" err="1"/>
              <a:t>Beombak</a:t>
            </a:r>
            <a:r>
              <a:rPr lang="en-US" altLang="ko-KR" dirty="0"/>
              <a:t> high school, and a lecturer at Seoul National University.</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effectLst/>
              </a:rPr>
              <a:t>This presentation explains brief chatbot history and why we needs a special science Q&amp;A chatbot in middle schools and high schools.</a:t>
            </a:r>
            <a:endParaRPr lang="ko-KR" altLang="en-US" dirty="0"/>
          </a:p>
        </p:txBody>
      </p:sp>
      <p:sp>
        <p:nvSpPr>
          <p:cNvPr id="4" name="슬라이드 번호 개체 틀 3"/>
          <p:cNvSpPr>
            <a:spLocks noGrp="1"/>
          </p:cNvSpPr>
          <p:nvPr>
            <p:ph type="sldNum" sz="quarter" idx="5"/>
          </p:nvPr>
        </p:nvSpPr>
        <p:spPr/>
        <p:txBody>
          <a:bodyPr/>
          <a:lstStyle/>
          <a:p>
            <a:fld id="{9EB7427D-EF9A-4ECA-BDCC-0697E0A45644}" type="slidenum">
              <a:rPr lang="ko-KR" altLang="en-US" smtClean="0"/>
              <a:t>1</a:t>
            </a:fld>
            <a:endParaRPr lang="ko-KR" altLang="en-US"/>
          </a:p>
        </p:txBody>
      </p:sp>
    </p:spTree>
    <p:extLst>
      <p:ext uri="{BB962C8B-B14F-4D97-AF65-F5344CB8AC3E}">
        <p14:creationId xmlns:p14="http://schemas.microsoft.com/office/powerpoint/2010/main" val="6573615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9EB7427D-EF9A-4ECA-BDCC-0697E0A45644}" type="slidenum">
              <a:rPr lang="ko-KR" altLang="en-US" smtClean="0"/>
              <a:t>2</a:t>
            </a:fld>
            <a:endParaRPr lang="ko-KR" altLang="en-US"/>
          </a:p>
        </p:txBody>
      </p:sp>
    </p:spTree>
    <p:extLst>
      <p:ext uri="{BB962C8B-B14F-4D97-AF65-F5344CB8AC3E}">
        <p14:creationId xmlns:p14="http://schemas.microsoft.com/office/powerpoint/2010/main" val="25098659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kumimoji="1" lang="en-US" altLang="ko-KR" dirty="0"/>
              <a:t>Let’s get it started with short history of chatbots.</a:t>
            </a:r>
          </a:p>
          <a:p>
            <a:r>
              <a:rPr kumimoji="1" lang="en-US" altLang="ko-KR" dirty="0"/>
              <a:t>The ancient chatbots are developed in the field of psychiatry. ELIZA and PARRY are famous examples worldwide.</a:t>
            </a:r>
            <a:endParaRPr kumimoji="1" lang="ko-KR" altLang="en-US" dirty="0"/>
          </a:p>
        </p:txBody>
      </p:sp>
      <p:sp>
        <p:nvSpPr>
          <p:cNvPr id="4" name="슬라이드 번호 개체 틀 3"/>
          <p:cNvSpPr>
            <a:spLocks noGrp="1"/>
          </p:cNvSpPr>
          <p:nvPr>
            <p:ph type="sldNum" sz="quarter" idx="5"/>
          </p:nvPr>
        </p:nvSpPr>
        <p:spPr/>
        <p:txBody>
          <a:bodyPr/>
          <a:lstStyle/>
          <a:p>
            <a:fld id="{9EB7427D-EF9A-4ECA-BDCC-0697E0A45644}" type="slidenum">
              <a:rPr lang="ko-KR" altLang="en-US" smtClean="0"/>
              <a:t>4</a:t>
            </a:fld>
            <a:endParaRPr lang="ko-KR" altLang="en-US"/>
          </a:p>
        </p:txBody>
      </p:sp>
    </p:spTree>
    <p:extLst>
      <p:ext uri="{BB962C8B-B14F-4D97-AF65-F5344CB8AC3E}">
        <p14:creationId xmlns:p14="http://schemas.microsoft.com/office/powerpoint/2010/main" val="15743087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kumimoji="1" lang="ko-KR" altLang="en-US" dirty="0"/>
          </a:p>
        </p:txBody>
      </p:sp>
      <p:sp>
        <p:nvSpPr>
          <p:cNvPr id="4" name="슬라이드 번호 개체 틀 3"/>
          <p:cNvSpPr>
            <a:spLocks noGrp="1"/>
          </p:cNvSpPr>
          <p:nvPr>
            <p:ph type="sldNum" sz="quarter" idx="5"/>
          </p:nvPr>
        </p:nvSpPr>
        <p:spPr/>
        <p:txBody>
          <a:bodyPr/>
          <a:lstStyle/>
          <a:p>
            <a:fld id="{9EB7427D-EF9A-4ECA-BDCC-0697E0A45644}" type="slidenum">
              <a:rPr lang="ko-KR" altLang="en-US" smtClean="0"/>
              <a:t>6</a:t>
            </a:fld>
            <a:endParaRPr lang="ko-KR" altLang="en-US"/>
          </a:p>
        </p:txBody>
      </p:sp>
    </p:spTree>
    <p:extLst>
      <p:ext uri="{BB962C8B-B14F-4D97-AF65-F5344CB8AC3E}">
        <p14:creationId xmlns:p14="http://schemas.microsoft.com/office/powerpoint/2010/main" val="23895613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 altLang="ko-KR" sz="1200" b="0" i="0" u="none" strike="noStrike" kern="1200" dirty="0">
                <a:solidFill>
                  <a:schemeClr val="tx1"/>
                </a:solidFill>
                <a:effectLst/>
                <a:latin typeface="+mn-lt"/>
                <a:ea typeface="+mn-ea"/>
                <a:cs typeface="+mn-cs"/>
              </a:rPr>
              <a:t>First, we looked at how chatbots evolved and why we specifically need them for Integrated Science today.</a:t>
            </a:r>
          </a:p>
          <a:p>
            <a:r>
              <a:rPr lang="en" altLang="ko-KR" sz="1200" b="0" i="0" u="none" strike="noStrike" kern="1200" dirty="0">
                <a:solidFill>
                  <a:schemeClr val="tx1"/>
                </a:solidFill>
                <a:effectLst/>
                <a:latin typeface="+mn-lt"/>
                <a:ea typeface="+mn-ea"/>
                <a:cs typeface="+mn-cs"/>
              </a:rPr>
              <a:t>Many people rely on general AI, but using local, school-specific data makes a huge difference. I believe this model will work perfectly here in Bulgaria too.</a:t>
            </a:r>
          </a:p>
          <a:p>
            <a:r>
              <a:rPr lang="en" altLang="ko-KR" sz="1200" b="0" i="0" u="none" strike="noStrike" kern="1200" dirty="0">
                <a:solidFill>
                  <a:schemeClr val="tx1"/>
                </a:solidFill>
                <a:effectLst/>
                <a:latin typeface="+mn-lt"/>
                <a:ea typeface="+mn-ea"/>
                <a:cs typeface="+mn-cs"/>
              </a:rPr>
              <a:t>Our chatbot acts as a 'second teacher,' always ready to help students whenever they have a question.</a:t>
            </a:r>
          </a:p>
          <a:p>
            <a:r>
              <a:rPr lang="en" altLang="ko-KR" sz="1200" b="0" i="0" u="none" strike="noStrike" kern="1200" dirty="0">
                <a:solidFill>
                  <a:schemeClr val="tx1"/>
                </a:solidFill>
                <a:effectLst/>
                <a:latin typeface="+mn-lt"/>
                <a:ea typeface="+mn-ea"/>
                <a:cs typeface="+mn-cs"/>
              </a:rPr>
              <a:t>Finally, it helps students connect different scientific concepts together, making learning much easier.</a:t>
            </a:r>
            <a:endParaRPr kumimoji="1" lang="ko-KR" altLang="en-US" dirty="0"/>
          </a:p>
        </p:txBody>
      </p:sp>
      <p:sp>
        <p:nvSpPr>
          <p:cNvPr id="4" name="슬라이드 번호 개체 틀 3"/>
          <p:cNvSpPr>
            <a:spLocks noGrp="1"/>
          </p:cNvSpPr>
          <p:nvPr>
            <p:ph type="sldNum" sz="quarter" idx="5"/>
          </p:nvPr>
        </p:nvSpPr>
        <p:spPr/>
        <p:txBody>
          <a:bodyPr/>
          <a:lstStyle/>
          <a:p>
            <a:fld id="{9EB7427D-EF9A-4ECA-BDCC-0697E0A45644}" type="slidenum">
              <a:rPr lang="ko-KR" altLang="en-US" smtClean="0"/>
              <a:t>25</a:t>
            </a:fld>
            <a:endParaRPr lang="ko-KR" altLang="en-US"/>
          </a:p>
        </p:txBody>
      </p:sp>
    </p:spTree>
    <p:extLst>
      <p:ext uri="{BB962C8B-B14F-4D97-AF65-F5344CB8AC3E}">
        <p14:creationId xmlns:p14="http://schemas.microsoft.com/office/powerpoint/2010/main" val="17848979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Hello, everyone. Thank you for inviting me today. I am very honored to speak at Plovdiv University.</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200" dirty="0">
                <a:solidFill>
                  <a:srgbClr val="334155"/>
                </a:solidFill>
              </a:rPr>
              <a:t>I want to introduce myself first. I am a high school teacher in Korea — teaching 12th-grade students. As you know, teaching 12th graders is a very busy job. And I am an instructor at Seoul National University.</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200" dirty="0">
                <a:solidFill>
                  <a:srgbClr val="334155"/>
                </a:solidFill>
              </a:rPr>
              <a:t>I got a dissertation last year, and doing research is my hobby. My high school classroom is my research laboratory. Today, I will share the results of my 5-year hobby with you.</a:t>
            </a:r>
          </a:p>
        </p:txBody>
      </p:sp>
      <p:sp>
        <p:nvSpPr>
          <p:cNvPr id="4" name="슬라이드 번호 개체 틀 3"/>
          <p:cNvSpPr>
            <a:spLocks noGrp="1"/>
          </p:cNvSpPr>
          <p:nvPr>
            <p:ph type="sldNum" sz="quarter" idx="5"/>
          </p:nvPr>
        </p:nvSpPr>
        <p:spPr/>
        <p:txBody>
          <a:bodyPr/>
          <a:lstStyle/>
          <a:p>
            <a:fld id="{05D4F10F-18E8-4319-973F-13274A4BAAEA}" type="slidenum">
              <a:rPr lang="ko-KR" altLang="en-US" smtClean="0"/>
              <a:t>28</a:t>
            </a:fld>
            <a:endParaRPr lang="ko-KR" altLang="en-US"/>
          </a:p>
        </p:txBody>
      </p:sp>
    </p:spTree>
    <p:extLst>
      <p:ext uri="{BB962C8B-B14F-4D97-AF65-F5344CB8AC3E}">
        <p14:creationId xmlns:p14="http://schemas.microsoft.com/office/powerpoint/2010/main" val="19131839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(Please look at the screenshot)</a:t>
            </a:r>
          </a:p>
          <a:p>
            <a:r>
              <a:rPr lang="en-US" altLang="ko-KR" dirty="0"/>
              <a:t>This is what my students see on their phones.</a:t>
            </a:r>
          </a:p>
          <a:p>
            <a:r>
              <a:rPr lang="en-US" altLang="ko-KR" dirty="0"/>
              <a:t>A student asks: 'Why is photosynthesis considered anabolism?'</a:t>
            </a:r>
          </a:p>
          <a:p>
            <a:r>
              <a:rPr lang="en-US" altLang="ko-KR" dirty="0"/>
              <a:t>The AI explains it step-by-step.</a:t>
            </a:r>
          </a:p>
          <a:p>
            <a:r>
              <a:rPr lang="en-US" altLang="ko-KR" dirty="0"/>
              <a:t>Below, you see buttons suggesting other related questions.</a:t>
            </a:r>
          </a:p>
          <a:p>
            <a:endParaRPr lang="ko-KR" altLang="en-US" dirty="0"/>
          </a:p>
        </p:txBody>
      </p:sp>
      <p:sp>
        <p:nvSpPr>
          <p:cNvPr id="4" name="슬라이드 번호 개체 틀 3"/>
          <p:cNvSpPr>
            <a:spLocks noGrp="1"/>
          </p:cNvSpPr>
          <p:nvPr>
            <p:ph type="sldNum" sz="quarter" idx="5"/>
          </p:nvPr>
        </p:nvSpPr>
        <p:spPr/>
        <p:txBody>
          <a:bodyPr/>
          <a:lstStyle/>
          <a:p>
            <a:fld id="{05D4F10F-18E8-4319-973F-13274A4BAAEA}" type="slidenum">
              <a:rPr lang="ko-KR" altLang="en-US" smtClean="0"/>
              <a:t>29</a:t>
            </a:fld>
            <a:endParaRPr lang="ko-KR" altLang="en-US"/>
          </a:p>
        </p:txBody>
      </p:sp>
    </p:spTree>
    <p:extLst>
      <p:ext uri="{BB962C8B-B14F-4D97-AF65-F5344CB8AC3E}">
        <p14:creationId xmlns:p14="http://schemas.microsoft.com/office/powerpoint/2010/main" val="28775653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200" dirty="0"/>
              <a:t>As a teacher, I see many students using AI chatbots like ChatGPT.</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200" dirty="0"/>
              <a:t>But using commercial AI chatbots in public schools is difficult:</a:t>
            </a:r>
          </a:p>
          <a:p>
            <a:endParaRPr lang="en-US" altLang="ko-KR" dirty="0"/>
          </a:p>
          <a:p>
            <a:r>
              <a:rPr lang="en-US" altLang="ko-KR" dirty="0"/>
              <a:t>These three worries shaped every decision in our research.</a:t>
            </a:r>
          </a:p>
          <a:p>
            <a:endParaRPr lang="en-US" altLang="ko-KR" dirty="0"/>
          </a:p>
          <a:p>
            <a:r>
              <a:rPr lang="en-US" altLang="ko-KR" dirty="0"/>
              <a:t>Recently, smart 'AI Agents' are very popular. They can solve complex problems automatically.</a:t>
            </a:r>
          </a:p>
          <a:p>
            <a:r>
              <a:rPr lang="en-US" altLang="ko-KR" dirty="0"/>
              <a:t>But for simple high school science questions, this is dangerous.</a:t>
            </a:r>
          </a:p>
          <a:p>
            <a:r>
              <a:rPr lang="en-US" altLang="ko-KR" dirty="0"/>
              <a:t>The AI does the thinking, not the student.</a:t>
            </a:r>
          </a:p>
          <a:p>
            <a:r>
              <a:rPr lang="en-US" altLang="ko-KR" dirty="0"/>
              <a:t>We need an AI that acts as a 'Guide', not a 'Problem Solver'.</a:t>
            </a:r>
          </a:p>
          <a:p>
            <a:endParaRPr lang="ko-KR" altLang="en-US" dirty="0"/>
          </a:p>
        </p:txBody>
      </p:sp>
      <p:sp>
        <p:nvSpPr>
          <p:cNvPr id="4" name="슬라이드 번호 개체 틀 3"/>
          <p:cNvSpPr>
            <a:spLocks noGrp="1"/>
          </p:cNvSpPr>
          <p:nvPr>
            <p:ph type="sldNum" sz="quarter" idx="5"/>
          </p:nvPr>
        </p:nvSpPr>
        <p:spPr/>
        <p:txBody>
          <a:bodyPr/>
          <a:lstStyle/>
          <a:p>
            <a:fld id="{05D4F10F-18E8-4319-973F-13274A4BAAEA}" type="slidenum">
              <a:rPr lang="ko-KR" altLang="en-US" smtClean="0"/>
              <a:t>30</a:t>
            </a:fld>
            <a:endParaRPr lang="ko-KR" altLang="en-US"/>
          </a:p>
        </p:txBody>
      </p:sp>
    </p:spTree>
    <p:extLst>
      <p:ext uri="{BB962C8B-B14F-4D97-AF65-F5344CB8AC3E}">
        <p14:creationId xmlns:p14="http://schemas.microsoft.com/office/powerpoint/2010/main" val="3895400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real classroom data is the heart of our system.</a:t>
            </a:r>
            <a:endParaRPr lang="en-US" altLang="ko-KR" sz="1200" dirty="0">
              <a:solidFill>
                <a:srgbClr val="1E293B"/>
              </a:solidFill>
            </a:endParaRP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rgbClr val="1E293B"/>
              </a:solidFill>
            </a:endParaRP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200" dirty="0">
                <a:solidFill>
                  <a:srgbClr val="1E293B"/>
                </a:solidFill>
              </a:rPr>
              <a:t>In the beginning, we only used IRQA — without any LLM.</a:t>
            </a:r>
            <a:endParaRPr lang="en-US" altLang="ko-KR" sz="1200" dirty="0"/>
          </a:p>
          <a:p>
            <a:endParaRPr lang="en-US" altLang="ko-KR" dirty="0"/>
          </a:p>
          <a:p>
            <a:r>
              <a:rPr lang="en-US" altLang="ko-KR" dirty="0"/>
              <a:t>In the phase of cycle 1, </a:t>
            </a:r>
            <a:r>
              <a:rPr lang="en-US" altLang="ko-KR" sz="1200" dirty="0">
                <a:solidFill>
                  <a:srgbClr val="334155"/>
                </a:solidFill>
              </a:rPr>
              <a:t>simple word-matching to find similar past questions using Doc2Vec. I regard one question as one document.</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200" dirty="0">
                <a:solidFill>
                  <a:srgbClr val="334155"/>
                </a:solidFill>
              </a:rPr>
              <a:t>Doc2Vec made the chatbot very safe and accurate. Because teacher(I) wrote all answers. But I could not answer completely new questions. Because this period was COVID-19 pandemic, </a:t>
            </a:r>
          </a:p>
          <a:p>
            <a:r>
              <a:rPr lang="en-US" altLang="ko-KR" sz="1200" dirty="0">
                <a:solidFill>
                  <a:srgbClr val="334155"/>
                </a:solidFill>
              </a:rPr>
              <a:t>I could just write answer as many as possible.</a:t>
            </a:r>
          </a:p>
          <a:p>
            <a:endParaRPr lang="en-US" altLang="ko-KR" sz="1200" dirty="0">
              <a:solidFill>
                <a:srgbClr val="334155"/>
              </a:solidFill>
            </a:endParaRPr>
          </a:p>
          <a:p>
            <a:r>
              <a:rPr lang="en-US" altLang="ko-KR" sz="1200" dirty="0">
                <a:solidFill>
                  <a:srgbClr val="334155"/>
                </a:solidFill>
              </a:rPr>
              <a:t>As time goes by, I got into the phaser of cycle 2. I implemented Sentence-BERT instead of Doc2Vec for finding similar questions. Sentence-BERT improved similarity search using a modern language model. So performance</a:t>
            </a:r>
            <a:r>
              <a:rPr lang="ko-KR" altLang="en-US" sz="1200" dirty="0">
                <a:solidFill>
                  <a:srgbClr val="334155"/>
                </a:solidFill>
              </a:rPr>
              <a:t> </a:t>
            </a:r>
            <a:r>
              <a:rPr lang="en-US" altLang="ko-KR" sz="1200" dirty="0">
                <a:solidFill>
                  <a:srgbClr val="334155"/>
                </a:solidFill>
              </a:rPr>
              <a:t>was</a:t>
            </a:r>
            <a:r>
              <a:rPr lang="ko-KR" altLang="en-US" sz="1200" dirty="0">
                <a:solidFill>
                  <a:srgbClr val="334155"/>
                </a:solidFill>
              </a:rPr>
              <a:t> </a:t>
            </a:r>
            <a:r>
              <a:rPr lang="en-US" altLang="ko-KR" sz="1200" dirty="0">
                <a:solidFill>
                  <a:srgbClr val="334155"/>
                </a:solidFill>
              </a:rPr>
              <a:t>much </a:t>
            </a:r>
          </a:p>
          <a:p>
            <a:r>
              <a:rPr lang="en-US" altLang="ko-KR" sz="1200" dirty="0">
                <a:solidFill>
                  <a:srgbClr val="334155"/>
                </a:solidFill>
              </a:rPr>
              <a:t>better at finding the right question. But I still cannot handle brand-new question types if I am not input new Q&amp;A pairs.</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Late 2022, OpenAI ChatGPT started public service.</a:t>
            </a:r>
          </a:p>
          <a:p>
            <a:endParaRPr lang="en-US" altLang="ko-KR" sz="1200" dirty="0">
              <a:solidFill>
                <a:srgbClr val="334155"/>
              </a:solidFill>
            </a:endParaRP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Late 2023, first open-source LLM which supports Korean language came up.</a:t>
            </a:r>
          </a:p>
          <a:p>
            <a:endParaRPr lang="en-US" altLang="ko-KR" sz="1200" dirty="0">
              <a:solidFill>
                <a:srgbClr val="334155"/>
              </a:solidFill>
            </a:endParaRPr>
          </a:p>
          <a:p>
            <a:r>
              <a:rPr lang="en-US" altLang="ko-KR" dirty="0"/>
              <a:t>I got into the phase 3. </a:t>
            </a:r>
            <a:r>
              <a:rPr lang="en-US" altLang="ko-KR" sz="1200" dirty="0">
                <a:solidFill>
                  <a:srgbClr val="1E293B"/>
                </a:solidFill>
              </a:rPr>
              <a:t>We added an Open-Source LLM with RAG. We replaced pure IRQA with a full RAG pipeline using an open-source LLM (EXAONE 3.0 7.8B). EXAONE 3.0 7.8B is an open-source LLM which is developed by LG AI Research in South Korea. EXAONE 3.0 has performance with level of production because it can interpret and generate Korean language as small size open-source LLM. At that time, Google Gemma 2 revealed as a competitor with EXAONE 3.0. The open-source AI could now generate flexible, personalized answers for any question.</a:t>
            </a:r>
          </a:p>
          <a:p>
            <a:endParaRPr lang="en-US" altLang="ko-KR" dirty="0"/>
          </a:p>
          <a:p>
            <a:r>
              <a:rPr lang="en-US" altLang="ko-KR" dirty="0"/>
              <a:t>AI could now generate answers for brand-new questions with its internal knowledge base. Students received more personalized responses. And as a server operator, open-source LLM EXAONE 3.0 required no API cost. Because LLM could run on school server. With these LLM, I got a dissertation in the last year.</a:t>
            </a:r>
          </a:p>
          <a:p>
            <a:endParaRPr lang="en-US" altLang="ko-KR" dirty="0"/>
          </a:p>
          <a:p>
            <a:r>
              <a:rPr lang="en-US" altLang="ko-KR" dirty="0"/>
              <a:t>I ran the chatbot service a few months after my </a:t>
            </a:r>
            <a:r>
              <a:rPr lang="en-US" altLang="ko-KR" dirty="0" err="1"/>
              <a:t>Ph.D</a:t>
            </a:r>
            <a:r>
              <a:rPr lang="en-US" altLang="ko-KR" dirty="0"/>
              <a:t> thesis. I found the chatbot lost the 'peer learning' effect. Students could no longer see what their friends had asked before. We needed a better idea. We need both RAG and IRQA together.</a:t>
            </a:r>
          </a:p>
          <a:p>
            <a:endParaRPr lang="en-US" altLang="ko-KR" dirty="0"/>
          </a:p>
          <a:p>
            <a:r>
              <a:rPr lang="en-US" altLang="ko-KR" dirty="0"/>
              <a:t>In the summer of 2025, we combined everything. I upgraded Open-source LLM using Google Gemma 3 12B which is powered by Nvidia GeForce 4080S. And I elaborated RAG pipelines and optimized balance between actual Q&amp;A pairs and corpus of textbooks. Additionally, I added IRQA capabilities for peer learning effect using open-source vector database FAISS with Sentence-BERT.</a:t>
            </a:r>
          </a:p>
          <a:p>
            <a:endParaRPr lang="en-US" altLang="ko-KR" dirty="0"/>
          </a:p>
          <a:p>
            <a:r>
              <a:rPr lang="en-US" altLang="ko-KR" dirty="0"/>
              <a:t>Also, we investigated related works. The key paper was </a:t>
            </a:r>
            <a:r>
              <a:rPr lang="en-US" altLang="ko-KR" dirty="0" err="1"/>
              <a:t>Kuhail’s</a:t>
            </a:r>
            <a:r>
              <a:rPr lang="en-US" altLang="ko-KR" dirty="0"/>
              <a:t> educational chatbot design principles which is published in 2023. But this principles were presented before LLMs widely used.</a:t>
            </a:r>
          </a:p>
          <a:p>
            <a:endParaRPr lang="en-US" altLang="ko-KR" dirty="0"/>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From this 5-year experience, and some related work including </a:t>
            </a:r>
            <a:r>
              <a:rPr lang="en-US" altLang="ko-KR" dirty="0" err="1"/>
              <a:t>Kuhail’s</a:t>
            </a:r>
            <a:r>
              <a:rPr lang="en-US" altLang="ko-KR" dirty="0"/>
              <a:t> educational design principles, I created '7 Design Guidelines' for school chatbots. </a:t>
            </a:r>
          </a:p>
        </p:txBody>
      </p:sp>
      <p:sp>
        <p:nvSpPr>
          <p:cNvPr id="4" name="슬라이드 번호 개체 틀 3"/>
          <p:cNvSpPr>
            <a:spLocks noGrp="1"/>
          </p:cNvSpPr>
          <p:nvPr>
            <p:ph type="sldNum" sz="quarter" idx="5"/>
          </p:nvPr>
        </p:nvSpPr>
        <p:spPr/>
        <p:txBody>
          <a:bodyPr/>
          <a:lstStyle/>
          <a:p>
            <a:fld id="{05D4F10F-18E8-4319-973F-13274A4BAAEA}" type="slidenum">
              <a:rPr lang="ko-KR" altLang="en-US" smtClean="0"/>
              <a:t>32</a:t>
            </a:fld>
            <a:endParaRPr lang="ko-KR" altLang="en-US"/>
          </a:p>
        </p:txBody>
      </p:sp>
    </p:spTree>
    <p:extLst>
      <p:ext uri="{BB962C8B-B14F-4D97-AF65-F5344CB8AC3E}">
        <p14:creationId xmlns:p14="http://schemas.microsoft.com/office/powerpoint/2010/main" val="34391774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In the beginning, I used a free very low performance cloud computer which is served by Oracle Cloud Infrastructure. This free server computer was very slow for running Sentence-BERT. In 2022, we made high performance gaming computer, and started to use this computer as a local web server with AI implementation.</a:t>
            </a:r>
            <a:endParaRPr lang="ko-KR" altLang="en-US" dirty="0"/>
          </a:p>
        </p:txBody>
      </p:sp>
      <p:sp>
        <p:nvSpPr>
          <p:cNvPr id="4" name="슬라이드 번호 개체 틀 3"/>
          <p:cNvSpPr>
            <a:spLocks noGrp="1"/>
          </p:cNvSpPr>
          <p:nvPr>
            <p:ph type="sldNum" sz="quarter" idx="5"/>
          </p:nvPr>
        </p:nvSpPr>
        <p:spPr/>
        <p:txBody>
          <a:bodyPr/>
          <a:lstStyle/>
          <a:p>
            <a:fld id="{05D4F10F-18E8-4319-973F-13274A4BAAEA}" type="slidenum">
              <a:rPr lang="ko-KR" altLang="en-US" smtClean="0"/>
              <a:t>33</a:t>
            </a:fld>
            <a:endParaRPr lang="ko-KR" altLang="en-US"/>
          </a:p>
        </p:txBody>
      </p:sp>
    </p:spTree>
    <p:extLst>
      <p:ext uri="{BB962C8B-B14F-4D97-AF65-F5344CB8AC3E}">
        <p14:creationId xmlns:p14="http://schemas.microsoft.com/office/powerpoint/2010/main" val="11105004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05D4F10F-18E8-4319-973F-13274A4BAAEA}" type="slidenum">
              <a:rPr lang="ko-KR" altLang="en-US" smtClean="0"/>
              <a:t>34</a:t>
            </a:fld>
            <a:endParaRPr lang="ko-KR" altLang="en-US"/>
          </a:p>
        </p:txBody>
      </p:sp>
    </p:spTree>
    <p:extLst>
      <p:ext uri="{BB962C8B-B14F-4D97-AF65-F5344CB8AC3E}">
        <p14:creationId xmlns:p14="http://schemas.microsoft.com/office/powerpoint/2010/main" val="10015030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For example, student asks about photosynthesis → AI finds relevant Q&amp;A pairs made from students’ real questions and the corpuses in the textbook → It can give a safe, accurate answer.</a:t>
            </a:r>
            <a:endParaRPr lang="ko-KR" altLang="en-US" dirty="0"/>
          </a:p>
        </p:txBody>
      </p:sp>
      <p:sp>
        <p:nvSpPr>
          <p:cNvPr id="4" name="슬라이드 번호 개체 틀 3"/>
          <p:cNvSpPr>
            <a:spLocks noGrp="1"/>
          </p:cNvSpPr>
          <p:nvPr>
            <p:ph type="sldNum" sz="quarter" idx="5"/>
          </p:nvPr>
        </p:nvSpPr>
        <p:spPr/>
        <p:txBody>
          <a:bodyPr/>
          <a:lstStyle/>
          <a:p>
            <a:fld id="{05D4F10F-18E8-4319-973F-13274A4BAAEA}" type="slidenum">
              <a:rPr lang="ko-KR" altLang="en-US" smtClean="0"/>
              <a:t>35</a:t>
            </a:fld>
            <a:endParaRPr lang="ko-KR" altLang="en-US"/>
          </a:p>
        </p:txBody>
      </p:sp>
    </p:spTree>
    <p:extLst>
      <p:ext uri="{BB962C8B-B14F-4D97-AF65-F5344CB8AC3E}">
        <p14:creationId xmlns:p14="http://schemas.microsoft.com/office/powerpoint/2010/main" val="16812873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05D4F10F-18E8-4319-973F-13274A4BAAEA}" type="slidenum">
              <a:rPr lang="ko-KR" altLang="en-US" smtClean="0"/>
              <a:t>39</a:t>
            </a:fld>
            <a:endParaRPr lang="ko-KR" altLang="en-US"/>
          </a:p>
        </p:txBody>
      </p:sp>
    </p:spTree>
    <p:extLst>
      <p:ext uri="{BB962C8B-B14F-4D97-AF65-F5344CB8AC3E}">
        <p14:creationId xmlns:p14="http://schemas.microsoft.com/office/powerpoint/2010/main" val="1986129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The AI's answer quality depends not just on the model, but on what information is placed in its context window before it generates a response.</a:t>
            </a:r>
            <a:endParaRPr lang="ko-KR" altLang="en-US" dirty="0"/>
          </a:p>
        </p:txBody>
      </p:sp>
      <p:sp>
        <p:nvSpPr>
          <p:cNvPr id="4" name="슬라이드 번호 개체 틀 3"/>
          <p:cNvSpPr>
            <a:spLocks noGrp="1"/>
          </p:cNvSpPr>
          <p:nvPr>
            <p:ph type="sldNum" sz="quarter" idx="5"/>
          </p:nvPr>
        </p:nvSpPr>
        <p:spPr/>
        <p:txBody>
          <a:bodyPr/>
          <a:lstStyle/>
          <a:p>
            <a:fld id="{05D4F10F-18E8-4319-973F-13274A4BAAEA}" type="slidenum">
              <a:rPr lang="ko-KR" altLang="en-US" smtClean="0"/>
              <a:t>40</a:t>
            </a:fld>
            <a:endParaRPr lang="ko-KR" altLang="en-US"/>
          </a:p>
        </p:txBody>
      </p:sp>
    </p:spTree>
    <p:extLst>
      <p:ext uri="{BB962C8B-B14F-4D97-AF65-F5344CB8AC3E}">
        <p14:creationId xmlns:p14="http://schemas.microsoft.com/office/powerpoint/2010/main" val="26878339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a:spcAft>
                <a:spcPts val="1200"/>
              </a:spcAft>
              <a:defRPr sz="2200"/>
            </a:pPr>
            <a:r>
              <a:rPr lang="en-US" altLang="ko-KR" dirty="0"/>
              <a:t>We use a prompt trick called 'Chain of Thought'.</a:t>
            </a:r>
          </a:p>
          <a:p>
            <a:pPr>
              <a:spcAft>
                <a:spcPts val="1200"/>
              </a:spcAft>
              <a:defRPr sz="2200"/>
            </a:pPr>
            <a:r>
              <a:rPr lang="en-US" altLang="ko-KR" dirty="0"/>
              <a:t>The AI does not just give the final answer.</a:t>
            </a:r>
          </a:p>
          <a:p>
            <a:pPr>
              <a:spcAft>
                <a:spcPts val="1200"/>
              </a:spcAft>
              <a:defRPr sz="2200"/>
            </a:pPr>
            <a:r>
              <a:rPr lang="en-US" altLang="ko-KR" dirty="0"/>
              <a:t>It explains HOW it found the answer, step-by-step.</a:t>
            </a:r>
          </a:p>
          <a:p>
            <a:pPr>
              <a:spcAft>
                <a:spcPts val="1200"/>
              </a:spcAft>
              <a:defRPr sz="2200"/>
            </a:pPr>
            <a:r>
              <a:rPr lang="en-US" altLang="ko-KR" dirty="0"/>
              <a:t>This makes the AI transparent.</a:t>
            </a:r>
          </a:p>
          <a:p>
            <a:pPr>
              <a:spcAft>
                <a:spcPts val="1200"/>
              </a:spcAft>
              <a:defRPr sz="2200"/>
            </a:pPr>
            <a:r>
              <a:rPr lang="en-US" altLang="ko-KR" dirty="0"/>
              <a:t>Students learn the logical steps, not just the result.</a:t>
            </a:r>
          </a:p>
          <a:p>
            <a:endParaRPr lang="en-US" altLang="ko-KR" dirty="0"/>
          </a:p>
          <a:p>
            <a:r>
              <a:rPr lang="en-US" altLang="ko-KR" dirty="0"/>
              <a:t>Chain-of-Thought: “Thinking / Answer" structure.</a:t>
            </a:r>
          </a:p>
          <a:p>
            <a:r>
              <a:rPr lang="en-US" altLang="ko-KR" dirty="0"/>
              <a:t>The prompt forces the LLM to show its reasoning before giving the answer. This was intentional: Students can see how the AI arrived at the answer.</a:t>
            </a:r>
          </a:p>
          <a:p>
            <a:r>
              <a:rPr lang="en-US" altLang="ko-KR" dirty="0"/>
              <a:t>Teachers can detect errors in reasoning, not just in the final output</a:t>
            </a:r>
          </a:p>
          <a:p>
            <a:r>
              <a:rPr lang="en-US" altLang="ko-KR" dirty="0"/>
              <a:t>Transparency is maintained — consistent with the "Guide, not Solver" principle.</a:t>
            </a:r>
          </a:p>
          <a:p>
            <a:endParaRPr lang="en-US" altLang="ko-KR" dirty="0"/>
          </a:p>
          <a:p>
            <a:r>
              <a:rPr lang="en-US" altLang="ko-KR" dirty="0"/>
              <a:t>Two retrieval modes (</a:t>
            </a:r>
            <a:r>
              <a:rPr lang="en-US" altLang="ko-KR" dirty="0" err="1"/>
              <a:t>use_pdf_only</a:t>
            </a:r>
            <a:r>
              <a:rPr lang="en-US" altLang="ko-KR" dirty="0"/>
              <a:t> flag)</a:t>
            </a:r>
          </a:p>
          <a:p>
            <a:r>
              <a:rPr lang="en-US" altLang="ko-KR" dirty="0"/>
              <a:t>If student uploads a PDF:  → Skip QNA + textbook </a:t>
            </a:r>
            <a:r>
              <a:rPr lang="en-US" altLang="ko-KR" dirty="0" err="1"/>
              <a:t>vectorstore</a:t>
            </a:r>
            <a:r>
              <a:rPr lang="en-US" altLang="ko-KR" dirty="0"/>
              <a:t>  → Use only the uploaded PDF as context  → Answer ONLY based on PDF content</a:t>
            </a:r>
          </a:p>
          <a:p>
            <a:r>
              <a:rPr lang="en-US" altLang="ko-KR" dirty="0"/>
              <a:t>Normal mode (no PDF):  → Search QNA </a:t>
            </a:r>
            <a:r>
              <a:rPr lang="en-US" altLang="ko-KR" dirty="0" err="1"/>
              <a:t>vectorstore</a:t>
            </a:r>
            <a:r>
              <a:rPr lang="en-US" altLang="ko-KR" dirty="0"/>
              <a:t> (MMR, k=4, </a:t>
            </a:r>
            <a:r>
              <a:rPr lang="en-US" altLang="ko-KR" dirty="0" err="1"/>
              <a:t>fetch_k</a:t>
            </a:r>
            <a:r>
              <a:rPr lang="en-US" altLang="ko-KR" dirty="0"/>
              <a:t>=40)  → Search textbook </a:t>
            </a:r>
            <a:r>
              <a:rPr lang="en-US" altLang="ko-KR" dirty="0" err="1"/>
              <a:t>vectorstore</a:t>
            </a:r>
            <a:r>
              <a:rPr lang="en-US" altLang="ko-KR" dirty="0"/>
              <a:t> (MMR, k=6, </a:t>
            </a:r>
            <a:r>
              <a:rPr lang="en-US" altLang="ko-KR" dirty="0" err="1"/>
              <a:t>fetch_k</a:t>
            </a:r>
            <a:r>
              <a:rPr lang="en-US" altLang="ko-KR" dirty="0"/>
              <a:t>=60)  → Combine as context for LLM</a:t>
            </a:r>
            <a:endParaRPr lang="ko-KR" altLang="en-US" dirty="0"/>
          </a:p>
        </p:txBody>
      </p:sp>
      <p:sp>
        <p:nvSpPr>
          <p:cNvPr id="4" name="슬라이드 번호 개체 틀 3"/>
          <p:cNvSpPr>
            <a:spLocks noGrp="1"/>
          </p:cNvSpPr>
          <p:nvPr>
            <p:ph type="sldNum" sz="quarter" idx="5"/>
          </p:nvPr>
        </p:nvSpPr>
        <p:spPr/>
        <p:txBody>
          <a:bodyPr/>
          <a:lstStyle/>
          <a:p>
            <a:fld id="{05D4F10F-18E8-4319-973F-13274A4BAAEA}" type="slidenum">
              <a:rPr lang="ko-KR" altLang="en-US" smtClean="0"/>
              <a:t>41</a:t>
            </a:fld>
            <a:endParaRPr lang="ko-KR" altLang="en-US"/>
          </a:p>
        </p:txBody>
      </p:sp>
    </p:spTree>
    <p:extLst>
      <p:ext uri="{BB962C8B-B14F-4D97-AF65-F5344CB8AC3E}">
        <p14:creationId xmlns:p14="http://schemas.microsoft.com/office/powerpoint/2010/main" val="7136780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a:spcAft>
                <a:spcPts val="1200"/>
              </a:spcAft>
              <a:defRPr sz="2200"/>
            </a:pPr>
            <a:r>
              <a:rPr lang="en-US" altLang="ko-KR" dirty="0"/>
              <a:t>After the AI answers, the IRQA system works.</a:t>
            </a:r>
          </a:p>
          <a:p>
            <a:pPr>
              <a:spcAft>
                <a:spcPts val="1200"/>
              </a:spcAft>
              <a:defRPr sz="2200"/>
            </a:pPr>
            <a:r>
              <a:rPr lang="en-US" altLang="ko-KR" dirty="0"/>
              <a:t>It finds similar questions asked by students from last year.</a:t>
            </a:r>
          </a:p>
          <a:p>
            <a:pPr>
              <a:spcAft>
                <a:spcPts val="1200"/>
              </a:spcAft>
              <a:defRPr sz="2200"/>
            </a:pPr>
            <a:r>
              <a:rPr lang="en-US" altLang="ko-KR" dirty="0"/>
              <a:t>It shows these as buttons.</a:t>
            </a:r>
          </a:p>
          <a:p>
            <a:pPr>
              <a:spcAft>
                <a:spcPts val="1200"/>
              </a:spcAft>
              <a:defRPr sz="2200"/>
            </a:pPr>
            <a:r>
              <a:rPr lang="en-US" altLang="ko-KR" dirty="0"/>
              <a:t>When clicked, the student sees my (the teacher's) old answer.</a:t>
            </a:r>
          </a:p>
          <a:p>
            <a:pPr>
              <a:spcAft>
                <a:spcPts val="1200"/>
              </a:spcAft>
              <a:defRPr sz="2200"/>
            </a:pPr>
            <a:r>
              <a:rPr lang="en-US" altLang="ko-KR" dirty="0"/>
              <a:t>This creates an online 'group study' effect.</a:t>
            </a:r>
          </a:p>
          <a:p>
            <a:endParaRPr lang="ko-KR" altLang="en-US" dirty="0"/>
          </a:p>
        </p:txBody>
      </p:sp>
      <p:sp>
        <p:nvSpPr>
          <p:cNvPr id="4" name="슬라이드 번호 개체 틀 3"/>
          <p:cNvSpPr>
            <a:spLocks noGrp="1"/>
          </p:cNvSpPr>
          <p:nvPr>
            <p:ph type="sldNum" sz="quarter" idx="5"/>
          </p:nvPr>
        </p:nvSpPr>
        <p:spPr/>
        <p:txBody>
          <a:bodyPr/>
          <a:lstStyle/>
          <a:p>
            <a:fld id="{05D4F10F-18E8-4319-973F-13274A4BAAEA}" type="slidenum">
              <a:rPr lang="ko-KR" altLang="en-US" smtClean="0"/>
              <a:t>42</a:t>
            </a:fld>
            <a:endParaRPr lang="ko-KR" altLang="en-US"/>
          </a:p>
        </p:txBody>
      </p:sp>
    </p:spTree>
    <p:extLst>
      <p:ext uri="{BB962C8B-B14F-4D97-AF65-F5344CB8AC3E}">
        <p14:creationId xmlns:p14="http://schemas.microsoft.com/office/powerpoint/2010/main" val="183097787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a:spcAft>
                <a:spcPts val="1200"/>
              </a:spcAft>
              <a:defRPr sz="2200"/>
            </a:pPr>
            <a:r>
              <a:rPr lang="en-US" altLang="ko-KR" dirty="0"/>
              <a:t>Technology is advancing very fast.</a:t>
            </a:r>
          </a:p>
          <a:p>
            <a:pPr>
              <a:spcAft>
                <a:spcPts val="1200"/>
              </a:spcAft>
              <a:defRPr sz="2200"/>
            </a:pPr>
            <a:r>
              <a:rPr lang="en-US" altLang="ko-KR" dirty="0"/>
              <a:t>But as a teacher, I know that blindly using the newest AI is dangerous.</a:t>
            </a:r>
          </a:p>
          <a:p>
            <a:pPr>
              <a:spcAft>
                <a:spcPts val="1200"/>
              </a:spcAft>
              <a:defRPr sz="2200"/>
            </a:pPr>
            <a:r>
              <a:rPr lang="en-US" altLang="ko-KR" dirty="0"/>
              <a:t>AI must be controlled by teachers to protect student thinking.</a:t>
            </a:r>
          </a:p>
          <a:p>
            <a:pPr>
              <a:spcAft>
                <a:spcPts val="1200"/>
              </a:spcAft>
              <a:defRPr sz="2200"/>
            </a:pPr>
            <a:r>
              <a:rPr lang="en-US" altLang="ko-KR" dirty="0"/>
              <a:t>I hope my 5-year research can be a helpful milestone for the future of education.</a:t>
            </a:r>
          </a:p>
          <a:p>
            <a:endParaRPr lang="ko-KR" altLang="en-US" dirty="0"/>
          </a:p>
        </p:txBody>
      </p:sp>
      <p:sp>
        <p:nvSpPr>
          <p:cNvPr id="4" name="슬라이드 번호 개체 틀 3"/>
          <p:cNvSpPr>
            <a:spLocks noGrp="1"/>
          </p:cNvSpPr>
          <p:nvPr>
            <p:ph type="sldNum" sz="quarter" idx="5"/>
          </p:nvPr>
        </p:nvSpPr>
        <p:spPr/>
        <p:txBody>
          <a:bodyPr/>
          <a:lstStyle/>
          <a:p>
            <a:fld id="{05D4F10F-18E8-4319-973F-13274A4BAAEA}" type="slidenum">
              <a:rPr lang="ko-KR" altLang="en-US" smtClean="0"/>
              <a:t>43</a:t>
            </a:fld>
            <a:endParaRPr lang="ko-KR" altLang="en-US"/>
          </a:p>
        </p:txBody>
      </p:sp>
    </p:spTree>
    <p:extLst>
      <p:ext uri="{BB962C8B-B14F-4D97-AF65-F5344CB8AC3E}">
        <p14:creationId xmlns:p14="http://schemas.microsoft.com/office/powerpoint/2010/main" val="40333274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 altLang="ko-KR" sz="1200" b="0" i="0" u="none" strike="noStrike" kern="1200" dirty="0">
                <a:solidFill>
                  <a:schemeClr val="tx1"/>
                </a:solidFill>
                <a:effectLst/>
                <a:latin typeface="+mn-lt"/>
                <a:ea typeface="+mn-ea"/>
                <a:cs typeface="+mn-cs"/>
              </a:rPr>
              <a:t>Thank you for listening. I look forward to showing you the actual system in tomorrow's demonstration.</a:t>
            </a:r>
            <a:endParaRPr kumimoji="1" lang="ko-KR" altLang="en-US" dirty="0"/>
          </a:p>
        </p:txBody>
      </p:sp>
      <p:sp>
        <p:nvSpPr>
          <p:cNvPr id="4" name="슬라이드 번호 개체 틀 3"/>
          <p:cNvSpPr>
            <a:spLocks noGrp="1"/>
          </p:cNvSpPr>
          <p:nvPr>
            <p:ph type="sldNum" sz="quarter" idx="5"/>
          </p:nvPr>
        </p:nvSpPr>
        <p:spPr/>
        <p:txBody>
          <a:bodyPr/>
          <a:lstStyle/>
          <a:p>
            <a:fld id="{9EB7427D-EF9A-4ECA-BDCC-0697E0A45644}" type="slidenum">
              <a:rPr lang="ko-KR" altLang="en-US" smtClean="0"/>
              <a:t>44</a:t>
            </a:fld>
            <a:endParaRPr lang="ko-KR" altLang="en-US"/>
          </a:p>
        </p:txBody>
      </p:sp>
    </p:spTree>
    <p:extLst>
      <p:ext uri="{BB962C8B-B14F-4D97-AF65-F5344CB8AC3E}">
        <p14:creationId xmlns:p14="http://schemas.microsoft.com/office/powerpoint/2010/main" val="264698144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a:spcAft>
                <a:spcPts val="1200"/>
              </a:spcAft>
              <a:defRPr sz="2200"/>
            </a:pPr>
            <a:r>
              <a:rPr lang="en-US" altLang="ko-KR" dirty="0"/>
              <a:t>Even though my English is not perfect, thank you for listening to my story.</a:t>
            </a:r>
          </a:p>
          <a:p>
            <a:pPr>
              <a:spcAft>
                <a:spcPts val="1200"/>
              </a:spcAft>
              <a:defRPr sz="2200"/>
            </a:pPr>
            <a:r>
              <a:rPr lang="en-US" altLang="ko-KR" dirty="0"/>
              <a:t>I am very happy to share my classroom research with you here in Bulgaria.</a:t>
            </a:r>
          </a:p>
          <a:p>
            <a:pPr>
              <a:spcAft>
                <a:spcPts val="1200"/>
              </a:spcAft>
              <a:defRPr sz="2200"/>
            </a:pPr>
            <a:r>
              <a:rPr lang="en-US" altLang="ko-KR" dirty="0"/>
              <a:t>If you have any questions, I will do my best to answer them.</a:t>
            </a:r>
          </a:p>
          <a:p>
            <a:pPr>
              <a:spcAft>
                <a:spcPts val="1200"/>
              </a:spcAft>
              <a:defRPr sz="2200"/>
            </a:pPr>
            <a:r>
              <a:rPr lang="en-US" altLang="ko-KR" dirty="0"/>
              <a:t>Thank you!</a:t>
            </a:r>
          </a:p>
          <a:p>
            <a:endParaRPr lang="en-US" altLang="ko-KR" dirty="0"/>
          </a:p>
          <a:p>
            <a:r>
              <a:rPr lang="en" altLang="ko-KR" sz="1200" b="0" i="0" kern="1200" dirty="0">
                <a:solidFill>
                  <a:schemeClr val="tx1"/>
                </a:solidFill>
                <a:effectLst/>
                <a:latin typeface="+mn-lt"/>
                <a:ea typeface="+mn-ea"/>
                <a:cs typeface="+mn-cs"/>
              </a:rPr>
              <a:t>Now, enough with the theory. Let’s see how this actually works in a real classroom environment. I will click this link to open the live chatbot page we developed. As you can see, this system runs on our school server</a:t>
            </a:r>
            <a:r>
              <a:rPr lang="ko-KR" altLang="en-US" sz="1200" b="0" i="0" kern="1200" dirty="0">
                <a:solidFill>
                  <a:schemeClr val="tx1"/>
                </a:solidFill>
                <a:effectLst/>
                <a:latin typeface="+mn-lt"/>
                <a:ea typeface="+mn-ea"/>
                <a:cs typeface="+mn-cs"/>
              </a:rPr>
              <a:t> </a:t>
            </a:r>
            <a:r>
              <a:rPr lang="en" altLang="ko-KR" sz="1200" b="0" i="0" kern="1200" dirty="0">
                <a:solidFill>
                  <a:schemeClr val="tx1"/>
                </a:solidFill>
                <a:effectLst/>
                <a:latin typeface="+mn-lt"/>
                <a:ea typeface="+mn-ea"/>
                <a:cs typeface="+mn-cs"/>
              </a:rPr>
              <a:t>for our students. </a:t>
            </a:r>
          </a:p>
          <a:p>
            <a:endParaRPr lang="en" altLang="ko-KR" sz="1200" b="0" i="0" kern="1200" dirty="0">
              <a:solidFill>
                <a:schemeClr val="tx1"/>
              </a:solidFill>
              <a:effectLst/>
              <a:latin typeface="+mn-lt"/>
              <a:ea typeface="+mn-ea"/>
              <a:cs typeface="+mn-cs"/>
            </a:endParaRPr>
          </a:p>
          <a:p>
            <a:r>
              <a:rPr lang="en-US" altLang="ko-KR" sz="1200" b="0" i="0" u="none" strike="noStrike" kern="1200" dirty="0">
                <a:solidFill>
                  <a:schemeClr val="tx1"/>
                </a:solidFill>
                <a:effectLst/>
                <a:latin typeface="+mn-lt"/>
                <a:ea typeface="+mn-ea"/>
                <a:cs typeface="+mn-cs"/>
              </a:rPr>
              <a:t>I've commented out the DB configuration. Please uncomment and set it up whenever you need it."</a:t>
            </a:r>
            <a:endParaRPr lang="ko-KR" altLang="en-US" dirty="0"/>
          </a:p>
        </p:txBody>
      </p:sp>
      <p:sp>
        <p:nvSpPr>
          <p:cNvPr id="4" name="슬라이드 번호 개체 틀 3"/>
          <p:cNvSpPr>
            <a:spLocks noGrp="1"/>
          </p:cNvSpPr>
          <p:nvPr>
            <p:ph type="sldNum" sz="quarter" idx="5"/>
          </p:nvPr>
        </p:nvSpPr>
        <p:spPr/>
        <p:txBody>
          <a:bodyPr/>
          <a:lstStyle/>
          <a:p>
            <a:fld id="{05D4F10F-18E8-4319-973F-13274A4BAAEA}" type="slidenum">
              <a:rPr lang="ko-KR" altLang="en-US" smtClean="0"/>
              <a:t>45</a:t>
            </a:fld>
            <a:endParaRPr lang="ko-KR" altLang="en-US"/>
          </a:p>
        </p:txBody>
      </p:sp>
    </p:spTree>
    <p:extLst>
      <p:ext uri="{BB962C8B-B14F-4D97-AF65-F5344CB8AC3E}">
        <p14:creationId xmlns:p14="http://schemas.microsoft.com/office/powerpoint/2010/main" val="37463416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4BD6275-2569-FC49-DE41-C10BEBE56F2E}"/>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6B509AE5-FC47-0DF4-52F8-61CBE7BA3C8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4FFF2AB5-275A-8408-7E98-AB2090A013E4}"/>
              </a:ext>
            </a:extLst>
          </p:cNvPr>
          <p:cNvSpPr>
            <a:spLocks noGrp="1"/>
          </p:cNvSpPr>
          <p:nvPr>
            <p:ph type="dt" sz="half" idx="10"/>
          </p:nvPr>
        </p:nvSpPr>
        <p:spPr/>
        <p:txBody>
          <a:bodyPr/>
          <a:lstStyle/>
          <a:p>
            <a:fld id="{D206F009-4929-49E6-81A5-4D9A3C68FC0F}" type="datetimeFigureOut">
              <a:rPr lang="ko-KR" altLang="en-US" smtClean="0"/>
              <a:t>2026. 4. 21.</a:t>
            </a:fld>
            <a:endParaRPr lang="ko-KR" altLang="en-US"/>
          </a:p>
        </p:txBody>
      </p:sp>
      <p:sp>
        <p:nvSpPr>
          <p:cNvPr id="5" name="바닥글 개체 틀 4">
            <a:extLst>
              <a:ext uri="{FF2B5EF4-FFF2-40B4-BE49-F238E27FC236}">
                <a16:creationId xmlns:a16="http://schemas.microsoft.com/office/drawing/2014/main" id="{9927E358-45F0-7293-4DB9-98B553067317}"/>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A9EABB47-75DE-6445-D6DC-EB6BEE6747DC}"/>
              </a:ext>
            </a:extLst>
          </p:cNvPr>
          <p:cNvSpPr>
            <a:spLocks noGrp="1"/>
          </p:cNvSpPr>
          <p:nvPr>
            <p:ph type="sldNum" sz="quarter" idx="12"/>
          </p:nvPr>
        </p:nvSpPr>
        <p:spPr/>
        <p:txBody>
          <a:bodyPr/>
          <a:lstStyle/>
          <a:p>
            <a:fld id="{8F220D4C-48CF-4C39-A674-5328EA0E6250}" type="slidenum">
              <a:rPr lang="ko-KR" altLang="en-US" smtClean="0"/>
              <a:t>‹#›</a:t>
            </a:fld>
            <a:endParaRPr lang="ko-KR" altLang="en-US"/>
          </a:p>
        </p:txBody>
      </p:sp>
    </p:spTree>
    <p:extLst>
      <p:ext uri="{BB962C8B-B14F-4D97-AF65-F5344CB8AC3E}">
        <p14:creationId xmlns:p14="http://schemas.microsoft.com/office/powerpoint/2010/main" val="37849671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CA4F879-2AE1-4729-4DA1-830F7DA8DD5F}"/>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B8184C0F-6D98-CD27-A338-E52C0ECE8BF8}"/>
              </a:ext>
            </a:extLst>
          </p:cNvPr>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50B87372-7DE1-153C-FCEE-6B2919E8B470}"/>
              </a:ext>
            </a:extLst>
          </p:cNvPr>
          <p:cNvSpPr>
            <a:spLocks noGrp="1"/>
          </p:cNvSpPr>
          <p:nvPr>
            <p:ph type="dt" sz="half" idx="10"/>
          </p:nvPr>
        </p:nvSpPr>
        <p:spPr/>
        <p:txBody>
          <a:bodyPr/>
          <a:lstStyle/>
          <a:p>
            <a:fld id="{D206F009-4929-49E6-81A5-4D9A3C68FC0F}" type="datetimeFigureOut">
              <a:rPr lang="ko-KR" altLang="en-US" smtClean="0"/>
              <a:t>2026. 4. 21.</a:t>
            </a:fld>
            <a:endParaRPr lang="ko-KR" altLang="en-US"/>
          </a:p>
        </p:txBody>
      </p:sp>
      <p:sp>
        <p:nvSpPr>
          <p:cNvPr id="5" name="바닥글 개체 틀 4">
            <a:extLst>
              <a:ext uri="{FF2B5EF4-FFF2-40B4-BE49-F238E27FC236}">
                <a16:creationId xmlns:a16="http://schemas.microsoft.com/office/drawing/2014/main" id="{E171B016-CCB8-CB53-E843-7F2D7EB91554}"/>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18396894-F01B-1AB2-765B-0F24FCA21A4A}"/>
              </a:ext>
            </a:extLst>
          </p:cNvPr>
          <p:cNvSpPr>
            <a:spLocks noGrp="1"/>
          </p:cNvSpPr>
          <p:nvPr>
            <p:ph type="sldNum" sz="quarter" idx="12"/>
          </p:nvPr>
        </p:nvSpPr>
        <p:spPr/>
        <p:txBody>
          <a:bodyPr/>
          <a:lstStyle/>
          <a:p>
            <a:fld id="{8F220D4C-48CF-4C39-A674-5328EA0E6250}" type="slidenum">
              <a:rPr lang="ko-KR" altLang="en-US" smtClean="0"/>
              <a:t>‹#›</a:t>
            </a:fld>
            <a:endParaRPr lang="ko-KR" altLang="en-US"/>
          </a:p>
        </p:txBody>
      </p:sp>
    </p:spTree>
    <p:extLst>
      <p:ext uri="{BB962C8B-B14F-4D97-AF65-F5344CB8AC3E}">
        <p14:creationId xmlns:p14="http://schemas.microsoft.com/office/powerpoint/2010/main" val="4139343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BC6FE47-4622-5AA2-0478-4D1C4FE14235}"/>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DDDB8834-71BC-A193-0D70-3CC5C296A2D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9714892B-6FD9-0DEA-7FC5-3BACB8A4CBD0}"/>
              </a:ext>
            </a:extLst>
          </p:cNvPr>
          <p:cNvSpPr>
            <a:spLocks noGrp="1"/>
          </p:cNvSpPr>
          <p:nvPr>
            <p:ph type="dt" sz="half" idx="10"/>
          </p:nvPr>
        </p:nvSpPr>
        <p:spPr/>
        <p:txBody>
          <a:bodyPr/>
          <a:lstStyle/>
          <a:p>
            <a:fld id="{D206F009-4929-49E6-81A5-4D9A3C68FC0F}" type="datetimeFigureOut">
              <a:rPr lang="ko-KR" altLang="en-US" smtClean="0"/>
              <a:t>2026. 4. 21.</a:t>
            </a:fld>
            <a:endParaRPr lang="ko-KR" altLang="en-US"/>
          </a:p>
        </p:txBody>
      </p:sp>
      <p:sp>
        <p:nvSpPr>
          <p:cNvPr id="5" name="바닥글 개체 틀 4">
            <a:extLst>
              <a:ext uri="{FF2B5EF4-FFF2-40B4-BE49-F238E27FC236}">
                <a16:creationId xmlns:a16="http://schemas.microsoft.com/office/drawing/2014/main" id="{2299665D-938F-A06A-FB7C-7A23ED1AC603}"/>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25EF7E5E-B8C8-58CF-0517-8C344433382B}"/>
              </a:ext>
            </a:extLst>
          </p:cNvPr>
          <p:cNvSpPr>
            <a:spLocks noGrp="1"/>
          </p:cNvSpPr>
          <p:nvPr>
            <p:ph type="sldNum" sz="quarter" idx="12"/>
          </p:nvPr>
        </p:nvSpPr>
        <p:spPr/>
        <p:txBody>
          <a:bodyPr/>
          <a:lstStyle/>
          <a:p>
            <a:fld id="{8F220D4C-48CF-4C39-A674-5328EA0E6250}" type="slidenum">
              <a:rPr lang="ko-KR" altLang="en-US" smtClean="0"/>
              <a:t>‹#›</a:t>
            </a:fld>
            <a:endParaRPr lang="ko-KR" altLang="en-US"/>
          </a:p>
        </p:txBody>
      </p:sp>
    </p:spTree>
    <p:extLst>
      <p:ext uri="{BB962C8B-B14F-4D97-AF65-F5344CB8AC3E}">
        <p14:creationId xmlns:p14="http://schemas.microsoft.com/office/powerpoint/2010/main" val="3556954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AD83228-4AAE-BCF2-6423-43CCCAB87864}"/>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2F539C74-7CCD-C6A6-7A25-B0B2229EAB58}"/>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3C56BFF3-C040-0017-AAF8-F5B5D2B7837B}"/>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35566715-4C44-24D6-5028-16DB2E07F1FB}"/>
              </a:ext>
            </a:extLst>
          </p:cNvPr>
          <p:cNvSpPr>
            <a:spLocks noGrp="1"/>
          </p:cNvSpPr>
          <p:nvPr>
            <p:ph type="dt" sz="half" idx="10"/>
          </p:nvPr>
        </p:nvSpPr>
        <p:spPr/>
        <p:txBody>
          <a:bodyPr/>
          <a:lstStyle/>
          <a:p>
            <a:fld id="{D206F009-4929-49E6-81A5-4D9A3C68FC0F}" type="datetimeFigureOut">
              <a:rPr lang="ko-KR" altLang="en-US" smtClean="0"/>
              <a:t>2026. 4. 21.</a:t>
            </a:fld>
            <a:endParaRPr lang="ko-KR" altLang="en-US"/>
          </a:p>
        </p:txBody>
      </p:sp>
      <p:sp>
        <p:nvSpPr>
          <p:cNvPr id="6" name="바닥글 개체 틀 5">
            <a:extLst>
              <a:ext uri="{FF2B5EF4-FFF2-40B4-BE49-F238E27FC236}">
                <a16:creationId xmlns:a16="http://schemas.microsoft.com/office/drawing/2014/main" id="{81CFB640-1005-E66B-733C-9065CD898406}"/>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1209064A-E3EE-252C-506D-C850FCE1920C}"/>
              </a:ext>
            </a:extLst>
          </p:cNvPr>
          <p:cNvSpPr>
            <a:spLocks noGrp="1"/>
          </p:cNvSpPr>
          <p:nvPr>
            <p:ph type="sldNum" sz="quarter" idx="12"/>
          </p:nvPr>
        </p:nvSpPr>
        <p:spPr/>
        <p:txBody>
          <a:bodyPr/>
          <a:lstStyle/>
          <a:p>
            <a:fld id="{8F220D4C-48CF-4C39-A674-5328EA0E6250}" type="slidenum">
              <a:rPr lang="ko-KR" altLang="en-US" smtClean="0"/>
              <a:t>‹#›</a:t>
            </a:fld>
            <a:endParaRPr lang="ko-KR" altLang="en-US"/>
          </a:p>
        </p:txBody>
      </p:sp>
    </p:spTree>
    <p:extLst>
      <p:ext uri="{BB962C8B-B14F-4D97-AF65-F5344CB8AC3E}">
        <p14:creationId xmlns:p14="http://schemas.microsoft.com/office/powerpoint/2010/main" val="38712583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4B9A6AC-3237-3CC7-CACF-0CF46DE9C3C2}"/>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88308305-AC96-2DE3-830E-31534567BB5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9EDB07DA-5B16-31A1-E5AF-1F66646174D2}"/>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B4BB7D35-4354-B8CA-D3C1-BC0DA732D66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E579D03B-E5A1-73D3-15AB-ACA1D6A2D1A6}"/>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48853807-63EB-DB37-5C58-1FE89B95A7A4}"/>
              </a:ext>
            </a:extLst>
          </p:cNvPr>
          <p:cNvSpPr>
            <a:spLocks noGrp="1"/>
          </p:cNvSpPr>
          <p:nvPr>
            <p:ph type="dt" sz="half" idx="10"/>
          </p:nvPr>
        </p:nvSpPr>
        <p:spPr/>
        <p:txBody>
          <a:bodyPr/>
          <a:lstStyle/>
          <a:p>
            <a:fld id="{D206F009-4929-49E6-81A5-4D9A3C68FC0F}" type="datetimeFigureOut">
              <a:rPr lang="ko-KR" altLang="en-US" smtClean="0"/>
              <a:t>2026. 4. 21.</a:t>
            </a:fld>
            <a:endParaRPr lang="ko-KR" altLang="en-US"/>
          </a:p>
        </p:txBody>
      </p:sp>
      <p:sp>
        <p:nvSpPr>
          <p:cNvPr id="8" name="바닥글 개체 틀 7">
            <a:extLst>
              <a:ext uri="{FF2B5EF4-FFF2-40B4-BE49-F238E27FC236}">
                <a16:creationId xmlns:a16="http://schemas.microsoft.com/office/drawing/2014/main" id="{B6F1ACC8-62FD-D687-C08F-122C4889748D}"/>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0BE1DBFA-8F50-5E9A-1671-C0CAD7711203}"/>
              </a:ext>
            </a:extLst>
          </p:cNvPr>
          <p:cNvSpPr>
            <a:spLocks noGrp="1"/>
          </p:cNvSpPr>
          <p:nvPr>
            <p:ph type="sldNum" sz="quarter" idx="12"/>
          </p:nvPr>
        </p:nvSpPr>
        <p:spPr/>
        <p:txBody>
          <a:bodyPr/>
          <a:lstStyle/>
          <a:p>
            <a:fld id="{8F220D4C-48CF-4C39-A674-5328EA0E6250}" type="slidenum">
              <a:rPr lang="ko-KR" altLang="en-US" smtClean="0"/>
              <a:t>‹#›</a:t>
            </a:fld>
            <a:endParaRPr lang="ko-KR" altLang="en-US"/>
          </a:p>
        </p:txBody>
      </p:sp>
    </p:spTree>
    <p:extLst>
      <p:ext uri="{BB962C8B-B14F-4D97-AF65-F5344CB8AC3E}">
        <p14:creationId xmlns:p14="http://schemas.microsoft.com/office/powerpoint/2010/main" val="39407221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8E732D8-531D-0D1A-DCB6-48B1DFA7CFC9}"/>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C9CE1623-C6AA-BF57-4B82-6A78C5C894CE}"/>
              </a:ext>
            </a:extLst>
          </p:cNvPr>
          <p:cNvSpPr>
            <a:spLocks noGrp="1"/>
          </p:cNvSpPr>
          <p:nvPr>
            <p:ph type="dt" sz="half" idx="10"/>
          </p:nvPr>
        </p:nvSpPr>
        <p:spPr/>
        <p:txBody>
          <a:bodyPr/>
          <a:lstStyle/>
          <a:p>
            <a:fld id="{D206F009-4929-49E6-81A5-4D9A3C68FC0F}" type="datetimeFigureOut">
              <a:rPr lang="ko-KR" altLang="en-US" smtClean="0"/>
              <a:t>2026. 4. 21.</a:t>
            </a:fld>
            <a:endParaRPr lang="ko-KR" altLang="en-US"/>
          </a:p>
        </p:txBody>
      </p:sp>
      <p:sp>
        <p:nvSpPr>
          <p:cNvPr id="4" name="바닥글 개체 틀 3">
            <a:extLst>
              <a:ext uri="{FF2B5EF4-FFF2-40B4-BE49-F238E27FC236}">
                <a16:creationId xmlns:a16="http://schemas.microsoft.com/office/drawing/2014/main" id="{856B6184-7C84-330F-FE5F-0529F90100E2}"/>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C284E834-F602-AA0F-1151-840CCC8F7FDE}"/>
              </a:ext>
            </a:extLst>
          </p:cNvPr>
          <p:cNvSpPr>
            <a:spLocks noGrp="1"/>
          </p:cNvSpPr>
          <p:nvPr>
            <p:ph type="sldNum" sz="quarter" idx="12"/>
          </p:nvPr>
        </p:nvSpPr>
        <p:spPr/>
        <p:txBody>
          <a:bodyPr/>
          <a:lstStyle/>
          <a:p>
            <a:fld id="{8F220D4C-48CF-4C39-A674-5328EA0E6250}" type="slidenum">
              <a:rPr lang="ko-KR" altLang="en-US" smtClean="0"/>
              <a:t>‹#›</a:t>
            </a:fld>
            <a:endParaRPr lang="ko-KR" altLang="en-US"/>
          </a:p>
        </p:txBody>
      </p:sp>
    </p:spTree>
    <p:extLst>
      <p:ext uri="{BB962C8B-B14F-4D97-AF65-F5344CB8AC3E}">
        <p14:creationId xmlns:p14="http://schemas.microsoft.com/office/powerpoint/2010/main" val="38452899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F66487BD-DDB6-B7F0-4157-3115AD5F0FC5}"/>
              </a:ext>
            </a:extLst>
          </p:cNvPr>
          <p:cNvSpPr>
            <a:spLocks noGrp="1"/>
          </p:cNvSpPr>
          <p:nvPr>
            <p:ph type="dt" sz="half" idx="10"/>
          </p:nvPr>
        </p:nvSpPr>
        <p:spPr/>
        <p:txBody>
          <a:bodyPr/>
          <a:lstStyle/>
          <a:p>
            <a:fld id="{D206F009-4929-49E6-81A5-4D9A3C68FC0F}" type="datetimeFigureOut">
              <a:rPr lang="ko-KR" altLang="en-US" smtClean="0"/>
              <a:t>2026. 4. 21.</a:t>
            </a:fld>
            <a:endParaRPr lang="ko-KR" altLang="en-US"/>
          </a:p>
        </p:txBody>
      </p:sp>
      <p:sp>
        <p:nvSpPr>
          <p:cNvPr id="3" name="바닥글 개체 틀 2">
            <a:extLst>
              <a:ext uri="{FF2B5EF4-FFF2-40B4-BE49-F238E27FC236}">
                <a16:creationId xmlns:a16="http://schemas.microsoft.com/office/drawing/2014/main" id="{F554B26E-2E20-D36D-3FE4-500570080281}"/>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CE41E40E-5A2B-22CD-6CBA-0C33C3BEC76E}"/>
              </a:ext>
            </a:extLst>
          </p:cNvPr>
          <p:cNvSpPr>
            <a:spLocks noGrp="1"/>
          </p:cNvSpPr>
          <p:nvPr>
            <p:ph type="sldNum" sz="quarter" idx="12"/>
          </p:nvPr>
        </p:nvSpPr>
        <p:spPr/>
        <p:txBody>
          <a:bodyPr/>
          <a:lstStyle/>
          <a:p>
            <a:fld id="{8F220D4C-48CF-4C39-A674-5328EA0E6250}" type="slidenum">
              <a:rPr lang="ko-KR" altLang="en-US" smtClean="0"/>
              <a:t>‹#›</a:t>
            </a:fld>
            <a:endParaRPr lang="ko-KR" altLang="en-US"/>
          </a:p>
        </p:txBody>
      </p:sp>
    </p:spTree>
    <p:extLst>
      <p:ext uri="{BB962C8B-B14F-4D97-AF65-F5344CB8AC3E}">
        <p14:creationId xmlns:p14="http://schemas.microsoft.com/office/powerpoint/2010/main" val="10640929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CF0B212-69FC-66BB-A107-A57D9F0BC956}"/>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1C795167-221C-6FF8-2B17-7E02E117E81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AC50334F-D30A-71EB-9B06-C3069E81D6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2224FD07-5C6B-5414-5649-97FD65DC3F30}"/>
              </a:ext>
            </a:extLst>
          </p:cNvPr>
          <p:cNvSpPr>
            <a:spLocks noGrp="1"/>
          </p:cNvSpPr>
          <p:nvPr>
            <p:ph type="dt" sz="half" idx="10"/>
          </p:nvPr>
        </p:nvSpPr>
        <p:spPr/>
        <p:txBody>
          <a:bodyPr/>
          <a:lstStyle/>
          <a:p>
            <a:fld id="{D206F009-4929-49E6-81A5-4D9A3C68FC0F}" type="datetimeFigureOut">
              <a:rPr lang="ko-KR" altLang="en-US" smtClean="0"/>
              <a:t>2026. 4. 21.</a:t>
            </a:fld>
            <a:endParaRPr lang="ko-KR" altLang="en-US"/>
          </a:p>
        </p:txBody>
      </p:sp>
      <p:sp>
        <p:nvSpPr>
          <p:cNvPr id="6" name="바닥글 개체 틀 5">
            <a:extLst>
              <a:ext uri="{FF2B5EF4-FFF2-40B4-BE49-F238E27FC236}">
                <a16:creationId xmlns:a16="http://schemas.microsoft.com/office/drawing/2014/main" id="{0A3AE046-C6FF-7EAC-6164-351E4F7B78DF}"/>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E133611D-D16B-EF22-9EDA-C2FDB51BDB9C}"/>
              </a:ext>
            </a:extLst>
          </p:cNvPr>
          <p:cNvSpPr>
            <a:spLocks noGrp="1"/>
          </p:cNvSpPr>
          <p:nvPr>
            <p:ph type="sldNum" sz="quarter" idx="12"/>
          </p:nvPr>
        </p:nvSpPr>
        <p:spPr/>
        <p:txBody>
          <a:bodyPr/>
          <a:lstStyle/>
          <a:p>
            <a:fld id="{8F220D4C-48CF-4C39-A674-5328EA0E6250}" type="slidenum">
              <a:rPr lang="ko-KR" altLang="en-US" smtClean="0"/>
              <a:t>‹#›</a:t>
            </a:fld>
            <a:endParaRPr lang="ko-KR" altLang="en-US"/>
          </a:p>
        </p:txBody>
      </p:sp>
    </p:spTree>
    <p:extLst>
      <p:ext uri="{BB962C8B-B14F-4D97-AF65-F5344CB8AC3E}">
        <p14:creationId xmlns:p14="http://schemas.microsoft.com/office/powerpoint/2010/main" val="11890233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A3F8147-F1F3-27FE-79AF-0ADCD2156694}"/>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C10EA381-8B11-8278-02B7-E5B1075DE7D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ADD58EF0-7793-BB81-1BD5-AB47934CE1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063381BA-3D63-2263-F10C-B1A04F140DFB}"/>
              </a:ext>
            </a:extLst>
          </p:cNvPr>
          <p:cNvSpPr>
            <a:spLocks noGrp="1"/>
          </p:cNvSpPr>
          <p:nvPr>
            <p:ph type="dt" sz="half" idx="10"/>
          </p:nvPr>
        </p:nvSpPr>
        <p:spPr/>
        <p:txBody>
          <a:bodyPr/>
          <a:lstStyle/>
          <a:p>
            <a:fld id="{D206F009-4929-49E6-81A5-4D9A3C68FC0F}" type="datetimeFigureOut">
              <a:rPr lang="ko-KR" altLang="en-US" smtClean="0"/>
              <a:t>2026. 4. 21.</a:t>
            </a:fld>
            <a:endParaRPr lang="ko-KR" altLang="en-US"/>
          </a:p>
        </p:txBody>
      </p:sp>
      <p:sp>
        <p:nvSpPr>
          <p:cNvPr id="6" name="바닥글 개체 틀 5">
            <a:extLst>
              <a:ext uri="{FF2B5EF4-FFF2-40B4-BE49-F238E27FC236}">
                <a16:creationId xmlns:a16="http://schemas.microsoft.com/office/drawing/2014/main" id="{FED3FA48-2F47-ED0A-BEC2-02CD09E7A4E3}"/>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9DD7251A-4E08-33A0-2DC2-2C9724746B53}"/>
              </a:ext>
            </a:extLst>
          </p:cNvPr>
          <p:cNvSpPr>
            <a:spLocks noGrp="1"/>
          </p:cNvSpPr>
          <p:nvPr>
            <p:ph type="sldNum" sz="quarter" idx="12"/>
          </p:nvPr>
        </p:nvSpPr>
        <p:spPr/>
        <p:txBody>
          <a:bodyPr/>
          <a:lstStyle/>
          <a:p>
            <a:fld id="{8F220D4C-48CF-4C39-A674-5328EA0E6250}" type="slidenum">
              <a:rPr lang="ko-KR" altLang="en-US" smtClean="0"/>
              <a:t>‹#›</a:t>
            </a:fld>
            <a:endParaRPr lang="ko-KR" altLang="en-US"/>
          </a:p>
        </p:txBody>
      </p:sp>
    </p:spTree>
    <p:extLst>
      <p:ext uri="{BB962C8B-B14F-4D97-AF65-F5344CB8AC3E}">
        <p14:creationId xmlns:p14="http://schemas.microsoft.com/office/powerpoint/2010/main" val="17331563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9B9179B-018E-0D24-CEC4-89AB966896A9}"/>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932DEB50-6C30-1C72-15BE-89EDB62E68FA}"/>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E7919154-B835-AB16-FF23-D68F3E0CBCF8}"/>
              </a:ext>
            </a:extLst>
          </p:cNvPr>
          <p:cNvSpPr>
            <a:spLocks noGrp="1"/>
          </p:cNvSpPr>
          <p:nvPr>
            <p:ph type="dt" sz="half" idx="10"/>
          </p:nvPr>
        </p:nvSpPr>
        <p:spPr/>
        <p:txBody>
          <a:bodyPr/>
          <a:lstStyle/>
          <a:p>
            <a:fld id="{D206F009-4929-49E6-81A5-4D9A3C68FC0F}" type="datetimeFigureOut">
              <a:rPr lang="ko-KR" altLang="en-US" smtClean="0"/>
              <a:t>2026. 4. 21.</a:t>
            </a:fld>
            <a:endParaRPr lang="ko-KR" altLang="en-US"/>
          </a:p>
        </p:txBody>
      </p:sp>
      <p:sp>
        <p:nvSpPr>
          <p:cNvPr id="5" name="바닥글 개체 틀 4">
            <a:extLst>
              <a:ext uri="{FF2B5EF4-FFF2-40B4-BE49-F238E27FC236}">
                <a16:creationId xmlns:a16="http://schemas.microsoft.com/office/drawing/2014/main" id="{3FCCA75A-8DD7-C3D2-424E-B43D0A8C85EA}"/>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C1A1D243-E9D7-5DED-7B65-CB6A8DAE73E2}"/>
              </a:ext>
            </a:extLst>
          </p:cNvPr>
          <p:cNvSpPr>
            <a:spLocks noGrp="1"/>
          </p:cNvSpPr>
          <p:nvPr>
            <p:ph type="sldNum" sz="quarter" idx="12"/>
          </p:nvPr>
        </p:nvSpPr>
        <p:spPr/>
        <p:txBody>
          <a:bodyPr/>
          <a:lstStyle/>
          <a:p>
            <a:fld id="{8F220D4C-48CF-4C39-A674-5328EA0E6250}" type="slidenum">
              <a:rPr lang="ko-KR" altLang="en-US" smtClean="0"/>
              <a:t>‹#›</a:t>
            </a:fld>
            <a:endParaRPr lang="ko-KR" altLang="en-US"/>
          </a:p>
        </p:txBody>
      </p:sp>
    </p:spTree>
    <p:extLst>
      <p:ext uri="{BB962C8B-B14F-4D97-AF65-F5344CB8AC3E}">
        <p14:creationId xmlns:p14="http://schemas.microsoft.com/office/powerpoint/2010/main" val="39439039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07B49C2B-553A-96AD-E1B3-1288E8AB65B6}"/>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DA5E85D1-AC55-6326-4BE1-8DBABC6BED40}"/>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AE2B5C23-A2AA-52EE-F7ED-8440E53C1571}"/>
              </a:ext>
            </a:extLst>
          </p:cNvPr>
          <p:cNvSpPr>
            <a:spLocks noGrp="1"/>
          </p:cNvSpPr>
          <p:nvPr>
            <p:ph type="dt" sz="half" idx="10"/>
          </p:nvPr>
        </p:nvSpPr>
        <p:spPr/>
        <p:txBody>
          <a:bodyPr/>
          <a:lstStyle/>
          <a:p>
            <a:fld id="{D206F009-4929-49E6-81A5-4D9A3C68FC0F}" type="datetimeFigureOut">
              <a:rPr lang="ko-KR" altLang="en-US" smtClean="0"/>
              <a:t>2026. 4. 21.</a:t>
            </a:fld>
            <a:endParaRPr lang="ko-KR" altLang="en-US"/>
          </a:p>
        </p:txBody>
      </p:sp>
      <p:sp>
        <p:nvSpPr>
          <p:cNvPr id="5" name="바닥글 개체 틀 4">
            <a:extLst>
              <a:ext uri="{FF2B5EF4-FFF2-40B4-BE49-F238E27FC236}">
                <a16:creationId xmlns:a16="http://schemas.microsoft.com/office/drawing/2014/main" id="{D9532C62-9F4A-992F-1DEB-5B6C8EFD29B7}"/>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37AD2CBD-7778-C5ED-6EB3-775D6C0EE17A}"/>
              </a:ext>
            </a:extLst>
          </p:cNvPr>
          <p:cNvSpPr>
            <a:spLocks noGrp="1"/>
          </p:cNvSpPr>
          <p:nvPr>
            <p:ph type="sldNum" sz="quarter" idx="12"/>
          </p:nvPr>
        </p:nvSpPr>
        <p:spPr/>
        <p:txBody>
          <a:bodyPr/>
          <a:lstStyle/>
          <a:p>
            <a:fld id="{8F220D4C-48CF-4C39-A674-5328EA0E6250}" type="slidenum">
              <a:rPr lang="ko-KR" altLang="en-US" smtClean="0"/>
              <a:t>‹#›</a:t>
            </a:fld>
            <a:endParaRPr lang="ko-KR" altLang="en-US"/>
          </a:p>
        </p:txBody>
      </p:sp>
    </p:spTree>
    <p:extLst>
      <p:ext uri="{BB962C8B-B14F-4D97-AF65-F5344CB8AC3E}">
        <p14:creationId xmlns:p14="http://schemas.microsoft.com/office/powerpoint/2010/main" val="4152340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E8ADB95B-58E7-FFBB-C26F-EE6C2C93466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606CD53F-6FA4-6229-EC07-49343C6AA75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19337A0B-4D73-19B3-8A3A-4F72E564E23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206F009-4929-49E6-81A5-4D9A3C68FC0F}" type="datetimeFigureOut">
              <a:rPr lang="ko-KR" altLang="en-US" smtClean="0"/>
              <a:t>2026. 4. 21.</a:t>
            </a:fld>
            <a:endParaRPr lang="ko-KR" altLang="en-US"/>
          </a:p>
        </p:txBody>
      </p:sp>
      <p:sp>
        <p:nvSpPr>
          <p:cNvPr id="5" name="바닥글 개체 틀 4">
            <a:extLst>
              <a:ext uri="{FF2B5EF4-FFF2-40B4-BE49-F238E27FC236}">
                <a16:creationId xmlns:a16="http://schemas.microsoft.com/office/drawing/2014/main" id="{1BAAC0CD-A72A-A850-55A2-7776D3A31D6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7071264E-7E64-1F0A-A19A-1AB44B59326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F220D4C-48CF-4C39-A674-5328EA0E6250}" type="slidenum">
              <a:rPr lang="ko-KR" altLang="en-US" smtClean="0"/>
              <a:t>‹#›</a:t>
            </a:fld>
            <a:endParaRPr lang="ko-KR" altLang="en-US"/>
          </a:p>
        </p:txBody>
      </p:sp>
    </p:spTree>
    <p:extLst>
      <p:ext uri="{BB962C8B-B14F-4D97-AF65-F5344CB8AC3E}">
        <p14:creationId xmlns:p14="http://schemas.microsoft.com/office/powerpoint/2010/main" val="13758362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hyperlink" Target="https://elizaemulator.com/index.html" TargetMode="Externa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hyperlink" Target="https://acer2.snu.ac.kr:8503/"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hyperlink" Target="https://github.com/kungmo/science_qna_rag_irqa_chatbot_bg" TargetMode="External"/><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EEA9076-36C9-46CD-9E09-CC680C4F3788}"/>
              </a:ext>
            </a:extLst>
          </p:cNvPr>
          <p:cNvSpPr>
            <a:spLocks noGrp="1"/>
          </p:cNvSpPr>
          <p:nvPr>
            <p:ph type="ctrTitle"/>
          </p:nvPr>
        </p:nvSpPr>
        <p:spPr>
          <a:xfrm>
            <a:off x="1210733" y="1474321"/>
            <a:ext cx="9770532" cy="2387600"/>
          </a:xfrm>
        </p:spPr>
        <p:txBody>
          <a:bodyPr>
            <a:noAutofit/>
          </a:bodyPr>
          <a:lstStyle/>
          <a:p>
            <a:r>
              <a:rPr lang="en-US" altLang="ko-KR" sz="4400" dirty="0"/>
              <a:t>Overview of educational chatbots and the practical need for a high school integrated science Q&amp;A chatbot in a real school environment </a:t>
            </a:r>
            <a:endParaRPr lang="ko-KR" altLang="en-US" sz="4400" dirty="0"/>
          </a:p>
        </p:txBody>
      </p:sp>
      <p:sp>
        <p:nvSpPr>
          <p:cNvPr id="3" name="부제목 2">
            <a:extLst>
              <a:ext uri="{FF2B5EF4-FFF2-40B4-BE49-F238E27FC236}">
                <a16:creationId xmlns:a16="http://schemas.microsoft.com/office/drawing/2014/main" id="{E91D3039-184B-EB4C-2785-38CEF93F879F}"/>
              </a:ext>
            </a:extLst>
          </p:cNvPr>
          <p:cNvSpPr>
            <a:spLocks noGrp="1"/>
          </p:cNvSpPr>
          <p:nvPr>
            <p:ph type="subTitle" idx="1"/>
          </p:nvPr>
        </p:nvSpPr>
        <p:spPr>
          <a:xfrm>
            <a:off x="1523999" y="4686919"/>
            <a:ext cx="9144000" cy="1655762"/>
          </a:xfrm>
        </p:spPr>
        <p:txBody>
          <a:bodyPr/>
          <a:lstStyle/>
          <a:p>
            <a:r>
              <a:rPr lang="en-US" altLang="ko-KR" dirty="0" err="1"/>
              <a:t>Gyeongmo</a:t>
            </a:r>
            <a:r>
              <a:rPr lang="en-US" altLang="ko-KR" dirty="0"/>
              <a:t> Min, </a:t>
            </a:r>
            <a:r>
              <a:rPr lang="en-US" altLang="ko-KR" dirty="0" err="1"/>
              <a:t>Junehee</a:t>
            </a:r>
            <a:r>
              <a:rPr lang="en-US" altLang="ko-KR" dirty="0"/>
              <a:t> Yoo</a:t>
            </a:r>
          </a:p>
          <a:p>
            <a:r>
              <a:rPr lang="en-US" altLang="ko-KR" dirty="0"/>
              <a:t>Seoul National University</a:t>
            </a:r>
            <a:endParaRPr lang="ko-KR" altLang="en-US" dirty="0"/>
          </a:p>
        </p:txBody>
      </p:sp>
    </p:spTree>
    <p:extLst>
      <p:ext uri="{BB962C8B-B14F-4D97-AF65-F5344CB8AC3E}">
        <p14:creationId xmlns:p14="http://schemas.microsoft.com/office/powerpoint/2010/main" val="33229542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61085C4-8C31-05F4-2291-7560D68C127B}"/>
              </a:ext>
            </a:extLst>
          </p:cNvPr>
          <p:cNvSpPr>
            <a:spLocks noGrp="1"/>
          </p:cNvSpPr>
          <p:nvPr>
            <p:ph type="title"/>
          </p:nvPr>
        </p:nvSpPr>
        <p:spPr/>
        <p:txBody>
          <a:bodyPr/>
          <a:lstStyle/>
          <a:p>
            <a:r>
              <a:rPr lang="en-US" altLang="ko-KR" dirty="0">
                <a:effectLst/>
              </a:rPr>
              <a:t>What We Will Cover Today</a:t>
            </a:r>
            <a:endParaRPr lang="ko-KR" altLang="en-US" dirty="0"/>
          </a:p>
        </p:txBody>
      </p:sp>
      <p:sp>
        <p:nvSpPr>
          <p:cNvPr id="3" name="내용 개체 틀 2">
            <a:extLst>
              <a:ext uri="{FF2B5EF4-FFF2-40B4-BE49-F238E27FC236}">
                <a16:creationId xmlns:a16="http://schemas.microsoft.com/office/drawing/2014/main" id="{E5BD8F75-E077-9E3C-67D7-01864FDF7DA3}"/>
              </a:ext>
            </a:extLst>
          </p:cNvPr>
          <p:cNvSpPr>
            <a:spLocks noGrp="1"/>
          </p:cNvSpPr>
          <p:nvPr>
            <p:ph idx="1"/>
          </p:nvPr>
        </p:nvSpPr>
        <p:spPr>
          <a:xfrm>
            <a:off x="838200" y="1825624"/>
            <a:ext cx="11150600" cy="5032375"/>
          </a:xfrm>
        </p:spPr>
        <p:txBody>
          <a:bodyPr>
            <a:normAutofit fontScale="92500"/>
          </a:bodyPr>
          <a:lstStyle/>
          <a:p>
            <a:r>
              <a:rPr lang="en-US" altLang="ko-KR" dirty="0"/>
              <a:t>Very brief history of chatbots and large language models (LLMs)</a:t>
            </a:r>
          </a:p>
          <a:p>
            <a:r>
              <a:rPr lang="en-US" altLang="ko-KR" dirty="0"/>
              <a:t>Educational chatbots powered by LLMs</a:t>
            </a:r>
          </a:p>
          <a:p>
            <a:r>
              <a:rPr lang="en-US" altLang="ko-KR" dirty="0"/>
              <a:t>7 design principles for good educational chatbots (</a:t>
            </a:r>
            <a:r>
              <a:rPr lang="en-US" altLang="ko-KR" dirty="0" err="1"/>
              <a:t>Kuhail</a:t>
            </a:r>
            <a:r>
              <a:rPr lang="en-US" altLang="ko-KR" dirty="0"/>
              <a:t> et al., 2023)</a:t>
            </a:r>
          </a:p>
          <a:p>
            <a:r>
              <a:rPr lang="en-US" altLang="ko-KR" dirty="0"/>
              <a:t>Problems with Current Educational Chatbots</a:t>
            </a:r>
          </a:p>
          <a:p>
            <a:r>
              <a:rPr lang="en-US" altLang="ko-KR" dirty="0"/>
              <a:t>Special situation of high school “Integrated Science” in Korea</a:t>
            </a:r>
          </a:p>
          <a:p>
            <a:r>
              <a:rPr lang="en-US" altLang="ko-KR" dirty="0"/>
              <a:t>Role of students' questions in science education </a:t>
            </a:r>
          </a:p>
          <a:p>
            <a:r>
              <a:rPr lang="en-US" altLang="ko-KR" dirty="0"/>
              <a:t>Practical need for a science Q&amp;A chatbots in Korea</a:t>
            </a:r>
          </a:p>
          <a:p>
            <a:endParaRPr lang="en-US" altLang="ko-KR" dirty="0"/>
          </a:p>
          <a:p>
            <a:r>
              <a:rPr lang="en-US" altLang="ko-KR" dirty="0"/>
              <a:t>Tomorrow, I’ll focus on live demo of implementation of a customized chatbot we developed. If you want to setup this system, please bring your own laptop.</a:t>
            </a:r>
          </a:p>
        </p:txBody>
      </p:sp>
    </p:spTree>
    <p:extLst>
      <p:ext uri="{BB962C8B-B14F-4D97-AF65-F5344CB8AC3E}">
        <p14:creationId xmlns:p14="http://schemas.microsoft.com/office/powerpoint/2010/main" val="7253109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F24FB30-2041-86BE-76F7-09AC26984CC0}"/>
              </a:ext>
            </a:extLst>
          </p:cNvPr>
          <p:cNvSpPr>
            <a:spLocks noGrp="1"/>
          </p:cNvSpPr>
          <p:nvPr>
            <p:ph type="title"/>
          </p:nvPr>
        </p:nvSpPr>
        <p:spPr/>
        <p:txBody>
          <a:bodyPr/>
          <a:lstStyle/>
          <a:p>
            <a:r>
              <a:rPr lang="en-US" altLang="ko-KR" dirty="0"/>
              <a:t>What is a Chatbot?</a:t>
            </a:r>
            <a:endParaRPr lang="ko-KR" altLang="en-US" dirty="0"/>
          </a:p>
        </p:txBody>
      </p:sp>
      <p:sp>
        <p:nvSpPr>
          <p:cNvPr id="3" name="내용 개체 틀 2">
            <a:extLst>
              <a:ext uri="{FF2B5EF4-FFF2-40B4-BE49-F238E27FC236}">
                <a16:creationId xmlns:a16="http://schemas.microsoft.com/office/drawing/2014/main" id="{3B51A11C-8FD7-89E9-A1C0-0CD5C2E8F208}"/>
              </a:ext>
            </a:extLst>
          </p:cNvPr>
          <p:cNvSpPr>
            <a:spLocks noGrp="1"/>
          </p:cNvSpPr>
          <p:nvPr>
            <p:ph idx="1"/>
          </p:nvPr>
        </p:nvSpPr>
        <p:spPr>
          <a:xfrm>
            <a:off x="838200" y="1825624"/>
            <a:ext cx="11353800" cy="5032375"/>
          </a:xfrm>
        </p:spPr>
        <p:txBody>
          <a:bodyPr>
            <a:normAutofit/>
          </a:bodyPr>
          <a:lstStyle/>
          <a:p>
            <a:r>
              <a:rPr lang="en-US" altLang="ko-KR" dirty="0"/>
              <a:t>A chatbot is a computer program that talks with people using normal, everyday language.</a:t>
            </a:r>
          </a:p>
          <a:p>
            <a:r>
              <a:rPr lang="en-US" altLang="ko-KR" dirty="0"/>
              <a:t>It can be a helpful friend who answers questions 24 hours a day.</a:t>
            </a:r>
          </a:p>
          <a:p>
            <a:pPr lvl="1"/>
            <a:r>
              <a:rPr lang="en-US" altLang="ko-KR" dirty="0"/>
              <a:t>Nowadays, many employees who are working at support center are substituted with chatbot services…</a:t>
            </a:r>
          </a:p>
          <a:p>
            <a:r>
              <a:rPr lang="en-US" altLang="ko-KR" dirty="0"/>
              <a:t>In schools, chatbots act as a second teacher that never gets tired.</a:t>
            </a:r>
          </a:p>
          <a:p>
            <a:r>
              <a:rPr lang="en-US" altLang="ko-KR" dirty="0"/>
              <a:t>They give instant answers, remember conversations, and explain step by step.</a:t>
            </a:r>
          </a:p>
          <a:p>
            <a:r>
              <a:rPr lang="en-US" altLang="ko-KR" dirty="0"/>
              <a:t>In Korea, we want chatbots that work well with Korean language and real school needs.</a:t>
            </a:r>
            <a:endParaRPr lang="ko-KR" altLang="en-US" dirty="0"/>
          </a:p>
        </p:txBody>
      </p:sp>
    </p:spTree>
    <p:extLst>
      <p:ext uri="{BB962C8B-B14F-4D97-AF65-F5344CB8AC3E}">
        <p14:creationId xmlns:p14="http://schemas.microsoft.com/office/powerpoint/2010/main" val="35620449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91929B8-8E95-86A1-ECD9-80F55FCE4645}"/>
              </a:ext>
            </a:extLst>
          </p:cNvPr>
          <p:cNvSpPr>
            <a:spLocks noGrp="1"/>
          </p:cNvSpPr>
          <p:nvPr>
            <p:ph type="title"/>
          </p:nvPr>
        </p:nvSpPr>
        <p:spPr/>
        <p:txBody>
          <a:bodyPr>
            <a:normAutofit/>
          </a:bodyPr>
          <a:lstStyle/>
          <a:p>
            <a:r>
              <a:rPr lang="en-US" altLang="ko-KR" dirty="0">
                <a:effectLst/>
              </a:rPr>
              <a:t>Early Chatbots – Rule-Based Era (until 1995)</a:t>
            </a:r>
            <a:endParaRPr lang="ko-KR" altLang="en-US" dirty="0"/>
          </a:p>
        </p:txBody>
      </p:sp>
      <p:sp>
        <p:nvSpPr>
          <p:cNvPr id="3" name="내용 개체 틀 2">
            <a:extLst>
              <a:ext uri="{FF2B5EF4-FFF2-40B4-BE49-F238E27FC236}">
                <a16:creationId xmlns:a16="http://schemas.microsoft.com/office/drawing/2014/main" id="{5EA5997C-587A-0E6E-FFEE-716D9DE27F65}"/>
              </a:ext>
            </a:extLst>
          </p:cNvPr>
          <p:cNvSpPr>
            <a:spLocks noGrp="1"/>
          </p:cNvSpPr>
          <p:nvPr>
            <p:ph idx="1"/>
          </p:nvPr>
        </p:nvSpPr>
        <p:spPr>
          <a:xfrm>
            <a:off x="838199" y="1825624"/>
            <a:ext cx="11018003" cy="5032375"/>
          </a:xfrm>
        </p:spPr>
        <p:txBody>
          <a:bodyPr>
            <a:normAutofit/>
          </a:bodyPr>
          <a:lstStyle/>
          <a:p>
            <a:r>
              <a:rPr lang="en-US" altLang="ko-KR" dirty="0"/>
              <a:t>Early chatbots used simple rules: “If question is X, then answer Y.”</a:t>
            </a:r>
          </a:p>
          <a:p>
            <a:r>
              <a:rPr lang="en-US" altLang="ko-KR" dirty="0"/>
              <a:t>People wrote thousands of rules and expected Q&amp;A pairs by hand.</a:t>
            </a:r>
          </a:p>
          <a:p>
            <a:r>
              <a:rPr lang="en-US" altLang="ko-KR" dirty="0"/>
              <a:t>Famous examples:</a:t>
            </a:r>
          </a:p>
          <a:p>
            <a:pPr lvl="1"/>
            <a:r>
              <a:rPr lang="en-US" altLang="ko-KR" dirty="0"/>
              <a:t>ELIZA (1966, MIT) acted like a psychologist.</a:t>
            </a:r>
          </a:p>
          <a:p>
            <a:pPr lvl="1"/>
            <a:r>
              <a:rPr lang="en-US" altLang="ko-KR" dirty="0"/>
              <a:t>PARRY (1972) acted like a patient.</a:t>
            </a:r>
          </a:p>
          <a:p>
            <a:r>
              <a:rPr lang="en-US" altLang="ko-KR" dirty="0"/>
              <a:t>In Korea: MAX (1993) was very popular on old PC networks for small-talk.</a:t>
            </a:r>
          </a:p>
          <a:p>
            <a:r>
              <a:rPr lang="en-US" altLang="ko-KR" dirty="0"/>
              <a:t>Problem</a:t>
            </a:r>
          </a:p>
          <a:p>
            <a:pPr lvl="1"/>
            <a:r>
              <a:rPr lang="en-US" altLang="ko-KR" dirty="0"/>
              <a:t>Ancient chatbots could not answer new questions if developers did not input exact if-then statement.</a:t>
            </a:r>
            <a:endParaRPr lang="ko-KR" altLang="en-US" dirty="0"/>
          </a:p>
        </p:txBody>
      </p:sp>
    </p:spTree>
    <p:extLst>
      <p:ext uri="{BB962C8B-B14F-4D97-AF65-F5344CB8AC3E}">
        <p14:creationId xmlns:p14="http://schemas.microsoft.com/office/powerpoint/2010/main" val="36167682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그림 4" descr="텍스트, 전자 기기, 전자제품, 출력 장치이(가) 표시된 사진&#10;&#10;AI가 생성한 콘텐츠는 부정확할 수 있습니다.">
            <a:extLst>
              <a:ext uri="{FF2B5EF4-FFF2-40B4-BE49-F238E27FC236}">
                <a16:creationId xmlns:a16="http://schemas.microsoft.com/office/drawing/2014/main" id="{3F40821F-E224-1060-D504-6C51626C69A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16282" y="1"/>
            <a:ext cx="9373637" cy="6868406"/>
          </a:xfrm>
          <a:prstGeom prst="rect">
            <a:avLst/>
          </a:prstGeom>
        </p:spPr>
      </p:pic>
    </p:spTree>
    <p:extLst>
      <p:ext uri="{BB962C8B-B14F-4D97-AF65-F5344CB8AC3E}">
        <p14:creationId xmlns:p14="http://schemas.microsoft.com/office/powerpoint/2010/main" val="30815855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그림 2" descr="텍스트, 스크린샷, 폰트이(가) 표시된 사진&#10;&#10;AI가 생성한 콘텐츠는 부정확할 수 있습니다.">
            <a:extLst>
              <a:ext uri="{FF2B5EF4-FFF2-40B4-BE49-F238E27FC236}">
                <a16:creationId xmlns:a16="http://schemas.microsoft.com/office/drawing/2014/main" id="{B9F8BFAC-1BFF-1028-6201-B87B08CA6E3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228601"/>
            <a:ext cx="12187852" cy="6398622"/>
          </a:xfrm>
          <a:prstGeom prst="rect">
            <a:avLst/>
          </a:prstGeom>
        </p:spPr>
      </p:pic>
      <p:sp>
        <p:nvSpPr>
          <p:cNvPr id="4" name="직사각형 3">
            <a:hlinkClick r:id="rId4"/>
            <a:extLst>
              <a:ext uri="{FF2B5EF4-FFF2-40B4-BE49-F238E27FC236}">
                <a16:creationId xmlns:a16="http://schemas.microsoft.com/office/drawing/2014/main" id="{3487BDE3-18BA-34F4-5253-54ACCAA25356}"/>
              </a:ext>
            </a:extLst>
          </p:cNvPr>
          <p:cNvSpPr/>
          <p:nvPr/>
        </p:nvSpPr>
        <p:spPr>
          <a:xfrm>
            <a:off x="9858103" y="6165669"/>
            <a:ext cx="2142308" cy="3657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dirty="0"/>
              <a:t>웹 버전</a:t>
            </a:r>
          </a:p>
        </p:txBody>
      </p:sp>
    </p:spTree>
    <p:extLst>
      <p:ext uri="{BB962C8B-B14F-4D97-AF65-F5344CB8AC3E}">
        <p14:creationId xmlns:p14="http://schemas.microsoft.com/office/powerpoint/2010/main" val="8415738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그림 2" descr="텍스트, 전자제품, 디스플레이, 스크린샷이(가) 표시된 사진&#10;&#10;AI가 생성한 콘텐츠는 부정확할 수 있습니다.">
            <a:extLst>
              <a:ext uri="{FF2B5EF4-FFF2-40B4-BE49-F238E27FC236}">
                <a16:creationId xmlns:a16="http://schemas.microsoft.com/office/drawing/2014/main" id="{A856B217-1254-8C9B-76F2-4A8AD11BCD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0" y="0"/>
            <a:ext cx="9144000" cy="6858000"/>
          </a:xfrm>
          <a:prstGeom prst="rect">
            <a:avLst/>
          </a:prstGeom>
        </p:spPr>
      </p:pic>
    </p:spTree>
    <p:extLst>
      <p:ext uri="{BB962C8B-B14F-4D97-AF65-F5344CB8AC3E}">
        <p14:creationId xmlns:p14="http://schemas.microsoft.com/office/powerpoint/2010/main" val="14640127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BCBCB04-A83C-A7B7-42EE-6E570B2D66C0}"/>
              </a:ext>
            </a:extLst>
          </p:cNvPr>
          <p:cNvSpPr>
            <a:spLocks noGrp="1"/>
          </p:cNvSpPr>
          <p:nvPr>
            <p:ph type="title"/>
          </p:nvPr>
        </p:nvSpPr>
        <p:spPr/>
        <p:txBody>
          <a:bodyPr>
            <a:normAutofit/>
          </a:bodyPr>
          <a:lstStyle/>
          <a:p>
            <a:r>
              <a:rPr lang="en-US" altLang="ko-KR" dirty="0">
                <a:effectLst/>
              </a:rPr>
              <a:t>Pattern Matching and Data-Based Chatbots (1995–2015)</a:t>
            </a:r>
            <a:endParaRPr lang="ko-KR" altLang="en-US" dirty="0"/>
          </a:p>
        </p:txBody>
      </p:sp>
      <p:sp>
        <p:nvSpPr>
          <p:cNvPr id="3" name="내용 개체 틀 2">
            <a:extLst>
              <a:ext uri="{FF2B5EF4-FFF2-40B4-BE49-F238E27FC236}">
                <a16:creationId xmlns:a16="http://schemas.microsoft.com/office/drawing/2014/main" id="{C2FADE36-6A8B-2828-D37D-813959C1F86E}"/>
              </a:ext>
            </a:extLst>
          </p:cNvPr>
          <p:cNvSpPr>
            <a:spLocks noGrp="1"/>
          </p:cNvSpPr>
          <p:nvPr>
            <p:ph idx="1"/>
          </p:nvPr>
        </p:nvSpPr>
        <p:spPr/>
        <p:txBody>
          <a:bodyPr/>
          <a:lstStyle/>
          <a:p>
            <a:r>
              <a:rPr lang="en-US" altLang="ko-KR" dirty="0"/>
              <a:t>Next, pattern matching tried to understand sentence structure.</a:t>
            </a:r>
          </a:p>
          <a:p>
            <a:endParaRPr lang="en-US" altLang="ko-KR" dirty="0"/>
          </a:p>
          <a:p>
            <a:r>
              <a:rPr lang="en-US" altLang="ko-KR" dirty="0"/>
              <a:t>ALICE (1995) used this method.</a:t>
            </a:r>
          </a:p>
          <a:p>
            <a:r>
              <a:rPr lang="en-US" altLang="ko-KR" dirty="0"/>
              <a:t>From 2006: Added Natural Language Processing (NLP) and machine learning (DNN, RNN).</a:t>
            </a:r>
          </a:p>
          <a:p>
            <a:pPr lvl="1"/>
            <a:r>
              <a:rPr lang="en-US" altLang="ko-KR" dirty="0"/>
              <a:t>Examples: IBM Watson (2006), Apple Siri (2011).</a:t>
            </a:r>
          </a:p>
          <a:p>
            <a:endParaRPr lang="en-US" altLang="ko-KR" dirty="0"/>
          </a:p>
          <a:p>
            <a:r>
              <a:rPr lang="en-US" altLang="ko-KR" dirty="0"/>
              <a:t>Korean NLP tools: </a:t>
            </a:r>
            <a:r>
              <a:rPr lang="en-US" altLang="ko-KR" dirty="0" err="1"/>
              <a:t>Hannanum</a:t>
            </a:r>
            <a:r>
              <a:rPr lang="en-US" altLang="ko-KR" dirty="0"/>
              <a:t>, </a:t>
            </a:r>
            <a:r>
              <a:rPr lang="en-US" altLang="ko-KR" dirty="0" err="1"/>
              <a:t>Kkma</a:t>
            </a:r>
            <a:r>
              <a:rPr lang="en-US" altLang="ko-KR" dirty="0"/>
              <a:t>, </a:t>
            </a:r>
            <a:r>
              <a:rPr lang="en-US" altLang="ko-KR" dirty="0" err="1"/>
              <a:t>Mecab</a:t>
            </a:r>
            <a:r>
              <a:rPr lang="en-US" altLang="ko-KR" dirty="0"/>
              <a:t>, </a:t>
            </a:r>
            <a:r>
              <a:rPr lang="en-US" altLang="ko-KR" dirty="0" err="1"/>
              <a:t>Okt</a:t>
            </a:r>
            <a:r>
              <a:rPr lang="en-US" altLang="ko-KR" dirty="0"/>
              <a:t> – these helped Korean chatbots understand Korean language better.</a:t>
            </a:r>
            <a:endParaRPr lang="ko-KR" altLang="en-US" dirty="0"/>
          </a:p>
        </p:txBody>
      </p:sp>
    </p:spTree>
    <p:extLst>
      <p:ext uri="{BB962C8B-B14F-4D97-AF65-F5344CB8AC3E}">
        <p14:creationId xmlns:p14="http://schemas.microsoft.com/office/powerpoint/2010/main" val="14394235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그림 2" descr="텍스트, 인간의 얼굴, 스크린샷, 웹사이트이(가) 표시된 사진&#10;&#10;AI가 생성한 콘텐츠는 부정확할 수 있습니다.">
            <a:extLst>
              <a:ext uri="{FF2B5EF4-FFF2-40B4-BE49-F238E27FC236}">
                <a16:creationId xmlns:a16="http://schemas.microsoft.com/office/drawing/2014/main" id="{6D2A443D-3BBF-5676-C8D7-1E15FA4AA0E2}"/>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tretch>
            <a:fillRect/>
          </a:stretch>
        </p:blipFill>
        <p:spPr>
          <a:xfrm>
            <a:off x="1420625" y="4664"/>
            <a:ext cx="9142871" cy="6853336"/>
          </a:xfrm>
          <a:prstGeom prst="rect">
            <a:avLst/>
          </a:prstGeom>
        </p:spPr>
      </p:pic>
    </p:spTree>
    <p:extLst>
      <p:ext uri="{BB962C8B-B14F-4D97-AF65-F5344CB8AC3E}">
        <p14:creationId xmlns:p14="http://schemas.microsoft.com/office/powerpoint/2010/main" val="462642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그림 2" descr="텍스트, 인간의 얼굴, 스크린샷, 웹사이트이(가) 표시된 사진&#10;&#10;AI가 생성한 콘텐츠는 부정확할 수 있습니다.">
            <a:extLst>
              <a:ext uri="{FF2B5EF4-FFF2-40B4-BE49-F238E27FC236}">
                <a16:creationId xmlns:a16="http://schemas.microsoft.com/office/drawing/2014/main" id="{1BAEDC66-C0F1-E995-3B07-C96A6C70B7C4}"/>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val="0"/>
              </a:ext>
            </a:extLst>
          </a:blip>
          <a:stretch>
            <a:fillRect/>
          </a:stretch>
        </p:blipFill>
        <p:spPr>
          <a:xfrm>
            <a:off x="0" y="254725"/>
            <a:ext cx="12192000" cy="6400800"/>
          </a:xfrm>
          <a:prstGeom prst="rect">
            <a:avLst/>
          </a:prstGeom>
        </p:spPr>
      </p:pic>
    </p:spTree>
    <p:extLst>
      <p:ext uri="{BB962C8B-B14F-4D97-AF65-F5344CB8AC3E}">
        <p14:creationId xmlns:p14="http://schemas.microsoft.com/office/powerpoint/2010/main" val="10070262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48A1555-F292-0810-1F3B-055E41A2D235}"/>
              </a:ext>
            </a:extLst>
          </p:cNvPr>
          <p:cNvSpPr>
            <a:spLocks noGrp="1"/>
          </p:cNvSpPr>
          <p:nvPr>
            <p:ph type="title"/>
          </p:nvPr>
        </p:nvSpPr>
        <p:spPr/>
        <p:txBody>
          <a:bodyPr/>
          <a:lstStyle/>
          <a:p>
            <a:r>
              <a:rPr lang="en-US" altLang="ko-KR" dirty="0">
                <a:effectLst/>
              </a:rPr>
              <a:t>Limitations Before LLMs</a:t>
            </a:r>
            <a:endParaRPr lang="ko-KR" altLang="en-US" dirty="0"/>
          </a:p>
        </p:txBody>
      </p:sp>
      <p:sp>
        <p:nvSpPr>
          <p:cNvPr id="3" name="내용 개체 틀 2">
            <a:extLst>
              <a:ext uri="{FF2B5EF4-FFF2-40B4-BE49-F238E27FC236}">
                <a16:creationId xmlns:a16="http://schemas.microsoft.com/office/drawing/2014/main" id="{75A13C41-FBB6-43BD-5269-8C7D960A3B46}"/>
              </a:ext>
            </a:extLst>
          </p:cNvPr>
          <p:cNvSpPr>
            <a:spLocks noGrp="1"/>
          </p:cNvSpPr>
          <p:nvPr>
            <p:ph idx="1"/>
          </p:nvPr>
        </p:nvSpPr>
        <p:spPr/>
        <p:txBody>
          <a:bodyPr/>
          <a:lstStyle/>
          <a:p>
            <a:r>
              <a:rPr lang="en-US" altLang="ko-KR" dirty="0"/>
              <a:t>Rule-based and early data-based chatbots were limited. </a:t>
            </a:r>
          </a:p>
          <a:p>
            <a:pPr lvl="1"/>
            <a:r>
              <a:rPr lang="en-US" altLang="ko-KR" dirty="0"/>
              <a:t>it is impossible to input all the expected Q&amp;A pairs and conversation pairs with context.</a:t>
            </a:r>
          </a:p>
          <a:p>
            <a:endParaRPr lang="en-US" altLang="ko-KR" dirty="0"/>
          </a:p>
          <a:p>
            <a:r>
              <a:rPr lang="en-US" altLang="ko-KR" dirty="0"/>
              <a:t>Incapable of multi-turn conversation</a:t>
            </a:r>
          </a:p>
          <a:p>
            <a:pPr lvl="1"/>
            <a:r>
              <a:rPr lang="en-US" altLang="ko-KR" dirty="0"/>
              <a:t>They could not remember long conversations well (even RNN and LSTM helped only a little).</a:t>
            </a:r>
          </a:p>
        </p:txBody>
      </p:sp>
    </p:spTree>
    <p:extLst>
      <p:ext uri="{BB962C8B-B14F-4D97-AF65-F5344CB8AC3E}">
        <p14:creationId xmlns:p14="http://schemas.microsoft.com/office/powerpoint/2010/main" val="17016993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78DEFAE-8D2D-AA66-71F3-F6C2AC3A3EE7}"/>
              </a:ext>
            </a:extLst>
          </p:cNvPr>
          <p:cNvSpPr>
            <a:spLocks noGrp="1"/>
          </p:cNvSpPr>
          <p:nvPr>
            <p:ph type="title"/>
          </p:nvPr>
        </p:nvSpPr>
        <p:spPr/>
        <p:txBody>
          <a:bodyPr>
            <a:normAutofit/>
          </a:bodyPr>
          <a:lstStyle/>
          <a:p>
            <a:r>
              <a:rPr lang="en-US" altLang="ko-KR" dirty="0">
                <a:effectLst/>
              </a:rPr>
              <a:t>The Big Revolution – Large Language Models (2017–2022)</a:t>
            </a:r>
            <a:endParaRPr lang="ko-KR" altLang="en-US" dirty="0"/>
          </a:p>
        </p:txBody>
      </p:sp>
      <p:sp>
        <p:nvSpPr>
          <p:cNvPr id="3" name="내용 개체 틀 2">
            <a:extLst>
              <a:ext uri="{FF2B5EF4-FFF2-40B4-BE49-F238E27FC236}">
                <a16:creationId xmlns:a16="http://schemas.microsoft.com/office/drawing/2014/main" id="{D5B026A1-BD2A-4B63-08F4-E1868064D92B}"/>
              </a:ext>
            </a:extLst>
          </p:cNvPr>
          <p:cNvSpPr>
            <a:spLocks noGrp="1"/>
          </p:cNvSpPr>
          <p:nvPr>
            <p:ph idx="1"/>
          </p:nvPr>
        </p:nvSpPr>
        <p:spPr>
          <a:xfrm>
            <a:off x="838200" y="1825625"/>
            <a:ext cx="10515600" cy="4916138"/>
          </a:xfrm>
        </p:spPr>
        <p:txBody>
          <a:bodyPr>
            <a:normAutofit lnSpcReduction="10000"/>
          </a:bodyPr>
          <a:lstStyle/>
          <a:p>
            <a:r>
              <a:rPr lang="en-US" altLang="ko-KR" dirty="0"/>
              <a:t>In 2017, Google invented Attention mechanism and Transformer model.</a:t>
            </a:r>
          </a:p>
          <a:p>
            <a:pPr lvl="1"/>
            <a:r>
              <a:rPr lang="en-US" altLang="ko-KR" dirty="0"/>
              <a:t>This let models understand whole sentences and real meaning.</a:t>
            </a:r>
          </a:p>
          <a:p>
            <a:r>
              <a:rPr lang="en-US" altLang="ko-KR" dirty="0"/>
              <a:t>Important models</a:t>
            </a:r>
          </a:p>
          <a:p>
            <a:pPr lvl="1"/>
            <a:r>
              <a:rPr lang="en-US" altLang="ko-KR" dirty="0"/>
              <a:t>BERT (2018, Google)</a:t>
            </a:r>
          </a:p>
          <a:p>
            <a:pPr lvl="1"/>
            <a:r>
              <a:rPr lang="en-US" altLang="ko-KR" dirty="0"/>
              <a:t>GPT series (2018~, OpenAI).</a:t>
            </a:r>
          </a:p>
          <a:p>
            <a:r>
              <a:rPr lang="en-US" altLang="ko-KR" dirty="0"/>
              <a:t>Korean example: Early “</a:t>
            </a:r>
            <a:r>
              <a:rPr lang="en-US" altLang="ko-KR" dirty="0" err="1"/>
              <a:t>Iru</a:t>
            </a:r>
            <a:r>
              <a:rPr lang="en-US" altLang="ko-KR" dirty="0"/>
              <a:t>-da” (2020) used BERT but had problems</a:t>
            </a:r>
          </a:p>
          <a:p>
            <a:pPr lvl="1"/>
            <a:r>
              <a:rPr lang="en-US" altLang="ko-KR" dirty="0"/>
              <a:t>This was a famous failure case in inappropriate bias of its outputs because of its dataset.</a:t>
            </a:r>
          </a:p>
          <a:p>
            <a:endParaRPr lang="en-US" altLang="ko-KR" dirty="0"/>
          </a:p>
          <a:p>
            <a:r>
              <a:rPr lang="en-US" altLang="ko-KR" dirty="0"/>
              <a:t>In 2022, OpenAI ChatGPT made LLMs popular worldwide.</a:t>
            </a:r>
          </a:p>
        </p:txBody>
      </p:sp>
    </p:spTree>
    <p:extLst>
      <p:ext uri="{BB962C8B-B14F-4D97-AF65-F5344CB8AC3E}">
        <p14:creationId xmlns:p14="http://schemas.microsoft.com/office/powerpoint/2010/main" val="15512377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E8D583F-C6B1-0AC1-CC07-05098DD8C6AD}"/>
              </a:ext>
            </a:extLst>
          </p:cNvPr>
          <p:cNvSpPr>
            <a:spLocks noGrp="1"/>
          </p:cNvSpPr>
          <p:nvPr>
            <p:ph type="title"/>
          </p:nvPr>
        </p:nvSpPr>
        <p:spPr/>
        <p:txBody>
          <a:bodyPr/>
          <a:lstStyle/>
          <a:p>
            <a:r>
              <a:rPr lang="en-US" altLang="ko-KR" dirty="0">
                <a:effectLst/>
              </a:rPr>
              <a:t>Current LLMs</a:t>
            </a:r>
            <a:endParaRPr lang="ko-KR" altLang="en-US" dirty="0"/>
          </a:p>
        </p:txBody>
      </p:sp>
      <p:sp>
        <p:nvSpPr>
          <p:cNvPr id="3" name="내용 개체 틀 2">
            <a:extLst>
              <a:ext uri="{FF2B5EF4-FFF2-40B4-BE49-F238E27FC236}">
                <a16:creationId xmlns:a16="http://schemas.microsoft.com/office/drawing/2014/main" id="{A47BAC73-2826-7278-725B-DE56340BDB8B}"/>
              </a:ext>
            </a:extLst>
          </p:cNvPr>
          <p:cNvSpPr>
            <a:spLocks noGrp="1"/>
          </p:cNvSpPr>
          <p:nvPr>
            <p:ph idx="1"/>
          </p:nvPr>
        </p:nvSpPr>
        <p:spPr>
          <a:xfrm>
            <a:off x="838200" y="1825624"/>
            <a:ext cx="11353800" cy="5032376"/>
          </a:xfrm>
        </p:spPr>
        <p:txBody>
          <a:bodyPr>
            <a:normAutofit lnSpcReduction="10000"/>
          </a:bodyPr>
          <a:lstStyle/>
          <a:p>
            <a:r>
              <a:rPr lang="en-US" altLang="ko-KR" dirty="0"/>
              <a:t>LLM which are widely used today</a:t>
            </a:r>
          </a:p>
          <a:p>
            <a:pPr lvl="1"/>
            <a:r>
              <a:rPr lang="en" altLang="ko-KR" dirty="0"/>
              <a:t>Almost all of the commercial LLMs developed in the United States.</a:t>
            </a:r>
            <a:endParaRPr lang="en-US" altLang="ko-KR" dirty="0"/>
          </a:p>
          <a:p>
            <a:pPr lvl="2"/>
            <a:r>
              <a:rPr lang="en-US" altLang="ko-KR" dirty="0"/>
              <a:t>Gemini (Google), Claude (Anthropic), ChatGPT (OpenAI), …</a:t>
            </a:r>
          </a:p>
          <a:p>
            <a:pPr lvl="1"/>
            <a:r>
              <a:rPr lang="en-US" altLang="ko-KR" dirty="0"/>
              <a:t>Open source LLMs developed in China: DeepSeek, Qwen, …</a:t>
            </a:r>
          </a:p>
          <a:p>
            <a:pPr lvl="1"/>
            <a:r>
              <a:rPr lang="en" altLang="ko-KR" dirty="0"/>
              <a:t>In Korea, both the government and companies like LG AI Research are actively working to develop their own AI models (i.e. sovereign AI models).</a:t>
            </a:r>
            <a:endParaRPr lang="en-US" altLang="ko-KR" dirty="0"/>
          </a:p>
          <a:p>
            <a:r>
              <a:rPr lang="en-US" altLang="ko-KR" dirty="0"/>
              <a:t>New trends</a:t>
            </a:r>
          </a:p>
          <a:p>
            <a:pPr lvl="1"/>
            <a:r>
              <a:rPr lang="en-US" altLang="ko-KR" dirty="0"/>
              <a:t>Multi-modal (text + images + audio + …)</a:t>
            </a:r>
          </a:p>
          <a:p>
            <a:pPr lvl="1"/>
            <a:r>
              <a:rPr lang="en-US" altLang="ko-KR" dirty="0"/>
              <a:t>RAG (referencing from real documents to generate outputs)</a:t>
            </a:r>
          </a:p>
          <a:p>
            <a:pPr lvl="1"/>
            <a:r>
              <a:rPr lang="en-US" altLang="ko-KR" dirty="0"/>
              <a:t>Small Language Models (for cost effective for edge devices / for privacy).</a:t>
            </a:r>
          </a:p>
          <a:p>
            <a:pPr lvl="1"/>
            <a:r>
              <a:rPr lang="en-US" altLang="ko-KR" dirty="0"/>
              <a:t>Agentic AI (AI plans and executes autonomously.)</a:t>
            </a:r>
          </a:p>
          <a:p>
            <a:endParaRPr lang="en-US" altLang="ko-KR" dirty="0"/>
          </a:p>
          <a:p>
            <a:r>
              <a:rPr lang="en-US" altLang="ko-KR" dirty="0"/>
              <a:t>Still challenges: Hallucination (wrong facts) and high cost.</a:t>
            </a:r>
            <a:endParaRPr lang="ko-KR" altLang="en-US" dirty="0"/>
          </a:p>
        </p:txBody>
      </p:sp>
    </p:spTree>
    <p:extLst>
      <p:ext uri="{BB962C8B-B14F-4D97-AF65-F5344CB8AC3E}">
        <p14:creationId xmlns:p14="http://schemas.microsoft.com/office/powerpoint/2010/main" val="28714855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642C53D-76CE-2F92-2CC2-B50C8B659449}"/>
              </a:ext>
            </a:extLst>
          </p:cNvPr>
          <p:cNvSpPr>
            <a:spLocks noGrp="1"/>
          </p:cNvSpPr>
          <p:nvPr>
            <p:ph type="title"/>
          </p:nvPr>
        </p:nvSpPr>
        <p:spPr/>
        <p:txBody>
          <a:bodyPr/>
          <a:lstStyle/>
          <a:p>
            <a:r>
              <a:rPr lang="en-US" altLang="ko-KR" dirty="0">
                <a:effectLst/>
              </a:rPr>
              <a:t>Educational chatbots powered by LLMs</a:t>
            </a:r>
            <a:endParaRPr lang="ko-KR" altLang="en-US" dirty="0"/>
          </a:p>
        </p:txBody>
      </p:sp>
      <p:sp>
        <p:nvSpPr>
          <p:cNvPr id="3" name="내용 개체 틀 2">
            <a:extLst>
              <a:ext uri="{FF2B5EF4-FFF2-40B4-BE49-F238E27FC236}">
                <a16:creationId xmlns:a16="http://schemas.microsoft.com/office/drawing/2014/main" id="{40B5BBF3-F3FB-2088-11A0-7B2839B79901}"/>
              </a:ext>
            </a:extLst>
          </p:cNvPr>
          <p:cNvSpPr>
            <a:spLocks noGrp="1"/>
          </p:cNvSpPr>
          <p:nvPr>
            <p:ph idx="1"/>
          </p:nvPr>
        </p:nvSpPr>
        <p:spPr>
          <a:xfrm>
            <a:off x="838200" y="1825624"/>
            <a:ext cx="10811934" cy="5032375"/>
          </a:xfrm>
        </p:spPr>
        <p:txBody>
          <a:bodyPr>
            <a:normAutofit/>
          </a:bodyPr>
          <a:lstStyle/>
          <a:p>
            <a:r>
              <a:rPr lang="en-US" altLang="ko-KR" dirty="0"/>
              <a:t>Large Language Models (LLMs) have rapidly advanced in the natural language processing field, enabling the application of generative AI-powered chatbots to educational settings.</a:t>
            </a:r>
          </a:p>
          <a:p>
            <a:pPr marL="0" indent="0">
              <a:buNone/>
            </a:pPr>
            <a:endParaRPr lang="en-US" altLang="ko-KR" dirty="0"/>
          </a:p>
          <a:p>
            <a:r>
              <a:rPr lang="en-US" altLang="ko-KR" dirty="0"/>
              <a:t>LLMs can assist student-centered, personalized education. This is especially helpful for teachers and students.</a:t>
            </a:r>
          </a:p>
          <a:p>
            <a:endParaRPr lang="en-US" altLang="ko-KR" dirty="0"/>
          </a:p>
          <a:p>
            <a:r>
              <a:rPr lang="en-US" altLang="ko-KR" dirty="0"/>
              <a:t>However, it is necessary to consider the potential impact of inappropriate responses from chatbots on students(</a:t>
            </a:r>
            <a:r>
              <a:rPr kumimoji="1" lang="en-US" altLang="ko-KR" dirty="0"/>
              <a:t>Jauhiainen et el. 2023).</a:t>
            </a:r>
            <a:endParaRPr lang="en-US" altLang="ko-KR" dirty="0"/>
          </a:p>
        </p:txBody>
      </p:sp>
    </p:spTree>
    <p:extLst>
      <p:ext uri="{BB962C8B-B14F-4D97-AF65-F5344CB8AC3E}">
        <p14:creationId xmlns:p14="http://schemas.microsoft.com/office/powerpoint/2010/main" val="42894873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8B95EDE-7D8D-E619-A992-524D44A13BEF}"/>
              </a:ext>
            </a:extLst>
          </p:cNvPr>
          <p:cNvSpPr>
            <a:spLocks noGrp="1"/>
          </p:cNvSpPr>
          <p:nvPr>
            <p:ph type="title"/>
          </p:nvPr>
        </p:nvSpPr>
        <p:spPr>
          <a:xfrm>
            <a:off x="838200" y="365125"/>
            <a:ext cx="11033502" cy="1325563"/>
          </a:xfrm>
        </p:spPr>
        <p:txBody>
          <a:bodyPr/>
          <a:lstStyle/>
          <a:p>
            <a:r>
              <a:rPr lang="en-US" altLang="ko-KR" dirty="0"/>
              <a:t>Design Principles for Educational Chatbots</a:t>
            </a:r>
            <a:endParaRPr lang="ko-KR" altLang="en-US" dirty="0"/>
          </a:p>
        </p:txBody>
      </p:sp>
      <p:sp>
        <p:nvSpPr>
          <p:cNvPr id="3" name="내용 개체 틀 2">
            <a:extLst>
              <a:ext uri="{FF2B5EF4-FFF2-40B4-BE49-F238E27FC236}">
                <a16:creationId xmlns:a16="http://schemas.microsoft.com/office/drawing/2014/main" id="{5EA8ECFD-D27E-1902-28D8-C0829B4C1D15}"/>
              </a:ext>
            </a:extLst>
          </p:cNvPr>
          <p:cNvSpPr>
            <a:spLocks noGrp="1"/>
          </p:cNvSpPr>
          <p:nvPr>
            <p:ph idx="1"/>
          </p:nvPr>
        </p:nvSpPr>
        <p:spPr>
          <a:xfrm>
            <a:off x="838200" y="1825624"/>
            <a:ext cx="10515600" cy="5032375"/>
          </a:xfrm>
        </p:spPr>
        <p:txBody>
          <a:bodyPr>
            <a:normAutofit fontScale="92500" lnSpcReduction="10000"/>
          </a:bodyPr>
          <a:lstStyle/>
          <a:p>
            <a:r>
              <a:rPr lang="en-US" altLang="ko-KR" dirty="0" err="1"/>
              <a:t>Kuhail</a:t>
            </a:r>
            <a:r>
              <a:rPr lang="en-US" altLang="ko-KR" dirty="0"/>
              <a:t> et al.(2023) suggested 7 design principles (These are made before LLM era, but matter as ever):</a:t>
            </a:r>
          </a:p>
          <a:p>
            <a:pPr marL="514350" indent="-514350">
              <a:buFont typeface="+mj-lt"/>
              <a:buAutoNum type="arabicPeriod"/>
            </a:pPr>
            <a:r>
              <a:rPr lang="en-US" altLang="ko-KR" dirty="0"/>
              <a:t>Personalized learning – materials for each student’s level.</a:t>
            </a:r>
          </a:p>
          <a:p>
            <a:pPr marL="514350" indent="-514350">
              <a:buFont typeface="+mj-lt"/>
              <a:buAutoNum type="arabicPeriod"/>
            </a:pPr>
            <a:r>
              <a:rPr lang="en-US" altLang="ko-KR" dirty="0"/>
              <a:t>Experiential learning – help students think about their own experiences.</a:t>
            </a:r>
          </a:p>
          <a:p>
            <a:pPr marL="514350" indent="-514350">
              <a:buFont typeface="+mj-lt"/>
              <a:buAutoNum type="arabicPeriod"/>
            </a:pPr>
            <a:r>
              <a:rPr lang="en-US" altLang="ko-KR" dirty="0"/>
              <a:t>Social Dialog – friendly chat to build trust.</a:t>
            </a:r>
          </a:p>
          <a:p>
            <a:pPr marL="514350" indent="-514350">
              <a:buFont typeface="+mj-lt"/>
              <a:buAutoNum type="arabicPeriod"/>
            </a:pPr>
            <a:r>
              <a:rPr lang="en-US" altLang="ko-KR" dirty="0"/>
              <a:t>Collaborative learning – help group discussions.</a:t>
            </a:r>
          </a:p>
          <a:p>
            <a:pPr marL="514350" indent="-514350">
              <a:buFont typeface="+mj-lt"/>
              <a:buAutoNum type="arabicPeriod"/>
            </a:pPr>
            <a:r>
              <a:rPr lang="en-US" altLang="ko-KR" dirty="0"/>
              <a:t>Affective learning – for example, kind feedback (e.g. “Great job!” or “Don’t worry”).</a:t>
            </a:r>
          </a:p>
          <a:p>
            <a:pPr marL="514350" indent="-514350">
              <a:buFont typeface="+mj-lt"/>
              <a:buAutoNum type="arabicPeriod"/>
            </a:pPr>
            <a:r>
              <a:rPr lang="en-US" altLang="ko-KR" dirty="0"/>
              <a:t>Learning by teaching – ask questions and give examples.</a:t>
            </a:r>
          </a:p>
          <a:p>
            <a:pPr marL="514350" indent="-514350">
              <a:buFont typeface="+mj-lt"/>
              <a:buAutoNum type="arabicPeriod"/>
            </a:pPr>
            <a:r>
              <a:rPr lang="en-US" altLang="ko-KR" dirty="0"/>
              <a:t>Scaffolding – step-by-step help. These principles are especially useful in Korean schools.</a:t>
            </a:r>
            <a:endParaRPr lang="ko-KR" altLang="en-US" dirty="0"/>
          </a:p>
        </p:txBody>
      </p:sp>
    </p:spTree>
    <p:extLst>
      <p:ext uri="{BB962C8B-B14F-4D97-AF65-F5344CB8AC3E}">
        <p14:creationId xmlns:p14="http://schemas.microsoft.com/office/powerpoint/2010/main" val="12199726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19E8FD6-AECE-5558-02BA-6406927B71B7}"/>
              </a:ext>
            </a:extLst>
          </p:cNvPr>
          <p:cNvSpPr>
            <a:spLocks noGrp="1"/>
          </p:cNvSpPr>
          <p:nvPr>
            <p:ph type="title"/>
          </p:nvPr>
        </p:nvSpPr>
        <p:spPr/>
        <p:txBody>
          <a:bodyPr/>
          <a:lstStyle/>
          <a:p>
            <a:r>
              <a:rPr lang="en-US" altLang="ko-KR" dirty="0">
                <a:effectLst/>
              </a:rPr>
              <a:t>Applications of Educational Chatbots</a:t>
            </a:r>
            <a:endParaRPr lang="ko-KR" altLang="en-US" dirty="0"/>
          </a:p>
        </p:txBody>
      </p:sp>
      <p:sp>
        <p:nvSpPr>
          <p:cNvPr id="3" name="내용 개체 틀 2">
            <a:extLst>
              <a:ext uri="{FF2B5EF4-FFF2-40B4-BE49-F238E27FC236}">
                <a16:creationId xmlns:a16="http://schemas.microsoft.com/office/drawing/2014/main" id="{EC13C6D2-B28F-96F1-2BB1-A657CFDD62A3}"/>
              </a:ext>
            </a:extLst>
          </p:cNvPr>
          <p:cNvSpPr>
            <a:spLocks noGrp="1"/>
          </p:cNvSpPr>
          <p:nvPr>
            <p:ph idx="1"/>
          </p:nvPr>
        </p:nvSpPr>
        <p:spPr>
          <a:xfrm>
            <a:off x="838200" y="1825624"/>
            <a:ext cx="10515600" cy="5032375"/>
          </a:xfrm>
        </p:spPr>
        <p:txBody>
          <a:bodyPr>
            <a:normAutofit/>
          </a:bodyPr>
          <a:lstStyle/>
          <a:p>
            <a:r>
              <a:rPr lang="en-US" altLang="ko-KR" dirty="0"/>
              <a:t>A</a:t>
            </a:r>
            <a:r>
              <a:rPr lang="en" altLang="ko-KR" dirty="0" err="1"/>
              <a:t>kpan</a:t>
            </a:r>
            <a:r>
              <a:rPr lang="en" altLang="ko-KR" dirty="0"/>
              <a:t> et al. (2024) revealed that the most frequently used LLM (Large Language Model) was OpenAI's ChatGPT, and the main research areas involved supporting teachers' work or aiding college students' learning.</a:t>
            </a:r>
          </a:p>
          <a:p>
            <a:r>
              <a:rPr lang="en-US" altLang="ko-KR" dirty="0"/>
              <a:t>Many d</a:t>
            </a:r>
            <a:r>
              <a:rPr lang="en" altLang="ko-KR" dirty="0" err="1"/>
              <a:t>eveloped</a:t>
            </a:r>
            <a:r>
              <a:rPr lang="en" altLang="ko-KR" dirty="0"/>
              <a:t> educational chatbots often focus on specific subject areas and lessons for particular classes. (Min &amp; Yoo, 2022).</a:t>
            </a:r>
          </a:p>
          <a:p>
            <a:r>
              <a:rPr lang="en" altLang="ko-KR" dirty="0"/>
              <a:t>Many educational chatbots fail to adequately consider the contextual factors within education and lack the ability to adequately reflect the specific characteristics of each school and the daily use of students especially for middle and high school.</a:t>
            </a:r>
            <a:endParaRPr lang="ko-KR" altLang="en-US" dirty="0"/>
          </a:p>
        </p:txBody>
      </p:sp>
    </p:spTree>
    <p:extLst>
      <p:ext uri="{BB962C8B-B14F-4D97-AF65-F5344CB8AC3E}">
        <p14:creationId xmlns:p14="http://schemas.microsoft.com/office/powerpoint/2010/main" val="41127978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ED7731E-215A-E929-2962-9B8C621D68A2}"/>
              </a:ext>
            </a:extLst>
          </p:cNvPr>
          <p:cNvSpPr>
            <a:spLocks noGrp="1"/>
          </p:cNvSpPr>
          <p:nvPr>
            <p:ph type="title"/>
          </p:nvPr>
        </p:nvSpPr>
        <p:spPr>
          <a:xfrm>
            <a:off x="838200" y="365125"/>
            <a:ext cx="11467454" cy="1325563"/>
          </a:xfrm>
        </p:spPr>
        <p:txBody>
          <a:bodyPr>
            <a:normAutofit/>
          </a:bodyPr>
          <a:lstStyle/>
          <a:p>
            <a:r>
              <a:rPr lang="en-US" altLang="ko-KR" dirty="0">
                <a:effectLst/>
              </a:rPr>
              <a:t>Problems with Current Educational Chatbots</a:t>
            </a:r>
            <a:endParaRPr lang="ko-KR" altLang="en-US" dirty="0"/>
          </a:p>
        </p:txBody>
      </p:sp>
      <p:sp>
        <p:nvSpPr>
          <p:cNvPr id="3" name="내용 개체 틀 2">
            <a:extLst>
              <a:ext uri="{FF2B5EF4-FFF2-40B4-BE49-F238E27FC236}">
                <a16:creationId xmlns:a16="http://schemas.microsoft.com/office/drawing/2014/main" id="{84A3E773-8D5C-2139-2E45-3BB36853135F}"/>
              </a:ext>
            </a:extLst>
          </p:cNvPr>
          <p:cNvSpPr>
            <a:spLocks noGrp="1"/>
          </p:cNvSpPr>
          <p:nvPr>
            <p:ph idx="1"/>
          </p:nvPr>
        </p:nvSpPr>
        <p:spPr>
          <a:xfrm>
            <a:off x="838200" y="1825624"/>
            <a:ext cx="11186160" cy="5032375"/>
          </a:xfrm>
        </p:spPr>
        <p:txBody>
          <a:bodyPr>
            <a:normAutofit/>
          </a:bodyPr>
          <a:lstStyle/>
          <a:p>
            <a:r>
              <a:rPr lang="en-US" altLang="ko-KR" dirty="0"/>
              <a:t>High cost of paid APIs</a:t>
            </a:r>
          </a:p>
          <a:p>
            <a:pPr lvl="1"/>
            <a:r>
              <a:rPr lang="en-US" altLang="ko-KR" dirty="0"/>
              <a:t>It can create digital divide in public schools. (API price is cheaper, but input and </a:t>
            </a:r>
            <a:r>
              <a:rPr lang="en-US" altLang="ko-KR" dirty="0" err="1"/>
              <a:t>ouput</a:t>
            </a:r>
            <a:r>
              <a:rPr lang="en-US" altLang="ko-KR" dirty="0"/>
              <a:t> tokens are much bigger)</a:t>
            </a:r>
          </a:p>
          <a:p>
            <a:pPr lvl="1"/>
            <a:endParaRPr lang="en-US" altLang="ko-KR" dirty="0"/>
          </a:p>
          <a:p>
            <a:r>
              <a:rPr lang="en-US" altLang="ko-KR" dirty="0"/>
              <a:t>The core of the AI chatbot is LLM. But LLM did not developed with real student questions from Korean schools and did not elaborately consider Korean cultural contexts.</a:t>
            </a:r>
          </a:p>
          <a:p>
            <a:endParaRPr lang="en-US" altLang="ko-KR" dirty="0"/>
          </a:p>
          <a:p>
            <a:r>
              <a:rPr lang="en-US" altLang="ko-KR" dirty="0"/>
              <a:t>As long as we</a:t>
            </a:r>
            <a:r>
              <a:rPr lang="en" altLang="ko-KR" dirty="0"/>
              <a:t> </a:t>
            </a:r>
            <a:r>
              <a:rPr lang="en-US" altLang="ko-KR" dirty="0"/>
              <a:t>don’t </a:t>
            </a:r>
            <a:r>
              <a:rPr lang="en" altLang="ko-KR" dirty="0"/>
              <a:t>stop using the API for LLMs, we can't fundamentally solve security concerns.</a:t>
            </a:r>
          </a:p>
          <a:p>
            <a:pPr lvl="1"/>
            <a:r>
              <a:rPr lang="en-US" altLang="ko-KR" dirty="0"/>
              <a:t>Because LLMs are mainly made by companies in United States and China.</a:t>
            </a:r>
            <a:endParaRPr lang="ko-KR" altLang="en-US" dirty="0"/>
          </a:p>
        </p:txBody>
      </p:sp>
    </p:spTree>
    <p:extLst>
      <p:ext uri="{BB962C8B-B14F-4D97-AF65-F5344CB8AC3E}">
        <p14:creationId xmlns:p14="http://schemas.microsoft.com/office/powerpoint/2010/main" val="15714124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CBE3B1F-B786-7B04-57DA-B3996D114C0D}"/>
              </a:ext>
            </a:extLst>
          </p:cNvPr>
          <p:cNvSpPr>
            <a:spLocks noGrp="1"/>
          </p:cNvSpPr>
          <p:nvPr>
            <p:ph type="title"/>
          </p:nvPr>
        </p:nvSpPr>
        <p:spPr/>
        <p:txBody>
          <a:bodyPr/>
          <a:lstStyle/>
          <a:p>
            <a:r>
              <a:rPr lang="en-US" altLang="ko-KR" dirty="0">
                <a:effectLst/>
              </a:rPr>
              <a:t>High School Integrated Science in Korea</a:t>
            </a:r>
            <a:endParaRPr lang="ko-KR" altLang="en-US" dirty="0"/>
          </a:p>
        </p:txBody>
      </p:sp>
      <p:sp>
        <p:nvSpPr>
          <p:cNvPr id="3" name="내용 개체 틀 2">
            <a:extLst>
              <a:ext uri="{FF2B5EF4-FFF2-40B4-BE49-F238E27FC236}">
                <a16:creationId xmlns:a16="http://schemas.microsoft.com/office/drawing/2014/main" id="{E6A4E7E5-B9A0-1245-54A9-4A8C53B1B09F}"/>
              </a:ext>
            </a:extLst>
          </p:cNvPr>
          <p:cNvSpPr>
            <a:spLocks noGrp="1"/>
          </p:cNvSpPr>
          <p:nvPr>
            <p:ph idx="1"/>
          </p:nvPr>
        </p:nvSpPr>
        <p:spPr>
          <a:xfrm>
            <a:off x="838200" y="1825624"/>
            <a:ext cx="10940512" cy="5032375"/>
          </a:xfrm>
        </p:spPr>
        <p:txBody>
          <a:bodyPr/>
          <a:lstStyle/>
          <a:p>
            <a:r>
              <a:rPr lang="en-US" altLang="ko-KR" dirty="0"/>
              <a:t>Integrated Science is required for all 10th-grade students(MOE 2022).</a:t>
            </a:r>
          </a:p>
          <a:p>
            <a:pPr lvl="1"/>
            <a:r>
              <a:rPr lang="en-US" altLang="ko-KR" dirty="0"/>
              <a:t>Goal (2015 and 2022 curriculum, Ministry of Education in Korea):  Understand natural phenomena and become scientifically literate citizens (MOE 2015; MOE 2022).</a:t>
            </a:r>
          </a:p>
          <a:p>
            <a:pPr lvl="1"/>
            <a:endParaRPr lang="en-US" altLang="ko-KR" dirty="0"/>
          </a:p>
          <a:p>
            <a:r>
              <a:rPr lang="en-US" altLang="ko-KR" dirty="0"/>
              <a:t>It combines physics, chemistry, biology, and earth science.</a:t>
            </a:r>
          </a:p>
          <a:p>
            <a:r>
              <a:rPr lang="en-US" altLang="ko-KR" dirty="0"/>
              <a:t>It connects middle school science to advanced subjects.</a:t>
            </a:r>
            <a:endParaRPr lang="ko-KR" altLang="en-US" dirty="0"/>
          </a:p>
        </p:txBody>
      </p:sp>
    </p:spTree>
    <p:extLst>
      <p:ext uri="{BB962C8B-B14F-4D97-AF65-F5344CB8AC3E}">
        <p14:creationId xmlns:p14="http://schemas.microsoft.com/office/powerpoint/2010/main" val="2142870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355B9F4-BC59-FB5D-93D4-8C5463DB6B9F}"/>
              </a:ext>
            </a:extLst>
          </p:cNvPr>
          <p:cNvSpPr>
            <a:spLocks noGrp="1"/>
          </p:cNvSpPr>
          <p:nvPr>
            <p:ph type="title"/>
          </p:nvPr>
        </p:nvSpPr>
        <p:spPr>
          <a:xfrm>
            <a:off x="838200" y="365125"/>
            <a:ext cx="10832024" cy="1325563"/>
          </a:xfrm>
        </p:spPr>
        <p:txBody>
          <a:bodyPr/>
          <a:lstStyle/>
          <a:p>
            <a:r>
              <a:rPr kumimoji="1" lang="en-US" altLang="ko-KR" dirty="0"/>
              <a:t>Difficulties in teaching Integrated Science in high school</a:t>
            </a:r>
            <a:endParaRPr kumimoji="1" lang="ko-KR" altLang="en-US" dirty="0"/>
          </a:p>
        </p:txBody>
      </p:sp>
      <p:sp>
        <p:nvSpPr>
          <p:cNvPr id="3" name="내용 개체 틀 2">
            <a:extLst>
              <a:ext uri="{FF2B5EF4-FFF2-40B4-BE49-F238E27FC236}">
                <a16:creationId xmlns:a16="http://schemas.microsoft.com/office/drawing/2014/main" id="{F6104E94-B1C6-E8C8-2905-EBECDF0CB6F9}"/>
              </a:ext>
            </a:extLst>
          </p:cNvPr>
          <p:cNvSpPr>
            <a:spLocks noGrp="1"/>
          </p:cNvSpPr>
          <p:nvPr>
            <p:ph idx="1"/>
          </p:nvPr>
        </p:nvSpPr>
        <p:spPr>
          <a:xfrm>
            <a:off x="838199" y="1825624"/>
            <a:ext cx="10987007" cy="5032375"/>
          </a:xfrm>
        </p:spPr>
        <p:txBody>
          <a:bodyPr>
            <a:normAutofit/>
          </a:bodyPr>
          <a:lstStyle/>
          <a:p>
            <a:r>
              <a:rPr lang="en" altLang="ko-KR" dirty="0"/>
              <a:t>In schools, a multi-teacher system is predominantly used, and issues such as curriculum planning and teacher assignments have been debated for many years.(</a:t>
            </a:r>
            <a:r>
              <a:rPr lang="ko-KR" altLang="en-US" dirty="0" err="1"/>
              <a:t>곽영순</a:t>
            </a:r>
            <a:r>
              <a:rPr lang="en-US" altLang="ko-KR" dirty="0"/>
              <a:t>, </a:t>
            </a:r>
            <a:r>
              <a:rPr lang="ko-KR" altLang="en-US" dirty="0"/>
              <a:t>신영준</a:t>
            </a:r>
            <a:r>
              <a:rPr lang="en-US" altLang="ko-KR" dirty="0"/>
              <a:t>, 2021)</a:t>
            </a:r>
          </a:p>
          <a:p>
            <a:r>
              <a:rPr lang="en-US" altLang="ko-KR" dirty="0"/>
              <a:t>T</a:t>
            </a:r>
            <a:r>
              <a:rPr lang="en" altLang="ko-KR" dirty="0"/>
              <a:t>he challenges in the classroom still involve the complexity of integrating science into the curriculum and content, which is burdensome for both teachers and students.</a:t>
            </a:r>
            <a:r>
              <a:rPr lang="en-US" altLang="ko-KR" dirty="0"/>
              <a:t> (</a:t>
            </a:r>
            <a:r>
              <a:rPr lang="ko-KR" altLang="en-US" dirty="0"/>
              <a:t>윤지현</a:t>
            </a:r>
            <a:r>
              <a:rPr lang="en-US" altLang="ko-KR" dirty="0"/>
              <a:t>, </a:t>
            </a:r>
            <a:r>
              <a:rPr lang="ko-KR" altLang="en-US" dirty="0"/>
              <a:t>강성주</a:t>
            </a:r>
            <a:r>
              <a:rPr lang="en-US" altLang="ko-KR" dirty="0"/>
              <a:t>, 2016)</a:t>
            </a:r>
            <a:endParaRPr kumimoji="1" lang="en" altLang="ko-KR" dirty="0"/>
          </a:p>
          <a:p>
            <a:r>
              <a:rPr kumimoji="1" lang="en" altLang="ko-KR" dirty="0"/>
              <a:t>A survey revealed that teachers needed additional preparation for teaching science-related topics in other subjects.</a:t>
            </a:r>
            <a:r>
              <a:rPr kumimoji="1" lang="en-US" altLang="ko-KR" dirty="0"/>
              <a:t>(</a:t>
            </a:r>
            <a:r>
              <a:rPr kumimoji="1" lang="ko-KR" altLang="en-US" dirty="0"/>
              <a:t>신영준</a:t>
            </a:r>
            <a:r>
              <a:rPr kumimoji="1" lang="en-US" altLang="ko-KR" dirty="0"/>
              <a:t>, </a:t>
            </a:r>
            <a:r>
              <a:rPr kumimoji="1" lang="ko-KR" altLang="en-US" dirty="0" err="1"/>
              <a:t>곽영순</a:t>
            </a:r>
            <a:r>
              <a:rPr kumimoji="1" lang="en-US" altLang="ko-KR" dirty="0"/>
              <a:t>, 2016]</a:t>
            </a:r>
            <a:endParaRPr kumimoji="1" lang="ko-KR" altLang="en-US" dirty="0"/>
          </a:p>
        </p:txBody>
      </p:sp>
    </p:spTree>
    <p:extLst>
      <p:ext uri="{BB962C8B-B14F-4D97-AF65-F5344CB8AC3E}">
        <p14:creationId xmlns:p14="http://schemas.microsoft.com/office/powerpoint/2010/main" val="15866336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3B17B62-470E-B15D-BE83-FF6131159EAB}"/>
              </a:ext>
            </a:extLst>
          </p:cNvPr>
          <p:cNvSpPr>
            <a:spLocks noGrp="1"/>
          </p:cNvSpPr>
          <p:nvPr>
            <p:ph type="title"/>
          </p:nvPr>
        </p:nvSpPr>
        <p:spPr/>
        <p:txBody>
          <a:bodyPr>
            <a:normAutofit fontScale="90000"/>
          </a:bodyPr>
          <a:lstStyle/>
          <a:p>
            <a:r>
              <a:rPr lang="en" altLang="ko-KR" dirty="0"/>
              <a:t>Importance of Cultural Context</a:t>
            </a:r>
            <a:r>
              <a:rPr lang="ko-KR" altLang="en-US" dirty="0"/>
              <a:t> </a:t>
            </a:r>
            <a:r>
              <a:rPr lang="en-US" altLang="ko-KR" dirty="0"/>
              <a:t>and</a:t>
            </a:r>
            <a:br>
              <a:rPr lang="en-US" altLang="ko-KR" dirty="0"/>
            </a:br>
            <a:r>
              <a:rPr lang="en-US" altLang="ko-KR" dirty="0"/>
              <a:t>Big Challenges in Korean Integrated Science</a:t>
            </a:r>
            <a:endParaRPr kumimoji="1" lang="ko-KR" altLang="en-US" dirty="0"/>
          </a:p>
        </p:txBody>
      </p:sp>
      <p:sp>
        <p:nvSpPr>
          <p:cNvPr id="3" name="내용 개체 틀 2">
            <a:extLst>
              <a:ext uri="{FF2B5EF4-FFF2-40B4-BE49-F238E27FC236}">
                <a16:creationId xmlns:a16="http://schemas.microsoft.com/office/drawing/2014/main" id="{DA084678-4927-C067-19E5-9EF231C868E0}"/>
              </a:ext>
            </a:extLst>
          </p:cNvPr>
          <p:cNvSpPr>
            <a:spLocks noGrp="1"/>
          </p:cNvSpPr>
          <p:nvPr>
            <p:ph idx="1"/>
          </p:nvPr>
        </p:nvSpPr>
        <p:spPr>
          <a:xfrm>
            <a:off x="838199" y="1825624"/>
            <a:ext cx="11079997" cy="4885141"/>
          </a:xfrm>
        </p:spPr>
        <p:txBody>
          <a:bodyPr>
            <a:normAutofit/>
          </a:bodyPr>
          <a:lstStyle/>
          <a:p>
            <a:r>
              <a:rPr lang="en-US" altLang="ko-KR" dirty="0"/>
              <a:t>For more than 30 years, many Korean studies confirm these challenges(</a:t>
            </a:r>
            <a:r>
              <a:rPr lang="ko-KR" altLang="en-US" dirty="0" err="1"/>
              <a:t>이학동</a:t>
            </a:r>
            <a:r>
              <a:rPr lang="en-US" altLang="ko-KR" dirty="0"/>
              <a:t>,</a:t>
            </a:r>
            <a:r>
              <a:rPr lang="ko-KR" altLang="en-US" dirty="0"/>
              <a:t> </a:t>
            </a:r>
            <a:r>
              <a:rPr lang="en-US" altLang="ko-KR" dirty="0"/>
              <a:t>1986; </a:t>
            </a:r>
            <a:r>
              <a:rPr lang="ko-KR" altLang="en-US" dirty="0"/>
              <a:t>김용성</a:t>
            </a:r>
            <a:r>
              <a:rPr lang="en-US" altLang="ko-KR" dirty="0"/>
              <a:t>,</a:t>
            </a:r>
            <a:r>
              <a:rPr lang="ko-KR" altLang="en-US" dirty="0"/>
              <a:t> </a:t>
            </a:r>
            <a:r>
              <a:rPr lang="en-US" altLang="ko-KR" dirty="0"/>
              <a:t> 1994, 2000; </a:t>
            </a:r>
            <a:r>
              <a:rPr lang="ko-KR" altLang="en-US" dirty="0"/>
              <a:t>윤지현</a:t>
            </a:r>
            <a:r>
              <a:rPr lang="en-US" altLang="ko-KR" dirty="0"/>
              <a:t>, 2016).</a:t>
            </a:r>
          </a:p>
          <a:p>
            <a:pPr lvl="1"/>
            <a:r>
              <a:rPr lang="en-US" altLang="ko-KR" dirty="0"/>
              <a:t>Too many topics.</a:t>
            </a:r>
          </a:p>
          <a:p>
            <a:pPr lvl="1"/>
            <a:r>
              <a:rPr lang="en-US" altLang="ko-KR" dirty="0"/>
              <a:t>Students have weak basics from middle school.</a:t>
            </a:r>
          </a:p>
          <a:p>
            <a:pPr lvl="1"/>
            <a:r>
              <a:rPr lang="en-US" altLang="ko-KR" dirty="0"/>
              <a:t>Teachers should teach outside their major.</a:t>
            </a:r>
          </a:p>
          <a:p>
            <a:pPr lvl="1"/>
            <a:r>
              <a:rPr lang="en-US" altLang="ko-KR" dirty="0"/>
              <a:t>Hard to explain everything to every student</a:t>
            </a:r>
          </a:p>
          <a:p>
            <a:r>
              <a:rPr lang="en-US" altLang="ko-KR" dirty="0"/>
              <a:t>But students need one connected understanding (</a:t>
            </a:r>
            <a:r>
              <a:rPr lang="ko-KR" altLang="en-US" dirty="0" err="1"/>
              <a:t>안유민</a:t>
            </a:r>
            <a:r>
              <a:rPr lang="en-US" altLang="ko-KR" dirty="0"/>
              <a:t>, 2020; </a:t>
            </a:r>
            <a:r>
              <a:rPr lang="ko-KR" altLang="en-US" dirty="0" err="1"/>
              <a:t>곽영순</a:t>
            </a:r>
            <a:r>
              <a:rPr lang="en-US" altLang="ko-KR" dirty="0"/>
              <a:t>,</a:t>
            </a:r>
            <a:r>
              <a:rPr lang="ko-KR" altLang="en-US" dirty="0"/>
              <a:t> </a:t>
            </a:r>
            <a:r>
              <a:rPr lang="en-US" altLang="ko-KR" dirty="0"/>
              <a:t>2021).</a:t>
            </a:r>
          </a:p>
          <a:p>
            <a:r>
              <a:rPr lang="en-US" altLang="ko-KR" dirty="0"/>
              <a:t>2022 curriculum still needs extra content from upper grades (</a:t>
            </a:r>
            <a:r>
              <a:rPr lang="ko-KR" altLang="en-US" dirty="0" err="1"/>
              <a:t>이봉우</a:t>
            </a:r>
            <a:r>
              <a:rPr lang="en-US" altLang="ko-KR" dirty="0"/>
              <a:t>, 2024).</a:t>
            </a:r>
          </a:p>
          <a:p>
            <a:r>
              <a:rPr lang="en-US" altLang="ko-KR" dirty="0"/>
              <a:t>This makes difficult for both students and teachers.</a:t>
            </a:r>
            <a:endParaRPr lang="ko-KR" altLang="en-US" dirty="0"/>
          </a:p>
          <a:p>
            <a:endParaRPr lang="en-US" altLang="ko-KR" dirty="0"/>
          </a:p>
        </p:txBody>
      </p:sp>
    </p:spTree>
    <p:extLst>
      <p:ext uri="{BB962C8B-B14F-4D97-AF65-F5344CB8AC3E}">
        <p14:creationId xmlns:p14="http://schemas.microsoft.com/office/powerpoint/2010/main" val="40708043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D553189-3B97-33A8-7139-2825ECD15232}"/>
              </a:ext>
            </a:extLst>
          </p:cNvPr>
          <p:cNvSpPr>
            <a:spLocks noGrp="1"/>
          </p:cNvSpPr>
          <p:nvPr>
            <p:ph type="title"/>
          </p:nvPr>
        </p:nvSpPr>
        <p:spPr/>
        <p:txBody>
          <a:bodyPr/>
          <a:lstStyle/>
          <a:p>
            <a:r>
              <a:rPr lang="en-US" altLang="ko-KR" dirty="0"/>
              <a:t>Role of Questions in Science Education</a:t>
            </a:r>
            <a:endParaRPr lang="ko-KR" altLang="en-US" dirty="0"/>
          </a:p>
        </p:txBody>
      </p:sp>
      <p:sp>
        <p:nvSpPr>
          <p:cNvPr id="3" name="내용 개체 틀 2">
            <a:extLst>
              <a:ext uri="{FF2B5EF4-FFF2-40B4-BE49-F238E27FC236}">
                <a16:creationId xmlns:a16="http://schemas.microsoft.com/office/drawing/2014/main" id="{615A4F1D-4DF7-4F1C-1F55-996975AAE5D4}"/>
              </a:ext>
            </a:extLst>
          </p:cNvPr>
          <p:cNvSpPr>
            <a:spLocks noGrp="1"/>
          </p:cNvSpPr>
          <p:nvPr>
            <p:ph idx="1"/>
          </p:nvPr>
        </p:nvSpPr>
        <p:spPr>
          <a:xfrm>
            <a:off x="838200" y="1825624"/>
            <a:ext cx="11353800" cy="5032375"/>
          </a:xfrm>
        </p:spPr>
        <p:txBody>
          <a:bodyPr>
            <a:normAutofit/>
          </a:bodyPr>
          <a:lstStyle/>
          <a:p>
            <a:r>
              <a:rPr lang="en-US" altLang="ko-KR" dirty="0"/>
              <a:t>Questions show what students understand and do not understand (Chin, 2002; 2008).</a:t>
            </a:r>
          </a:p>
          <a:p>
            <a:r>
              <a:rPr lang="en-US" altLang="ko-KR" dirty="0"/>
              <a:t>Questions connect old knowledge with new ideas (</a:t>
            </a:r>
            <a:r>
              <a:rPr lang="ko-KR" altLang="en-US" dirty="0"/>
              <a:t>김성근</a:t>
            </a:r>
            <a:r>
              <a:rPr lang="en-US" altLang="ko-KR" dirty="0"/>
              <a:t>,</a:t>
            </a:r>
            <a:r>
              <a:rPr lang="ko-KR" altLang="en-US" dirty="0"/>
              <a:t> </a:t>
            </a:r>
            <a:r>
              <a:rPr lang="en-US" altLang="ko-KR" dirty="0"/>
              <a:t>1999).</a:t>
            </a:r>
          </a:p>
          <a:p>
            <a:r>
              <a:rPr lang="en-US" altLang="ko-KR" dirty="0"/>
              <a:t>But teachers cannot answer every question individually</a:t>
            </a:r>
            <a:r>
              <a:rPr lang="ko-KR" altLang="en-US" dirty="0"/>
              <a:t> </a:t>
            </a:r>
            <a:r>
              <a:rPr lang="en-US" altLang="ko-KR" dirty="0"/>
              <a:t>in the class.</a:t>
            </a:r>
          </a:p>
          <a:p>
            <a:r>
              <a:rPr lang="en-US" altLang="ko-KR" dirty="0"/>
              <a:t>Delayed answers and follow-up questions help learning more(</a:t>
            </a:r>
            <a:r>
              <a:rPr lang="ko-KR" altLang="en-US" dirty="0"/>
              <a:t>최경희</a:t>
            </a:r>
            <a:r>
              <a:rPr lang="en-US" altLang="ko-KR" dirty="0"/>
              <a:t>,</a:t>
            </a:r>
            <a:r>
              <a:rPr lang="ko-KR" altLang="en-US" dirty="0"/>
              <a:t> </a:t>
            </a:r>
            <a:r>
              <a:rPr lang="en-US" altLang="ko-KR" dirty="0"/>
              <a:t>2004).</a:t>
            </a:r>
          </a:p>
          <a:p>
            <a:r>
              <a:rPr lang="en-US" altLang="ko-KR" dirty="0"/>
              <a:t>S</a:t>
            </a:r>
            <a:r>
              <a:rPr lang="en" altLang="ko-KR" dirty="0" err="1"/>
              <a:t>pecifically</a:t>
            </a:r>
            <a:r>
              <a:rPr lang="en" altLang="ko-KR" dirty="0"/>
              <a:t>, 9th-grade and high school students ask significantly more science-related questions compared to elementary and junior high school students.</a:t>
            </a:r>
            <a:r>
              <a:rPr lang="en-US" altLang="ko-KR" dirty="0"/>
              <a:t>(</a:t>
            </a:r>
            <a:r>
              <a:rPr lang="en" altLang="ko-KR" dirty="0" err="1"/>
              <a:t>Eshach</a:t>
            </a:r>
            <a:r>
              <a:rPr lang="en" altLang="ko-KR" dirty="0"/>
              <a:t> et al., 2014).</a:t>
            </a:r>
          </a:p>
          <a:p>
            <a:r>
              <a:rPr lang="en-US" altLang="ko-KR" dirty="0"/>
              <a:t>Chatbots can be a solution. LLM can understand context, give step-by-step answers, and ask good follow-up questions.</a:t>
            </a:r>
          </a:p>
        </p:txBody>
      </p:sp>
    </p:spTree>
    <p:extLst>
      <p:ext uri="{BB962C8B-B14F-4D97-AF65-F5344CB8AC3E}">
        <p14:creationId xmlns:p14="http://schemas.microsoft.com/office/powerpoint/2010/main" val="3117496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5DB3A79-0609-AAE8-9881-2445256013BD}"/>
              </a:ext>
            </a:extLst>
          </p:cNvPr>
          <p:cNvSpPr>
            <a:spLocks noGrp="1"/>
          </p:cNvSpPr>
          <p:nvPr>
            <p:ph type="title"/>
          </p:nvPr>
        </p:nvSpPr>
        <p:spPr/>
        <p:txBody>
          <a:bodyPr>
            <a:normAutofit/>
          </a:bodyPr>
          <a:lstStyle/>
          <a:p>
            <a:r>
              <a:rPr lang="en-US" altLang="ko-KR" dirty="0">
                <a:effectLst/>
              </a:rPr>
              <a:t>The Practical Need for a Science Q&amp;A Chatbot in Korea</a:t>
            </a:r>
            <a:endParaRPr lang="ko-KR" altLang="en-US" dirty="0"/>
          </a:p>
        </p:txBody>
      </p:sp>
      <p:sp>
        <p:nvSpPr>
          <p:cNvPr id="3" name="내용 개체 틀 2">
            <a:extLst>
              <a:ext uri="{FF2B5EF4-FFF2-40B4-BE49-F238E27FC236}">
                <a16:creationId xmlns:a16="http://schemas.microsoft.com/office/drawing/2014/main" id="{50FA6CA5-57C1-BE8F-3ABE-5B4DE4E01E88}"/>
              </a:ext>
            </a:extLst>
          </p:cNvPr>
          <p:cNvSpPr>
            <a:spLocks noGrp="1"/>
          </p:cNvSpPr>
          <p:nvPr>
            <p:ph idx="1"/>
          </p:nvPr>
        </p:nvSpPr>
        <p:spPr>
          <a:xfrm>
            <a:off x="838200" y="1825624"/>
            <a:ext cx="10515600" cy="4842303"/>
          </a:xfrm>
        </p:spPr>
        <p:txBody>
          <a:bodyPr>
            <a:normAutofit/>
          </a:bodyPr>
          <a:lstStyle/>
          <a:p>
            <a:r>
              <a:rPr lang="en-US" altLang="ko-KR" dirty="0"/>
              <a:t>We need a chatbot made for real Korean high schools.</a:t>
            </a:r>
          </a:p>
          <a:p>
            <a:r>
              <a:rPr lang="en-US" altLang="ko-KR" dirty="0"/>
              <a:t>To develop it, it’s good to use real student questions collected from that school.</a:t>
            </a:r>
          </a:p>
          <a:p>
            <a:r>
              <a:rPr lang="en-US" altLang="ko-KR" dirty="0"/>
              <a:t>It’ll be also good to use open-source LLM and RAG for accuracy and low cost.</a:t>
            </a:r>
          </a:p>
          <a:p>
            <a:pPr lvl="1"/>
            <a:r>
              <a:rPr lang="en-US" altLang="ko-KR" dirty="0"/>
              <a:t>LLM can support multi-turn talks (follow-up questions).</a:t>
            </a:r>
          </a:p>
          <a:p>
            <a:r>
              <a:rPr lang="en-US" altLang="ko-KR" dirty="0"/>
              <a:t>For security and </a:t>
            </a:r>
            <a:r>
              <a:rPr lang="en-US" altLang="ko-KR" dirty="0" err="1"/>
              <a:t>usuability</a:t>
            </a:r>
            <a:r>
              <a:rPr lang="en-US" altLang="ko-KR" dirty="0"/>
              <a:t>, running on school server is alternative way than using commercial services.</a:t>
            </a:r>
          </a:p>
          <a:p>
            <a:r>
              <a:rPr lang="en-US" altLang="ko-KR" dirty="0">
                <a:effectLst/>
              </a:rPr>
              <a:t>Korea has unique education challenges (big classes, one required science subject for all).</a:t>
            </a:r>
          </a:p>
        </p:txBody>
      </p:sp>
    </p:spTree>
    <p:extLst>
      <p:ext uri="{BB962C8B-B14F-4D97-AF65-F5344CB8AC3E}">
        <p14:creationId xmlns:p14="http://schemas.microsoft.com/office/powerpoint/2010/main" val="11613716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175D77F-4C44-51A9-E5C1-69009FDFD12A}"/>
              </a:ext>
            </a:extLst>
          </p:cNvPr>
          <p:cNvSpPr>
            <a:spLocks noGrp="1"/>
          </p:cNvSpPr>
          <p:nvPr>
            <p:ph type="title"/>
          </p:nvPr>
        </p:nvSpPr>
        <p:spPr/>
        <p:txBody>
          <a:bodyPr/>
          <a:lstStyle/>
          <a:p>
            <a:r>
              <a:rPr lang="en-US" altLang="ko-KR" dirty="0">
                <a:effectLst/>
              </a:rPr>
              <a:t>How a </a:t>
            </a:r>
            <a:r>
              <a:rPr lang="en-US" altLang="ko-KR" dirty="0"/>
              <a:t>School Customized Science Q&amp;A</a:t>
            </a:r>
            <a:r>
              <a:rPr lang="en-US" altLang="ko-KR" dirty="0">
                <a:effectLst/>
              </a:rPr>
              <a:t> Chatbot Helps</a:t>
            </a:r>
            <a:endParaRPr lang="ko-KR" altLang="en-US" dirty="0"/>
          </a:p>
        </p:txBody>
      </p:sp>
      <p:sp>
        <p:nvSpPr>
          <p:cNvPr id="3" name="내용 개체 틀 2">
            <a:extLst>
              <a:ext uri="{FF2B5EF4-FFF2-40B4-BE49-F238E27FC236}">
                <a16:creationId xmlns:a16="http://schemas.microsoft.com/office/drawing/2014/main" id="{E670A6D4-E374-CDE0-F950-15ABAA107DCF}"/>
              </a:ext>
            </a:extLst>
          </p:cNvPr>
          <p:cNvSpPr>
            <a:spLocks noGrp="1"/>
          </p:cNvSpPr>
          <p:nvPr>
            <p:ph idx="1"/>
          </p:nvPr>
        </p:nvSpPr>
        <p:spPr>
          <a:xfrm>
            <a:off x="838200" y="1825624"/>
            <a:ext cx="10515600" cy="5032375"/>
          </a:xfrm>
        </p:spPr>
        <p:txBody>
          <a:bodyPr>
            <a:normAutofit lnSpcReduction="10000"/>
          </a:bodyPr>
          <a:lstStyle/>
          <a:p>
            <a:r>
              <a:rPr lang="en-US" altLang="ko-KR" dirty="0"/>
              <a:t>Our solution uses open-source LLM + real local data. It respects culture and avoids cost problems.</a:t>
            </a:r>
          </a:p>
          <a:p>
            <a:r>
              <a:rPr lang="en-US" altLang="ko-KR" dirty="0"/>
              <a:t>It gives clear, step-by-step answers in natural Korean.</a:t>
            </a:r>
          </a:p>
          <a:p>
            <a:r>
              <a:rPr lang="en-US" altLang="ko-KR" dirty="0"/>
              <a:t>In the process, Kuhail et al. (2023) design principles would be followed.</a:t>
            </a:r>
          </a:p>
          <a:p>
            <a:pPr lvl="1"/>
            <a:r>
              <a:rPr lang="en" altLang="ko-KR" dirty="0"/>
              <a:t>There’s a way to consider cultural context when using</a:t>
            </a:r>
            <a:r>
              <a:rPr lang="ko-KR" altLang="en-US" dirty="0"/>
              <a:t> </a:t>
            </a:r>
            <a:r>
              <a:rPr lang="en" altLang="ko-KR" dirty="0"/>
              <a:t>chatbots</a:t>
            </a:r>
            <a:r>
              <a:rPr lang="en-US" altLang="ko-KR" dirty="0"/>
              <a:t>Reduces teacher burden.</a:t>
            </a:r>
          </a:p>
          <a:p>
            <a:r>
              <a:rPr lang="en-US" altLang="ko-KR" dirty="0"/>
              <a:t>It can be a alternative way to solve digital divide problem.</a:t>
            </a:r>
          </a:p>
          <a:p>
            <a:r>
              <a:rPr lang="en-US" altLang="ko-KR" dirty="0"/>
              <a:t>For better Korean understanding, Korean NLP tools will help to solve this problem.</a:t>
            </a:r>
          </a:p>
          <a:p>
            <a:endParaRPr lang="en-US" altLang="ko-KR" dirty="0"/>
          </a:p>
          <a:p>
            <a:r>
              <a:rPr lang="en-US" altLang="ko-KR" dirty="0"/>
              <a:t>Perhaps similar ideas can help other countries’ public schools.</a:t>
            </a:r>
            <a:endParaRPr lang="ko-KR" altLang="en-US" dirty="0"/>
          </a:p>
        </p:txBody>
      </p:sp>
    </p:spTree>
    <p:extLst>
      <p:ext uri="{BB962C8B-B14F-4D97-AF65-F5344CB8AC3E}">
        <p14:creationId xmlns:p14="http://schemas.microsoft.com/office/powerpoint/2010/main" val="26661973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E386083-CCEE-C182-FF25-E23DCBE60AAD}"/>
              </a:ext>
            </a:extLst>
          </p:cNvPr>
          <p:cNvSpPr>
            <a:spLocks noGrp="1"/>
          </p:cNvSpPr>
          <p:nvPr>
            <p:ph type="title"/>
          </p:nvPr>
        </p:nvSpPr>
        <p:spPr/>
        <p:txBody>
          <a:bodyPr/>
          <a:lstStyle/>
          <a:p>
            <a:r>
              <a:rPr lang="en-US" altLang="ko-KR" dirty="0">
                <a:effectLst/>
              </a:rPr>
              <a:t>Benefits for Korean Science Education</a:t>
            </a:r>
            <a:endParaRPr lang="ko-KR" altLang="en-US" dirty="0"/>
          </a:p>
        </p:txBody>
      </p:sp>
      <p:sp>
        <p:nvSpPr>
          <p:cNvPr id="3" name="내용 개체 틀 2">
            <a:extLst>
              <a:ext uri="{FF2B5EF4-FFF2-40B4-BE49-F238E27FC236}">
                <a16:creationId xmlns:a16="http://schemas.microsoft.com/office/drawing/2014/main" id="{CD5F99D3-B2F6-E904-1534-0F348669BA59}"/>
              </a:ext>
            </a:extLst>
          </p:cNvPr>
          <p:cNvSpPr>
            <a:spLocks noGrp="1"/>
          </p:cNvSpPr>
          <p:nvPr>
            <p:ph idx="1"/>
          </p:nvPr>
        </p:nvSpPr>
        <p:spPr/>
        <p:txBody>
          <a:bodyPr/>
          <a:lstStyle/>
          <a:p>
            <a:r>
              <a:rPr lang="en-US" altLang="ko-KR" dirty="0">
                <a:effectLst/>
              </a:rPr>
              <a:t>Chatbot helps active learning and scaffolding.</a:t>
            </a:r>
          </a:p>
          <a:p>
            <a:r>
              <a:rPr lang="en-US" altLang="ko-KR" dirty="0">
                <a:effectLst/>
              </a:rPr>
              <a:t>Students can ask anytime without feeling shy.</a:t>
            </a:r>
          </a:p>
          <a:p>
            <a:r>
              <a:rPr lang="en-US" altLang="ko-KR" dirty="0">
                <a:effectLst/>
              </a:rPr>
              <a:t>Teachers can check logs and improve the system.</a:t>
            </a:r>
          </a:p>
          <a:p>
            <a:r>
              <a:rPr lang="en-US" altLang="ko-KR" dirty="0">
                <a:effectLst/>
              </a:rPr>
              <a:t>Matches real Korean school data and curriculum.</a:t>
            </a:r>
          </a:p>
          <a:p>
            <a:r>
              <a:rPr lang="en-US" altLang="ko-KR" dirty="0">
                <a:effectLst/>
              </a:rPr>
              <a:t>Research shows LLM chatbots work well for science questions (</a:t>
            </a:r>
            <a:r>
              <a:rPr lang="ko-KR" altLang="en-US" dirty="0">
                <a:effectLst/>
              </a:rPr>
              <a:t>신원섭</a:t>
            </a:r>
            <a:r>
              <a:rPr lang="en-US" altLang="ko-KR" dirty="0">
                <a:effectLst/>
              </a:rPr>
              <a:t>,</a:t>
            </a:r>
            <a:r>
              <a:rPr lang="ko-KR" altLang="en-US" dirty="0">
                <a:effectLst/>
              </a:rPr>
              <a:t> </a:t>
            </a:r>
            <a:r>
              <a:rPr lang="en-US" altLang="ko-KR" dirty="0">
                <a:effectLst/>
              </a:rPr>
              <a:t>2020; </a:t>
            </a:r>
            <a:r>
              <a:rPr lang="en-US" altLang="ko-KR" dirty="0" err="1">
                <a:effectLst/>
              </a:rPr>
              <a:t>Kasneci</a:t>
            </a:r>
            <a:r>
              <a:rPr lang="en-US" altLang="ko-KR" dirty="0">
                <a:effectLst/>
              </a:rPr>
              <a:t>, 2023).</a:t>
            </a:r>
          </a:p>
          <a:p>
            <a:endParaRPr lang="ko-KR" altLang="en-US" dirty="0"/>
          </a:p>
        </p:txBody>
      </p:sp>
    </p:spTree>
    <p:extLst>
      <p:ext uri="{BB962C8B-B14F-4D97-AF65-F5344CB8AC3E}">
        <p14:creationId xmlns:p14="http://schemas.microsoft.com/office/powerpoint/2010/main" val="11302963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B7CFC63-D59E-6D48-DA5D-5DE74D42940E}"/>
              </a:ext>
            </a:extLst>
          </p:cNvPr>
          <p:cNvSpPr>
            <a:spLocks noGrp="1"/>
          </p:cNvSpPr>
          <p:nvPr>
            <p:ph type="title"/>
          </p:nvPr>
        </p:nvSpPr>
        <p:spPr/>
        <p:txBody>
          <a:bodyPr/>
          <a:lstStyle/>
          <a:p>
            <a:r>
              <a:rPr lang="en-US" altLang="ko-KR" dirty="0">
                <a:effectLst/>
              </a:rPr>
              <a:t>Conclusion</a:t>
            </a:r>
            <a:endParaRPr lang="ko-KR" altLang="en-US" dirty="0"/>
          </a:p>
        </p:txBody>
      </p:sp>
      <p:sp>
        <p:nvSpPr>
          <p:cNvPr id="3" name="내용 개체 틀 2">
            <a:extLst>
              <a:ext uri="{FF2B5EF4-FFF2-40B4-BE49-F238E27FC236}">
                <a16:creationId xmlns:a16="http://schemas.microsoft.com/office/drawing/2014/main" id="{B6EEFDCA-6399-8D8A-53E2-AE11653D2D55}"/>
              </a:ext>
            </a:extLst>
          </p:cNvPr>
          <p:cNvSpPr>
            <a:spLocks noGrp="1"/>
          </p:cNvSpPr>
          <p:nvPr>
            <p:ph idx="1"/>
          </p:nvPr>
        </p:nvSpPr>
        <p:spPr/>
        <p:txBody>
          <a:bodyPr/>
          <a:lstStyle/>
          <a:p>
            <a:r>
              <a:rPr lang="en-US" altLang="ko-KR" dirty="0"/>
              <a:t>We have explored the history of chatbots and identified the practical need for an Integrated Science Q&amp;A chatbot.</a:t>
            </a:r>
          </a:p>
          <a:p>
            <a:r>
              <a:rPr lang="en-US" altLang="ko-KR" dirty="0"/>
              <a:t>Though internal intelligence of commercial LLMs are powerful, customizing them with regional and specialized data is far more effective. This approach will be just as successful in Bulgaria as it has been in Korea.</a:t>
            </a:r>
          </a:p>
          <a:p>
            <a:r>
              <a:rPr lang="en-US" altLang="ko-KR" dirty="0"/>
              <a:t>The customized science chatbot serves as a second teacher that students can turn to with questions at any time.</a:t>
            </a:r>
          </a:p>
          <a:p>
            <a:r>
              <a:rPr lang="en-US" altLang="ko-KR" dirty="0"/>
              <a:t>These chatbots are effective learning tools for connecting fragmented scientific knowledge into a unified understanding.</a:t>
            </a:r>
          </a:p>
        </p:txBody>
      </p:sp>
    </p:spTree>
    <p:extLst>
      <p:ext uri="{BB962C8B-B14F-4D97-AF65-F5344CB8AC3E}">
        <p14:creationId xmlns:p14="http://schemas.microsoft.com/office/powerpoint/2010/main" val="30444177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FC09C22-997D-265C-38F0-804E11F5BE3F}"/>
              </a:ext>
            </a:extLst>
          </p:cNvPr>
          <p:cNvSpPr>
            <a:spLocks noGrp="1"/>
          </p:cNvSpPr>
          <p:nvPr>
            <p:ph type="title"/>
          </p:nvPr>
        </p:nvSpPr>
        <p:spPr/>
        <p:txBody>
          <a:bodyPr/>
          <a:lstStyle/>
          <a:p>
            <a:r>
              <a:rPr kumimoji="1" lang="en-US" altLang="ko-KR" dirty="0"/>
              <a:t>References</a:t>
            </a:r>
            <a:endParaRPr kumimoji="1" lang="ko-KR" altLang="en-US" dirty="0"/>
          </a:p>
        </p:txBody>
      </p:sp>
      <p:sp>
        <p:nvSpPr>
          <p:cNvPr id="3" name="내용 개체 틀 2">
            <a:extLst>
              <a:ext uri="{FF2B5EF4-FFF2-40B4-BE49-F238E27FC236}">
                <a16:creationId xmlns:a16="http://schemas.microsoft.com/office/drawing/2014/main" id="{41ACB2D8-D629-B621-A78D-A7E19112F2AE}"/>
              </a:ext>
            </a:extLst>
          </p:cNvPr>
          <p:cNvSpPr>
            <a:spLocks noGrp="1"/>
          </p:cNvSpPr>
          <p:nvPr>
            <p:ph idx="1"/>
          </p:nvPr>
        </p:nvSpPr>
        <p:spPr>
          <a:xfrm>
            <a:off x="838200" y="1825624"/>
            <a:ext cx="11126492" cy="5032375"/>
          </a:xfrm>
        </p:spPr>
        <p:txBody>
          <a:bodyPr>
            <a:normAutofit fontScale="47500" lnSpcReduction="20000"/>
          </a:bodyPr>
          <a:lstStyle/>
          <a:p>
            <a:pPr marL="457200" indent="-457200">
              <a:buFont typeface="+mj-lt"/>
              <a:buAutoNum type="arabicPeriod"/>
            </a:pPr>
            <a:r>
              <a:rPr kumimoji="1" lang="en" altLang="ko-KR" dirty="0"/>
              <a:t>Akpan, Ikpe Justice, Yawo M. Kobara, Josiah Owolabi, </a:t>
            </a:r>
            <a:r>
              <a:rPr kumimoji="1" lang="en" altLang="ko-KR" dirty="0" err="1"/>
              <a:t>Asuama</a:t>
            </a:r>
            <a:r>
              <a:rPr kumimoji="1" lang="en" altLang="ko-KR" dirty="0"/>
              <a:t> A. Akpan, and Onyebuchi Felix </a:t>
            </a:r>
            <a:r>
              <a:rPr kumimoji="1" lang="en" altLang="ko-KR" dirty="0" err="1"/>
              <a:t>Offodile</a:t>
            </a:r>
            <a:r>
              <a:rPr kumimoji="1" lang="en" altLang="ko-KR" dirty="0"/>
              <a:t> (2024). “Conversational and generative artificial intelligence and human–chatbot interaction in education and research”. International Transactions in Operational Research. DOI: 10.1111/itor.13522.</a:t>
            </a:r>
          </a:p>
          <a:p>
            <a:pPr marL="457200" indent="-457200">
              <a:buFont typeface="+mj-lt"/>
              <a:buAutoNum type="arabicPeriod"/>
            </a:pPr>
            <a:r>
              <a:rPr kumimoji="1" lang="en" altLang="ko-KR" dirty="0"/>
              <a:t>Chin, Christine and David E Brown (2002). “Student-generated questions: A meaningful aspect of learning in science”. International Journal of Science Education 24.5, pp. 521–549.</a:t>
            </a:r>
          </a:p>
          <a:p>
            <a:pPr marL="457200" indent="-457200">
              <a:buFont typeface="+mj-lt"/>
              <a:buAutoNum type="arabicPeriod"/>
            </a:pPr>
            <a:r>
              <a:rPr kumimoji="1" lang="en" altLang="ko-KR" dirty="0"/>
              <a:t>Chin, Christine and Jonathan Osborne (2008). “Students’ questions: a potential resource for teaching and learning science” . Studies in science education 44.1, pp. 1–39.</a:t>
            </a:r>
          </a:p>
          <a:p>
            <a:pPr marL="457200" indent="-457200">
              <a:buFont typeface="+mj-lt"/>
              <a:buAutoNum type="arabicPeriod"/>
            </a:pPr>
            <a:r>
              <a:rPr kumimoji="1" lang="en" altLang="ko-KR" dirty="0" err="1"/>
              <a:t>Eshach</a:t>
            </a:r>
            <a:r>
              <a:rPr kumimoji="1" lang="en" altLang="ko-KR" dirty="0"/>
              <a:t>, Haim, Yair Dor-</a:t>
            </a:r>
            <a:r>
              <a:rPr kumimoji="1" lang="en" altLang="ko-KR" dirty="0" err="1"/>
              <a:t>Ziderman</a:t>
            </a:r>
            <a:r>
              <a:rPr kumimoji="1" lang="en" altLang="ko-KR" dirty="0"/>
              <a:t>, and Yana </a:t>
            </a:r>
            <a:r>
              <a:rPr kumimoji="1" lang="en" altLang="ko-KR" dirty="0" err="1"/>
              <a:t>Yefroimsky</a:t>
            </a:r>
            <a:r>
              <a:rPr kumimoji="1" lang="en" altLang="ko-KR" dirty="0"/>
              <a:t> (2014). “Question asking in the science classroom: Teacher attitudes and practices”. Journal of Science Education and Technology 23, pp. 67–81.</a:t>
            </a:r>
          </a:p>
          <a:p>
            <a:pPr marL="457200" indent="-457200">
              <a:buFont typeface="+mj-lt"/>
              <a:buAutoNum type="arabicPeriod"/>
            </a:pPr>
            <a:r>
              <a:rPr kumimoji="1" lang="en" altLang="ko-KR" dirty="0"/>
              <a:t>Jauhiainen, Jussi S. and Agustín </a:t>
            </a:r>
            <a:r>
              <a:rPr kumimoji="1" lang="en" altLang="ko-KR" dirty="0" err="1"/>
              <a:t>Garagorry</a:t>
            </a:r>
            <a:r>
              <a:rPr kumimoji="1" lang="en" altLang="ko-KR" dirty="0"/>
              <a:t> Guerra (2023). “Generative AI and ChatGPT in School Children’ s Education: Evidence from a School Lesson”. Sustainability 15.18. ISSN: 2071-1050. DOI: 10.3390/su151814025.</a:t>
            </a:r>
          </a:p>
          <a:p>
            <a:pPr marL="457200" indent="-457200">
              <a:buFont typeface="+mj-lt"/>
              <a:buAutoNum type="arabicPeriod"/>
            </a:pPr>
            <a:r>
              <a:rPr kumimoji="1" lang="en" altLang="ko-KR" dirty="0" err="1"/>
              <a:t>Kasneci</a:t>
            </a:r>
            <a:r>
              <a:rPr kumimoji="1" lang="en" altLang="ko-KR" dirty="0"/>
              <a:t>, Enkelejda et al. (2023). “ChatGPT for good? On opportunities and challenges of large</a:t>
            </a:r>
          </a:p>
          <a:p>
            <a:pPr marL="457200" indent="-457200">
              <a:buFont typeface="+mj-lt"/>
              <a:buAutoNum type="arabicPeriod"/>
            </a:pPr>
            <a:r>
              <a:rPr kumimoji="1" lang="en" altLang="ko-KR" dirty="0" err="1"/>
              <a:t>Kuhail</a:t>
            </a:r>
            <a:r>
              <a:rPr kumimoji="1" lang="en" altLang="ko-KR" dirty="0"/>
              <a:t>, Mohammad Amin, Nazik </a:t>
            </a:r>
            <a:r>
              <a:rPr kumimoji="1" lang="en" altLang="ko-KR" dirty="0" err="1"/>
              <a:t>Alturki</a:t>
            </a:r>
            <a:r>
              <a:rPr kumimoji="1" lang="en" altLang="ko-KR" dirty="0"/>
              <a:t>, Salwa </a:t>
            </a:r>
            <a:r>
              <a:rPr kumimoji="1" lang="en" altLang="ko-KR" dirty="0" err="1"/>
              <a:t>Alramlawi</a:t>
            </a:r>
            <a:r>
              <a:rPr kumimoji="1" lang="en" altLang="ko-KR" dirty="0"/>
              <a:t>, and Kholood </a:t>
            </a:r>
            <a:r>
              <a:rPr kumimoji="1" lang="en" altLang="ko-KR" dirty="0" err="1"/>
              <a:t>Alhejori</a:t>
            </a:r>
            <a:r>
              <a:rPr kumimoji="1" lang="en" altLang="ko-KR" dirty="0"/>
              <a:t> (2023). “Interacting with educational chatbots: A systematic review”. Education and Information Technologies 28.1, pp. 973–1018.</a:t>
            </a:r>
          </a:p>
          <a:p>
            <a:pPr marL="457200" indent="-457200">
              <a:buFont typeface="+mj-lt"/>
              <a:buAutoNum type="arabicPeriod"/>
            </a:pPr>
            <a:r>
              <a:rPr kumimoji="1" lang="en" altLang="ko-KR" dirty="0"/>
              <a:t>language models for education”. Learning and individual differences 103, p. 102274.</a:t>
            </a:r>
          </a:p>
          <a:p>
            <a:pPr marL="457200" indent="-457200">
              <a:buFont typeface="+mj-lt"/>
              <a:buAutoNum type="arabicPeriod"/>
            </a:pPr>
            <a:r>
              <a:rPr kumimoji="1" lang="en" altLang="ko-KR" dirty="0"/>
              <a:t>Smutny, Pavel and Petra </a:t>
            </a:r>
            <a:r>
              <a:rPr kumimoji="1" lang="en" altLang="ko-KR" dirty="0" err="1"/>
              <a:t>Schreiberova</a:t>
            </a:r>
            <a:r>
              <a:rPr kumimoji="1" lang="en" altLang="ko-KR" dirty="0"/>
              <a:t> (2020). “Chatbots for learning: A review of educational chatbots for the Facebook Messenger”. Computers &amp; Education 151, p. 103862.</a:t>
            </a:r>
          </a:p>
          <a:p>
            <a:pPr marL="457200" indent="-457200">
              <a:buFont typeface="+mj-lt"/>
              <a:buAutoNum type="arabicPeriod"/>
            </a:pPr>
            <a:r>
              <a:rPr kumimoji="1" lang="ko-KR" altLang="en-US" dirty="0" err="1"/>
              <a:t>곽영순</a:t>
            </a:r>
            <a:r>
              <a:rPr kumimoji="1" lang="ko-KR" altLang="en-US" dirty="0"/>
              <a:t> </a:t>
            </a:r>
            <a:r>
              <a:rPr kumimoji="1" lang="en-US" altLang="ko-KR" dirty="0"/>
              <a:t>· </a:t>
            </a:r>
            <a:r>
              <a:rPr kumimoji="1" lang="ko-KR" altLang="en-US" dirty="0"/>
              <a:t>신영준 </a:t>
            </a:r>
            <a:r>
              <a:rPr kumimoji="1" lang="en-US" altLang="ko-KR" dirty="0"/>
              <a:t>(2021). 〈2022 </a:t>
            </a:r>
            <a:r>
              <a:rPr kumimoji="1" lang="ko-KR" altLang="en-US" dirty="0"/>
              <a:t>개정 교육과정에 대비한 과학과 통합과학 및 과학탐구실험 교육과정 개선 방안 탐색</a:t>
            </a:r>
            <a:r>
              <a:rPr kumimoji="1" lang="en-US" altLang="ko-KR" dirty="0"/>
              <a:t>〉. 『</a:t>
            </a:r>
            <a:r>
              <a:rPr kumimoji="1" lang="ko-KR" altLang="en-US" dirty="0"/>
              <a:t>과학교육연구지</a:t>
            </a:r>
            <a:r>
              <a:rPr kumimoji="1" lang="en-US" altLang="ko-KR" dirty="0"/>
              <a:t>』 45.2, </a:t>
            </a:r>
            <a:r>
              <a:rPr kumimoji="1" lang="en" altLang="ko-KR" dirty="0"/>
              <a:t>pp. 143–155.</a:t>
            </a:r>
          </a:p>
          <a:p>
            <a:pPr marL="457200" indent="-457200">
              <a:buFont typeface="+mj-lt"/>
              <a:buAutoNum type="arabicPeriod"/>
            </a:pPr>
            <a:r>
              <a:rPr kumimoji="1" lang="ko-KR" altLang="en-US" dirty="0" err="1"/>
              <a:t>곽영순</a:t>
            </a:r>
            <a:r>
              <a:rPr kumimoji="1" lang="ko-KR" altLang="en-US" dirty="0"/>
              <a:t> </a:t>
            </a:r>
            <a:r>
              <a:rPr kumimoji="1" lang="en-US" altLang="ko-KR" dirty="0"/>
              <a:t>· </a:t>
            </a:r>
            <a:r>
              <a:rPr kumimoji="1" lang="ko-KR" altLang="en-US" dirty="0"/>
              <a:t>신영준 </a:t>
            </a:r>
            <a:r>
              <a:rPr kumimoji="1" lang="en-US" altLang="ko-KR" dirty="0"/>
              <a:t>(2021). 〈2022 </a:t>
            </a:r>
            <a:r>
              <a:rPr kumimoji="1" lang="ko-KR" altLang="en-US" dirty="0"/>
              <a:t>개정 교육과정에 대비한 과학과 통합과학 및 과학탐구실험 교육과정 개선 방안 탐색</a:t>
            </a:r>
            <a:r>
              <a:rPr kumimoji="1" lang="en-US" altLang="ko-KR" dirty="0"/>
              <a:t>〉. 『</a:t>
            </a:r>
            <a:r>
              <a:rPr kumimoji="1" lang="ko-KR" altLang="en-US" dirty="0"/>
              <a:t>과학교육연구지</a:t>
            </a:r>
            <a:r>
              <a:rPr kumimoji="1" lang="en-US" altLang="ko-KR" dirty="0"/>
              <a:t>』 45.2, </a:t>
            </a:r>
            <a:r>
              <a:rPr kumimoji="1" lang="en" altLang="ko-KR" dirty="0"/>
              <a:t>pp. 143–155.</a:t>
            </a:r>
          </a:p>
          <a:p>
            <a:pPr marL="457200" indent="-457200">
              <a:buFont typeface="+mj-lt"/>
              <a:buAutoNum type="arabicPeriod"/>
            </a:pPr>
            <a:r>
              <a:rPr kumimoji="1" lang="ko-KR" altLang="en-US" dirty="0"/>
              <a:t>교육부 </a:t>
            </a:r>
            <a:r>
              <a:rPr kumimoji="1" lang="en-US" altLang="ko-KR" dirty="0"/>
              <a:t>(2015). 『</a:t>
            </a:r>
            <a:r>
              <a:rPr kumimoji="1" lang="ko-KR" altLang="en-US" dirty="0"/>
              <a:t>교육부 고시 제</a:t>
            </a:r>
            <a:r>
              <a:rPr kumimoji="1" lang="en-US" altLang="ko-KR" dirty="0"/>
              <a:t>2015-74</a:t>
            </a:r>
            <a:r>
              <a:rPr kumimoji="1" lang="ko-KR" altLang="en-US" dirty="0"/>
              <a:t>호 과학과 교육과정</a:t>
            </a:r>
            <a:r>
              <a:rPr kumimoji="1" lang="en-US" altLang="ko-KR" dirty="0"/>
              <a:t>』.</a:t>
            </a:r>
          </a:p>
          <a:p>
            <a:pPr marL="457200" indent="-457200">
              <a:buFont typeface="+mj-lt"/>
              <a:buAutoNum type="arabicPeriod"/>
            </a:pPr>
            <a:r>
              <a:rPr kumimoji="1" lang="ko-KR" altLang="en-US" dirty="0"/>
              <a:t>교육부 </a:t>
            </a:r>
            <a:r>
              <a:rPr kumimoji="1" lang="en-US" altLang="ko-KR" dirty="0"/>
              <a:t>(2022). 『</a:t>
            </a:r>
            <a:r>
              <a:rPr kumimoji="1" lang="ko-KR" altLang="en-US" dirty="0"/>
              <a:t>교육부 고시 제</a:t>
            </a:r>
            <a:r>
              <a:rPr kumimoji="1" lang="en-US" altLang="ko-KR" dirty="0"/>
              <a:t>2022-33</a:t>
            </a:r>
            <a:r>
              <a:rPr kumimoji="1" lang="ko-KR" altLang="en-US" dirty="0"/>
              <a:t>호 </a:t>
            </a:r>
            <a:r>
              <a:rPr kumimoji="1" lang="en-US" altLang="ko-KR" dirty="0"/>
              <a:t>[</a:t>
            </a:r>
            <a:r>
              <a:rPr kumimoji="1" lang="ko-KR" altLang="en-US" dirty="0"/>
              <a:t>별책 </a:t>
            </a:r>
            <a:r>
              <a:rPr kumimoji="1" lang="en-US" altLang="ko-KR" dirty="0"/>
              <a:t>9] </a:t>
            </a:r>
            <a:r>
              <a:rPr kumimoji="1" lang="ko-KR" altLang="en-US" dirty="0"/>
              <a:t>과학과 교육과정</a:t>
            </a:r>
            <a:r>
              <a:rPr kumimoji="1" lang="en-US" altLang="ko-KR" dirty="0"/>
              <a:t>』.</a:t>
            </a:r>
            <a:endParaRPr kumimoji="1" lang="ko-KR" altLang="en-US" dirty="0"/>
          </a:p>
        </p:txBody>
      </p:sp>
    </p:spTree>
    <p:extLst>
      <p:ext uri="{BB962C8B-B14F-4D97-AF65-F5344CB8AC3E}">
        <p14:creationId xmlns:p14="http://schemas.microsoft.com/office/powerpoint/2010/main" val="6180247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04354CE-5C78-1A2B-C2AC-D00BC32024AD}"/>
              </a:ext>
            </a:extLst>
          </p:cNvPr>
          <p:cNvSpPr>
            <a:spLocks noGrp="1"/>
          </p:cNvSpPr>
          <p:nvPr>
            <p:ph type="title"/>
          </p:nvPr>
        </p:nvSpPr>
        <p:spPr/>
        <p:txBody>
          <a:bodyPr/>
          <a:lstStyle/>
          <a:p>
            <a:r>
              <a:rPr kumimoji="1" lang="en-US" altLang="ko-KR" dirty="0"/>
              <a:t>References</a:t>
            </a:r>
            <a:endParaRPr kumimoji="1" lang="ko-KR" altLang="en-US" dirty="0"/>
          </a:p>
        </p:txBody>
      </p:sp>
      <p:sp>
        <p:nvSpPr>
          <p:cNvPr id="3" name="내용 개체 틀 2">
            <a:extLst>
              <a:ext uri="{FF2B5EF4-FFF2-40B4-BE49-F238E27FC236}">
                <a16:creationId xmlns:a16="http://schemas.microsoft.com/office/drawing/2014/main" id="{18FF116C-56F0-741E-2FB2-D3F20F19FCE5}"/>
              </a:ext>
            </a:extLst>
          </p:cNvPr>
          <p:cNvSpPr>
            <a:spLocks noGrp="1"/>
          </p:cNvSpPr>
          <p:nvPr>
            <p:ph idx="1"/>
          </p:nvPr>
        </p:nvSpPr>
        <p:spPr>
          <a:xfrm>
            <a:off x="838200" y="1825624"/>
            <a:ext cx="11172986" cy="5032375"/>
          </a:xfrm>
        </p:spPr>
        <p:txBody>
          <a:bodyPr>
            <a:normAutofit fontScale="47500" lnSpcReduction="20000"/>
          </a:bodyPr>
          <a:lstStyle/>
          <a:p>
            <a:r>
              <a:rPr kumimoji="1" lang="ko-KR" altLang="en-US" dirty="0"/>
              <a:t>김성근 </a:t>
            </a:r>
            <a:r>
              <a:rPr kumimoji="1" lang="en-US" altLang="ko-KR" dirty="0"/>
              <a:t>· </a:t>
            </a:r>
            <a:r>
              <a:rPr kumimoji="1" lang="ko-KR" altLang="en-US" dirty="0"/>
              <a:t>여상인 </a:t>
            </a:r>
            <a:r>
              <a:rPr kumimoji="1" lang="en-US" altLang="ko-KR" dirty="0"/>
              <a:t>· </a:t>
            </a:r>
            <a:r>
              <a:rPr kumimoji="1" lang="ko-KR" altLang="en-US" dirty="0" err="1"/>
              <a:t>우규환</a:t>
            </a:r>
            <a:r>
              <a:rPr kumimoji="1" lang="ko-KR" altLang="en-US" dirty="0"/>
              <a:t> </a:t>
            </a:r>
            <a:r>
              <a:rPr kumimoji="1" lang="en-US" altLang="ko-KR" dirty="0"/>
              <a:t>(1999). 〈</a:t>
            </a:r>
            <a:r>
              <a:rPr kumimoji="1" lang="ko-KR" altLang="en-US" dirty="0"/>
              <a:t>과학 수업에서의 학생 질문에 대한 연구 </a:t>
            </a:r>
            <a:r>
              <a:rPr kumimoji="1" lang="en-US" altLang="ko-KR" dirty="0"/>
              <a:t>(Ⅱ)-</a:t>
            </a:r>
            <a:r>
              <a:rPr kumimoji="1" lang="ko-KR" altLang="en-US" dirty="0"/>
              <a:t>학생 질문의 유형별 분석</a:t>
            </a:r>
            <a:r>
              <a:rPr kumimoji="1" lang="en-US" altLang="ko-KR" dirty="0"/>
              <a:t>〉. 『</a:t>
            </a:r>
            <a:r>
              <a:rPr kumimoji="1" lang="ko-KR" altLang="en-US" dirty="0"/>
              <a:t>한국과학교육학회지</a:t>
            </a:r>
            <a:r>
              <a:rPr kumimoji="1" lang="en-US" altLang="ko-KR" dirty="0"/>
              <a:t>』 19.4, </a:t>
            </a:r>
            <a:r>
              <a:rPr kumimoji="1" lang="en" altLang="ko-KR" dirty="0"/>
              <a:t>pp. 560–569.</a:t>
            </a:r>
          </a:p>
          <a:p>
            <a:r>
              <a:rPr kumimoji="1" lang="ko-KR" altLang="en-US" dirty="0"/>
              <a:t>김영성 </a:t>
            </a:r>
            <a:r>
              <a:rPr kumimoji="1" lang="en-US" altLang="ko-KR" dirty="0"/>
              <a:t>· </a:t>
            </a:r>
            <a:r>
              <a:rPr kumimoji="1" lang="ko-KR" altLang="en-US" dirty="0" err="1"/>
              <a:t>이문남</a:t>
            </a:r>
            <a:r>
              <a:rPr kumimoji="1" lang="ko-KR" altLang="en-US" dirty="0"/>
              <a:t> </a:t>
            </a:r>
            <a:r>
              <a:rPr kumimoji="1" lang="en-US" altLang="ko-KR" dirty="0"/>
              <a:t>(1994). 〈</a:t>
            </a:r>
            <a:r>
              <a:rPr kumimoji="1" lang="ko-KR" altLang="en-US" dirty="0"/>
              <a:t>고등학교 과학 교사들의 공통과학 및 </a:t>
            </a:r>
            <a:r>
              <a:rPr kumimoji="1" lang="en" altLang="ko-KR" dirty="0"/>
              <a:t>Science-Technology-Society</a:t>
            </a:r>
            <a:r>
              <a:rPr kumimoji="1" lang="ko-KR" altLang="en-US" dirty="0" err="1"/>
              <a:t>에</a:t>
            </a:r>
            <a:r>
              <a:rPr kumimoji="1" lang="ko-KR" altLang="en-US" dirty="0"/>
              <a:t> 대한 인식도 조사</a:t>
            </a:r>
            <a:r>
              <a:rPr kumimoji="1" lang="en-US" altLang="ko-KR" dirty="0"/>
              <a:t>-</a:t>
            </a:r>
            <a:r>
              <a:rPr kumimoji="1" lang="ko-KR" altLang="en-US" dirty="0"/>
              <a:t>광주 직할시 및 전라남도 고등학교 과학 교사들을 대상으로</a:t>
            </a:r>
            <a:r>
              <a:rPr kumimoji="1" lang="en-US" altLang="ko-KR" dirty="0"/>
              <a:t>〉.『</a:t>
            </a:r>
            <a:r>
              <a:rPr kumimoji="1" lang="ko-KR" altLang="en-US" dirty="0"/>
              <a:t>한국과학교육학회지</a:t>
            </a:r>
            <a:r>
              <a:rPr kumimoji="1" lang="en-US" altLang="ko-KR" dirty="0"/>
              <a:t>』 14.3, </a:t>
            </a:r>
            <a:r>
              <a:rPr kumimoji="1" lang="en" altLang="ko-KR" dirty="0"/>
              <a:t>pp. 330–343.</a:t>
            </a:r>
          </a:p>
          <a:p>
            <a:r>
              <a:rPr kumimoji="1" lang="ko-KR" altLang="en-US" dirty="0"/>
              <a:t>김영성 </a:t>
            </a:r>
            <a:r>
              <a:rPr kumimoji="1" lang="en-US" altLang="ko-KR" dirty="0"/>
              <a:t>(2000). 〈</a:t>
            </a:r>
            <a:r>
              <a:rPr kumimoji="1" lang="ko-KR" altLang="en-US" dirty="0" err="1"/>
              <a:t>고등학교’공통</a:t>
            </a:r>
            <a:r>
              <a:rPr kumimoji="1" lang="ko-KR" altLang="en-US" dirty="0"/>
              <a:t> </a:t>
            </a:r>
            <a:r>
              <a:rPr kumimoji="1" lang="ko-KR" altLang="en-US" dirty="0" err="1"/>
              <a:t>과학’의</a:t>
            </a:r>
            <a:r>
              <a:rPr kumimoji="1" lang="ko-KR" altLang="en-US" dirty="0"/>
              <a:t> 지도 실태</a:t>
            </a:r>
            <a:r>
              <a:rPr kumimoji="1" lang="en-US" altLang="ko-KR" dirty="0"/>
              <a:t>〉. 『</a:t>
            </a:r>
            <a:r>
              <a:rPr kumimoji="1" lang="ko-KR" altLang="en-US" dirty="0"/>
              <a:t>한국과학교육학회지</a:t>
            </a:r>
            <a:r>
              <a:rPr kumimoji="1" lang="en-US" altLang="ko-KR" dirty="0"/>
              <a:t>』 20.2, </a:t>
            </a:r>
            <a:r>
              <a:rPr kumimoji="1" lang="en" altLang="ko-KR" dirty="0"/>
              <a:t>pp. 200–213.</a:t>
            </a:r>
          </a:p>
          <a:p>
            <a:r>
              <a:rPr kumimoji="1" lang="ko-KR" altLang="en-US" dirty="0"/>
              <a:t>민경모 </a:t>
            </a:r>
            <a:r>
              <a:rPr kumimoji="1" lang="en-US" altLang="ko-KR" dirty="0"/>
              <a:t>· </a:t>
            </a:r>
            <a:r>
              <a:rPr kumimoji="1" lang="ko-KR" altLang="en-US" dirty="0"/>
              <a:t>유준희 </a:t>
            </a:r>
            <a:r>
              <a:rPr kumimoji="1" lang="en-US" altLang="ko-KR" dirty="0"/>
              <a:t>(2022). 〈</a:t>
            </a:r>
            <a:r>
              <a:rPr kumimoji="1" lang="en" altLang="ko-KR" dirty="0"/>
              <a:t>Doc2Vec </a:t>
            </a:r>
            <a:r>
              <a:rPr kumimoji="1" lang="ko-KR" altLang="en-US" dirty="0"/>
              <a:t>을 이용한 중학교 과학 질문</a:t>
            </a:r>
            <a:r>
              <a:rPr kumimoji="1" lang="en-US" altLang="ko-KR" dirty="0"/>
              <a:t>-</a:t>
            </a:r>
            <a:r>
              <a:rPr kumimoji="1" lang="ko-KR" altLang="en-US" dirty="0"/>
              <a:t>답변 </a:t>
            </a:r>
            <a:r>
              <a:rPr kumimoji="1" lang="ko-KR" altLang="en-US" dirty="0" err="1"/>
              <a:t>챗봇</a:t>
            </a:r>
            <a:r>
              <a:rPr kumimoji="1" lang="ko-KR" altLang="en-US" dirty="0"/>
              <a:t> 개발 및 학생 질의 분석</a:t>
            </a:r>
            <a:r>
              <a:rPr kumimoji="1" lang="en-US" altLang="ko-KR" dirty="0"/>
              <a:t>〉. 『</a:t>
            </a:r>
            <a:r>
              <a:rPr kumimoji="1" lang="en" altLang="ko-KR" dirty="0"/>
              <a:t>The SNU Journal of Education Research』 31.3, pp. 115–145.</a:t>
            </a:r>
          </a:p>
          <a:p>
            <a:r>
              <a:rPr kumimoji="1" lang="ko-KR" altLang="en-US" dirty="0"/>
              <a:t>민경모 </a:t>
            </a:r>
            <a:r>
              <a:rPr kumimoji="1" lang="en-US" altLang="ko-KR" dirty="0"/>
              <a:t>· </a:t>
            </a:r>
            <a:r>
              <a:rPr kumimoji="1" lang="ko-KR" altLang="en-US" dirty="0"/>
              <a:t>유준희 </a:t>
            </a:r>
            <a:r>
              <a:rPr kumimoji="1" lang="en-US" altLang="ko-KR" dirty="0"/>
              <a:t>(2024). 〈</a:t>
            </a:r>
            <a:r>
              <a:rPr kumimoji="1" lang="ko-KR" altLang="en-US" dirty="0"/>
              <a:t>인공지능 문장 분류 모델 </a:t>
            </a:r>
            <a:r>
              <a:rPr kumimoji="1" lang="en" altLang="ko-KR" dirty="0"/>
              <a:t>Sentence-BERT </a:t>
            </a:r>
            <a:r>
              <a:rPr kumimoji="1" lang="ko-KR" altLang="en-US" dirty="0"/>
              <a:t>기반 학교 맞춤형 고등학교 통합과학 질문</a:t>
            </a:r>
            <a:r>
              <a:rPr kumimoji="1" lang="en-US" altLang="ko-KR" dirty="0"/>
              <a:t>-</a:t>
            </a:r>
            <a:r>
              <a:rPr kumimoji="1" lang="ko-KR" altLang="en-US" dirty="0"/>
              <a:t>답변 </a:t>
            </a:r>
            <a:r>
              <a:rPr kumimoji="1" lang="ko-KR" altLang="en-US" dirty="0" err="1"/>
              <a:t>챗봇</a:t>
            </a:r>
            <a:r>
              <a:rPr kumimoji="1" lang="en-US" altLang="ko-KR" dirty="0"/>
              <a:t>-</a:t>
            </a:r>
            <a:r>
              <a:rPr kumimoji="1" lang="ko-KR" altLang="en-US" dirty="0"/>
              <a:t>개발 및 </a:t>
            </a:r>
            <a:r>
              <a:rPr kumimoji="1" lang="en-US" altLang="ko-KR" dirty="0"/>
              <a:t>1</a:t>
            </a:r>
            <a:r>
              <a:rPr kumimoji="1" lang="ko-KR" altLang="en-US" dirty="0"/>
              <a:t>년간 사용 분석</a:t>
            </a:r>
            <a:r>
              <a:rPr kumimoji="1" lang="en-US" altLang="ko-KR" dirty="0"/>
              <a:t>-〉. 『</a:t>
            </a:r>
            <a:r>
              <a:rPr kumimoji="1" lang="ko-KR" altLang="en-US" dirty="0"/>
              <a:t>한국과학교육학회지</a:t>
            </a:r>
            <a:r>
              <a:rPr kumimoji="1" lang="en-US" altLang="ko-KR" dirty="0"/>
              <a:t>』 44.3, </a:t>
            </a:r>
            <a:r>
              <a:rPr kumimoji="1" lang="en" altLang="ko-KR" dirty="0"/>
              <a:t>pp. 231–248. ISSN: 1226-5187.</a:t>
            </a:r>
          </a:p>
          <a:p>
            <a:r>
              <a:rPr kumimoji="1" lang="ko-KR" altLang="en-US" dirty="0"/>
              <a:t>민경모 </a:t>
            </a:r>
            <a:r>
              <a:rPr kumimoji="1" lang="en-US" altLang="ko-KR" dirty="0"/>
              <a:t>(2005)</a:t>
            </a:r>
            <a:r>
              <a:rPr kumimoji="1" lang="ko-KR" altLang="en-US" dirty="0"/>
              <a:t> 오픈소스 </a:t>
            </a:r>
            <a:r>
              <a:rPr kumimoji="1" lang="en" altLang="ko-KR" dirty="0"/>
              <a:t>LLM</a:t>
            </a:r>
            <a:r>
              <a:rPr kumimoji="1" lang="ko-KR" altLang="en-US" dirty="0"/>
              <a:t>과 </a:t>
            </a:r>
            <a:r>
              <a:rPr kumimoji="1" lang="en" altLang="ko-KR" dirty="0"/>
              <a:t>RAG</a:t>
            </a:r>
            <a:r>
              <a:rPr kumimoji="1" lang="ko-KR" altLang="en-US" dirty="0" err="1"/>
              <a:t>를</a:t>
            </a:r>
            <a:r>
              <a:rPr kumimoji="1" lang="ko-KR" altLang="en-US" dirty="0"/>
              <a:t> 활용한 고등학교 통합과학 질문</a:t>
            </a:r>
            <a:r>
              <a:rPr kumimoji="1" lang="en-US" altLang="ko-KR" dirty="0"/>
              <a:t>-</a:t>
            </a:r>
            <a:r>
              <a:rPr kumimoji="1" lang="ko-KR" altLang="en-US" dirty="0"/>
              <a:t>답변 </a:t>
            </a:r>
            <a:r>
              <a:rPr kumimoji="1" lang="ko-KR" altLang="en-US" dirty="0" err="1"/>
              <a:t>챗봇의</a:t>
            </a:r>
            <a:r>
              <a:rPr kumimoji="1" lang="ko-KR" altLang="en-US" dirty="0"/>
              <a:t> 개발 및 평가 </a:t>
            </a:r>
            <a:r>
              <a:rPr kumimoji="1" lang="en-US" altLang="ko-KR" dirty="0"/>
              <a:t>: </a:t>
            </a:r>
            <a:r>
              <a:rPr kumimoji="1" lang="en" altLang="ko-KR"/>
              <a:t>Development and Evaluation of a Q&amp;A Chatbot for High School Integrated Science using Open-Source LLM and RAG</a:t>
            </a:r>
          </a:p>
          <a:p>
            <a:r>
              <a:rPr kumimoji="1" lang="ko-KR" altLang="en-US"/>
              <a:t>신영준 </a:t>
            </a:r>
            <a:r>
              <a:rPr kumimoji="1" lang="en-US" altLang="ko-KR" dirty="0"/>
              <a:t>· </a:t>
            </a:r>
            <a:r>
              <a:rPr kumimoji="1" lang="ko-KR" altLang="en-US" dirty="0" err="1"/>
              <a:t>곽영순</a:t>
            </a:r>
            <a:r>
              <a:rPr kumimoji="1" lang="ko-KR" altLang="en-US" dirty="0"/>
              <a:t> </a:t>
            </a:r>
            <a:r>
              <a:rPr kumimoji="1" lang="en-US" altLang="ko-KR" dirty="0"/>
              <a:t>(2019). 〈2015 </a:t>
            </a:r>
            <a:r>
              <a:rPr kumimoji="1" lang="ko-KR" altLang="en-US" dirty="0"/>
              <a:t>개정 교육과정의 통합과학 과목 편성･ 운영 실태 분석</a:t>
            </a:r>
            <a:r>
              <a:rPr kumimoji="1" lang="en-US" altLang="ko-KR" dirty="0"/>
              <a:t>〉. 『</a:t>
            </a:r>
            <a:r>
              <a:rPr kumimoji="1" lang="ko-KR" altLang="en-US" dirty="0"/>
              <a:t>과학교육연구지</a:t>
            </a:r>
            <a:r>
              <a:rPr kumimoji="1" lang="en-US" altLang="ko-KR" dirty="0"/>
              <a:t>』 43.1, </a:t>
            </a:r>
            <a:r>
              <a:rPr kumimoji="1" lang="en" altLang="ko-KR" dirty="0"/>
              <a:t>pp. 64–78.</a:t>
            </a:r>
          </a:p>
          <a:p>
            <a:r>
              <a:rPr kumimoji="1" lang="ko-KR" altLang="en-US" dirty="0"/>
              <a:t>신원섭 </a:t>
            </a:r>
            <a:r>
              <a:rPr kumimoji="1" lang="en-US" altLang="ko-KR" dirty="0"/>
              <a:t>· </a:t>
            </a:r>
            <a:r>
              <a:rPr kumimoji="1" lang="ko-KR" altLang="en-US" dirty="0"/>
              <a:t>신동훈 </a:t>
            </a:r>
            <a:r>
              <a:rPr kumimoji="1" lang="en-US" altLang="ko-KR" dirty="0"/>
              <a:t>(2020). 〈</a:t>
            </a:r>
            <a:r>
              <a:rPr kumimoji="1" lang="ko-KR" altLang="en-US" dirty="0"/>
              <a:t>초등과학교육에서 인공지능의 적용방안 연구</a:t>
            </a:r>
            <a:r>
              <a:rPr kumimoji="1" lang="en-US" altLang="ko-KR" dirty="0"/>
              <a:t>〉. 『</a:t>
            </a:r>
            <a:r>
              <a:rPr kumimoji="1" lang="ko-KR" altLang="en-US" dirty="0"/>
              <a:t>초등과학교육</a:t>
            </a:r>
            <a:r>
              <a:rPr kumimoji="1" lang="en-US" altLang="ko-KR" dirty="0"/>
              <a:t>』 39.1, </a:t>
            </a:r>
            <a:r>
              <a:rPr kumimoji="1" lang="en" altLang="ko-KR" dirty="0"/>
              <a:t>pp. 117–132.</a:t>
            </a:r>
          </a:p>
          <a:p>
            <a:r>
              <a:rPr kumimoji="1" lang="ko-KR" altLang="en-US" dirty="0" err="1"/>
              <a:t>안유민</a:t>
            </a:r>
            <a:r>
              <a:rPr kumimoji="1" lang="ko-KR" altLang="en-US" dirty="0"/>
              <a:t> </a:t>
            </a:r>
            <a:r>
              <a:rPr kumimoji="1" lang="en-US" altLang="ko-KR" dirty="0"/>
              <a:t>· </a:t>
            </a:r>
            <a:r>
              <a:rPr kumimoji="1" lang="ko-KR" altLang="en-US" dirty="0" err="1"/>
              <a:t>변태진</a:t>
            </a:r>
            <a:r>
              <a:rPr kumimoji="1" lang="ko-KR" altLang="en-US" dirty="0"/>
              <a:t> </a:t>
            </a:r>
            <a:r>
              <a:rPr kumimoji="1" lang="en-US" altLang="ko-KR" dirty="0"/>
              <a:t>(2020). 〈</a:t>
            </a:r>
            <a:r>
              <a:rPr kumimoji="1" lang="ko-KR" altLang="en-US" dirty="0"/>
              <a:t>통합과학은 통합적으로 운영될 수 있을까</a:t>
            </a:r>
            <a:r>
              <a:rPr kumimoji="1" lang="en-US" altLang="ko-KR" dirty="0"/>
              <a:t>?: </a:t>
            </a:r>
            <a:r>
              <a:rPr kumimoji="1" lang="ko-KR" altLang="en-US" dirty="0"/>
              <a:t>적절한 통합과학 운영방식과 교과 역량 함양에 대한 과학 교사의 인식을 중심으로</a:t>
            </a:r>
            <a:r>
              <a:rPr kumimoji="1" lang="en-US" altLang="ko-KR" dirty="0"/>
              <a:t>〉. 『</a:t>
            </a:r>
            <a:r>
              <a:rPr kumimoji="1" lang="ko-KR" altLang="en-US" dirty="0"/>
              <a:t>현장과학교육</a:t>
            </a:r>
            <a:r>
              <a:rPr kumimoji="1" lang="en-US" altLang="ko-KR" dirty="0"/>
              <a:t>』 14.3, </a:t>
            </a:r>
            <a:r>
              <a:rPr kumimoji="1" lang="en" altLang="ko-KR" dirty="0"/>
              <a:t>pp. 365–378.</a:t>
            </a:r>
          </a:p>
          <a:p>
            <a:r>
              <a:rPr kumimoji="1" lang="ko-KR" altLang="en-US" dirty="0"/>
              <a:t>윤지현 </a:t>
            </a:r>
            <a:r>
              <a:rPr kumimoji="1" lang="en-US" altLang="ko-KR" dirty="0"/>
              <a:t>· </a:t>
            </a:r>
            <a:r>
              <a:rPr kumimoji="1" lang="ko-KR" altLang="en-US" dirty="0"/>
              <a:t>강성주 </a:t>
            </a:r>
            <a:r>
              <a:rPr kumimoji="1" lang="en-US" altLang="ko-KR" dirty="0"/>
              <a:t>(2016). 〈2015 </a:t>
            </a:r>
            <a:r>
              <a:rPr kumimoji="1" lang="ko-KR" altLang="en-US" dirty="0"/>
              <a:t>개정 교육과정에서 통합과학과 과학탐구실험 교과에 관해 고등학교 과학 교사들이 기대하는 부분과 우려하는 부분에 대한 분석</a:t>
            </a:r>
            <a:r>
              <a:rPr kumimoji="1" lang="en-US" altLang="ko-KR" dirty="0"/>
              <a:t>〉. 『</a:t>
            </a:r>
            <a:r>
              <a:rPr kumimoji="1" lang="ko-KR" altLang="en-US" dirty="0" err="1"/>
              <a:t>학습자중심교과교육연구</a:t>
            </a:r>
            <a:r>
              <a:rPr kumimoji="1" lang="en-US" altLang="ko-KR" dirty="0"/>
              <a:t>』 16.5, </a:t>
            </a:r>
            <a:r>
              <a:rPr kumimoji="1" lang="en" altLang="ko-KR" dirty="0"/>
              <a:t>pp. 515–546.</a:t>
            </a:r>
          </a:p>
          <a:p>
            <a:r>
              <a:rPr kumimoji="1" lang="ko-KR" altLang="en-US" dirty="0" err="1"/>
              <a:t>이봉우</a:t>
            </a:r>
            <a:r>
              <a:rPr kumimoji="1" lang="ko-KR" altLang="en-US" dirty="0"/>
              <a:t> </a:t>
            </a:r>
            <a:r>
              <a:rPr kumimoji="1" lang="en-US" altLang="ko-KR" dirty="0"/>
              <a:t>· </a:t>
            </a:r>
            <a:r>
              <a:rPr kumimoji="1" lang="ko-KR" altLang="en-US" dirty="0"/>
              <a:t>박재용 </a:t>
            </a:r>
            <a:r>
              <a:rPr kumimoji="1" lang="en-US" altLang="ko-KR" dirty="0"/>
              <a:t>· </a:t>
            </a:r>
            <a:r>
              <a:rPr kumimoji="1" lang="ko-KR" altLang="en-US" dirty="0" err="1"/>
              <a:t>손정우</a:t>
            </a:r>
            <a:r>
              <a:rPr kumimoji="1" lang="ko-KR" altLang="en-US" dirty="0"/>
              <a:t> </a:t>
            </a:r>
            <a:r>
              <a:rPr kumimoji="1" lang="en-US" altLang="ko-KR" dirty="0"/>
              <a:t>· </a:t>
            </a:r>
            <a:r>
              <a:rPr kumimoji="1" lang="ko-KR" altLang="en-US" dirty="0"/>
              <a:t>이기영 </a:t>
            </a:r>
            <a:r>
              <a:rPr kumimoji="1" lang="en-US" altLang="ko-KR" dirty="0"/>
              <a:t>· </a:t>
            </a:r>
            <a:r>
              <a:rPr kumimoji="1" lang="ko-KR" altLang="en-US" dirty="0"/>
              <a:t>최원호 </a:t>
            </a:r>
            <a:r>
              <a:rPr kumimoji="1" lang="en-US" altLang="ko-KR" dirty="0"/>
              <a:t>· </a:t>
            </a:r>
            <a:r>
              <a:rPr kumimoji="1" lang="ko-KR" altLang="en-US" dirty="0"/>
              <a:t>심규철 </a:t>
            </a:r>
            <a:r>
              <a:rPr kumimoji="1" lang="en-US" altLang="ko-KR" dirty="0"/>
              <a:t>(2024). 〈</a:t>
            </a:r>
            <a:r>
              <a:rPr kumimoji="1" lang="ko-KR" altLang="en-US" dirty="0"/>
              <a:t>과학 교과서 개발 과정에서 교육과정 적용에의 고민과 어려움</a:t>
            </a:r>
            <a:r>
              <a:rPr kumimoji="1" lang="en-US" altLang="ko-KR" dirty="0"/>
              <a:t>-2022 </a:t>
            </a:r>
            <a:r>
              <a:rPr kumimoji="1" lang="ko-KR" altLang="en-US" dirty="0"/>
              <a:t>개정 과학과 교육과정의 ‘통합과학’ 을 중심으로</a:t>
            </a:r>
            <a:r>
              <a:rPr kumimoji="1" lang="en-US" altLang="ko-KR" dirty="0"/>
              <a:t>〉. 『</a:t>
            </a:r>
            <a:r>
              <a:rPr kumimoji="1" lang="en" altLang="ko-KR" dirty="0"/>
              <a:t>Journal of the Korean Association for Science Education』 44.2, pp. 219–229.</a:t>
            </a:r>
          </a:p>
          <a:p>
            <a:r>
              <a:rPr kumimoji="1" lang="ko-KR" altLang="en-US" dirty="0" err="1"/>
              <a:t>이학동</a:t>
            </a:r>
            <a:r>
              <a:rPr kumimoji="1" lang="ko-KR" altLang="en-US" dirty="0"/>
              <a:t> </a:t>
            </a:r>
            <a:r>
              <a:rPr kumimoji="1" lang="en-US" altLang="ko-KR" dirty="0"/>
              <a:t>(1986). 〈</a:t>
            </a:r>
            <a:r>
              <a:rPr kumimoji="1" lang="ko-KR" altLang="en-US" dirty="0"/>
              <a:t>통합과학교육의 실태조사</a:t>
            </a:r>
            <a:r>
              <a:rPr kumimoji="1" lang="en-US" altLang="ko-KR" dirty="0"/>
              <a:t>〉. 『</a:t>
            </a:r>
            <a:r>
              <a:rPr kumimoji="1" lang="ko-KR" altLang="en-US" dirty="0"/>
              <a:t>한국과학교육학회지</a:t>
            </a:r>
            <a:r>
              <a:rPr kumimoji="1" lang="en-US" altLang="ko-KR" dirty="0"/>
              <a:t>』 6.2, </a:t>
            </a:r>
            <a:r>
              <a:rPr kumimoji="1" lang="en" altLang="ko-KR" dirty="0"/>
              <a:t>pp. 43–52.</a:t>
            </a:r>
          </a:p>
          <a:p>
            <a:r>
              <a:rPr kumimoji="1" lang="ko-KR" altLang="en-US" dirty="0"/>
              <a:t>최경희 </a:t>
            </a:r>
            <a:r>
              <a:rPr kumimoji="1" lang="en-US" altLang="ko-KR" dirty="0"/>
              <a:t>· </a:t>
            </a:r>
            <a:r>
              <a:rPr kumimoji="1" lang="ko-KR" altLang="en-US" dirty="0"/>
              <a:t>박종윤 </a:t>
            </a:r>
            <a:r>
              <a:rPr kumimoji="1" lang="en-US" altLang="ko-KR" dirty="0"/>
              <a:t>· </a:t>
            </a:r>
            <a:r>
              <a:rPr kumimoji="1" lang="ko-KR" altLang="en-US" dirty="0" err="1"/>
              <a:t>최병순</a:t>
            </a:r>
            <a:r>
              <a:rPr kumimoji="1" lang="ko-KR" altLang="en-US" dirty="0"/>
              <a:t> </a:t>
            </a:r>
            <a:r>
              <a:rPr kumimoji="1" lang="en-US" altLang="ko-KR" dirty="0"/>
              <a:t>· </a:t>
            </a:r>
            <a:r>
              <a:rPr kumimoji="1" lang="ko-KR" altLang="en-US" dirty="0"/>
              <a:t>남정희 </a:t>
            </a:r>
            <a:r>
              <a:rPr kumimoji="1" lang="en-US" altLang="ko-KR" dirty="0"/>
              <a:t>· </a:t>
            </a:r>
            <a:r>
              <a:rPr kumimoji="1" lang="ko-KR" altLang="en-US" dirty="0"/>
              <a:t>최경순 </a:t>
            </a:r>
            <a:r>
              <a:rPr kumimoji="1" lang="en-US" altLang="ko-KR" dirty="0"/>
              <a:t>· </a:t>
            </a:r>
            <a:r>
              <a:rPr kumimoji="1" lang="ko-KR" altLang="en-US" dirty="0"/>
              <a:t>이기순 </a:t>
            </a:r>
            <a:r>
              <a:rPr kumimoji="1" lang="en-US" altLang="ko-KR" dirty="0"/>
              <a:t>(2004). 〈</a:t>
            </a:r>
            <a:r>
              <a:rPr kumimoji="1" lang="ko-KR" altLang="en-US" dirty="0"/>
              <a:t>중학교 과학 수업에서 교사와 학생의 언어적 상호작용 분석</a:t>
            </a:r>
            <a:r>
              <a:rPr kumimoji="1" lang="en-US" altLang="ko-KR" dirty="0"/>
              <a:t>〉. 『</a:t>
            </a:r>
            <a:r>
              <a:rPr kumimoji="1" lang="ko-KR" altLang="en-US" dirty="0"/>
              <a:t>한국과학교육학회지</a:t>
            </a:r>
            <a:r>
              <a:rPr kumimoji="1" lang="en-US" altLang="ko-KR" dirty="0"/>
              <a:t>』 24.6, </a:t>
            </a:r>
            <a:r>
              <a:rPr kumimoji="1" lang="en" altLang="ko-KR" dirty="0"/>
              <a:t>pp. 1039–1048.</a:t>
            </a:r>
            <a:endParaRPr kumimoji="1" lang="ko-KR" altLang="en-US" dirty="0"/>
          </a:p>
        </p:txBody>
      </p:sp>
    </p:spTree>
    <p:extLst>
      <p:ext uri="{BB962C8B-B14F-4D97-AF65-F5344CB8AC3E}">
        <p14:creationId xmlns:p14="http://schemas.microsoft.com/office/powerpoint/2010/main" val="37966156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00813E2-5A3C-04FA-C430-4E6C34460815}"/>
              </a:ext>
            </a:extLst>
          </p:cNvPr>
          <p:cNvSpPr>
            <a:spLocks noGrp="1"/>
          </p:cNvSpPr>
          <p:nvPr>
            <p:ph type="ctrTitle"/>
          </p:nvPr>
        </p:nvSpPr>
        <p:spPr>
          <a:xfrm>
            <a:off x="1524000" y="1481591"/>
            <a:ext cx="9144000" cy="2387600"/>
          </a:xfrm>
        </p:spPr>
        <p:txBody>
          <a:bodyPr>
            <a:noAutofit/>
          </a:bodyPr>
          <a:lstStyle/>
          <a:p>
            <a:r>
              <a:rPr lang="en-US" altLang="ko-KR" sz="4400" dirty="0"/>
              <a:t>High School Science Q&amp;A Chatbot: A Hybrid IRQA–RAG Approach with an</a:t>
            </a:r>
            <a:r>
              <a:rPr lang="ko-KR" altLang="en-US" sz="4400" dirty="0"/>
              <a:t> </a:t>
            </a:r>
            <a:r>
              <a:rPr lang="en-US" altLang="ko-KR" sz="4400" dirty="0"/>
              <a:t>Open-Source LLMs</a:t>
            </a:r>
            <a:br>
              <a:rPr lang="en-US" altLang="ko-KR" sz="4400" dirty="0"/>
            </a:br>
            <a:r>
              <a:rPr lang="en-US" altLang="ko-KR" sz="4400" dirty="0"/>
              <a:t>(part 1: theoretical approach)</a:t>
            </a:r>
            <a:endParaRPr lang="ko-KR" altLang="en-US" sz="4400" dirty="0"/>
          </a:p>
        </p:txBody>
      </p:sp>
      <p:sp>
        <p:nvSpPr>
          <p:cNvPr id="3" name="부제목 2">
            <a:extLst>
              <a:ext uri="{FF2B5EF4-FFF2-40B4-BE49-F238E27FC236}">
                <a16:creationId xmlns:a16="http://schemas.microsoft.com/office/drawing/2014/main" id="{44343CEE-88C5-9EE5-47CF-DBF1339F70BF}"/>
              </a:ext>
            </a:extLst>
          </p:cNvPr>
          <p:cNvSpPr>
            <a:spLocks noGrp="1"/>
          </p:cNvSpPr>
          <p:nvPr>
            <p:ph type="subTitle" idx="1"/>
          </p:nvPr>
        </p:nvSpPr>
        <p:spPr>
          <a:xfrm>
            <a:off x="1524000" y="4567756"/>
            <a:ext cx="9144000" cy="1655762"/>
          </a:xfrm>
        </p:spPr>
        <p:txBody>
          <a:bodyPr/>
          <a:lstStyle/>
          <a:p>
            <a:r>
              <a:rPr lang="en-US" altLang="ko-KR" dirty="0" err="1"/>
              <a:t>Gyeongmo</a:t>
            </a:r>
            <a:r>
              <a:rPr lang="en-US" altLang="ko-KR" dirty="0"/>
              <a:t> Min, </a:t>
            </a:r>
            <a:r>
              <a:rPr lang="en-US" altLang="ko-KR" dirty="0" err="1"/>
              <a:t>Junehee</a:t>
            </a:r>
            <a:r>
              <a:rPr lang="en-US" altLang="ko-KR" dirty="0"/>
              <a:t> Yoo</a:t>
            </a:r>
          </a:p>
          <a:p>
            <a:endParaRPr lang="en-US" altLang="ko-KR" dirty="0"/>
          </a:p>
          <a:p>
            <a:r>
              <a:rPr lang="en-US" altLang="ko-KR" dirty="0"/>
              <a:t>Department of Physics Education, Seoul National University</a:t>
            </a:r>
          </a:p>
        </p:txBody>
      </p:sp>
    </p:spTree>
    <p:extLst>
      <p:ext uri="{BB962C8B-B14F-4D97-AF65-F5344CB8AC3E}">
        <p14:creationId xmlns:p14="http://schemas.microsoft.com/office/powerpoint/2010/main" val="4817935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FD16419-B36F-3EC1-412F-FC2AF39FA7F6}"/>
              </a:ext>
            </a:extLst>
          </p:cNvPr>
          <p:cNvSpPr>
            <a:spLocks noGrp="1"/>
          </p:cNvSpPr>
          <p:nvPr>
            <p:ph type="title"/>
          </p:nvPr>
        </p:nvSpPr>
        <p:spPr/>
        <p:txBody>
          <a:bodyPr/>
          <a:lstStyle/>
          <a:p>
            <a:r>
              <a:rPr lang="en-US" altLang="ko-KR" dirty="0"/>
              <a:t>Chatbot demonstration</a:t>
            </a:r>
            <a:endParaRPr lang="ko-KR" altLang="en-US" dirty="0"/>
          </a:p>
        </p:txBody>
      </p:sp>
      <p:sp>
        <p:nvSpPr>
          <p:cNvPr id="3" name="내용 개체 틀 2">
            <a:extLst>
              <a:ext uri="{FF2B5EF4-FFF2-40B4-BE49-F238E27FC236}">
                <a16:creationId xmlns:a16="http://schemas.microsoft.com/office/drawing/2014/main" id="{42E734B6-C0AB-9F35-C044-F129FE9F1E89}"/>
              </a:ext>
            </a:extLst>
          </p:cNvPr>
          <p:cNvSpPr>
            <a:spLocks noGrp="1"/>
          </p:cNvSpPr>
          <p:nvPr>
            <p:ph idx="1"/>
          </p:nvPr>
        </p:nvSpPr>
        <p:spPr>
          <a:xfrm>
            <a:off x="838200" y="1825625"/>
            <a:ext cx="11201400" cy="4771118"/>
          </a:xfrm>
        </p:spPr>
        <p:txBody>
          <a:bodyPr>
            <a:normAutofit/>
          </a:bodyPr>
          <a:lstStyle/>
          <a:p>
            <a:r>
              <a:rPr lang="en-US" altLang="ko-KR" dirty="0"/>
              <a:t>You can access our science Q&amp;A chatbot</a:t>
            </a:r>
            <a:r>
              <a:rPr lang="ko-KR" altLang="en-US" dirty="0"/>
              <a:t> </a:t>
            </a:r>
            <a:r>
              <a:rPr lang="en-US" altLang="ko-KR" dirty="0"/>
              <a:t>which is translated into Bulgarian.</a:t>
            </a:r>
          </a:p>
          <a:p>
            <a:r>
              <a:rPr lang="en-US" altLang="ko-KR" dirty="0">
                <a:hlinkClick r:id="rId3"/>
              </a:rPr>
              <a:t>https://acer2.snu.ac.kr:8503</a:t>
            </a:r>
            <a:br>
              <a:rPr lang="en-US" altLang="ko-KR" dirty="0"/>
            </a:br>
            <a:r>
              <a:rPr lang="en-US" altLang="ko-KR" dirty="0"/>
              <a:t>(I am running a temporary</a:t>
            </a:r>
            <a:br>
              <a:rPr lang="en-US" altLang="ko-KR" dirty="0"/>
            </a:br>
            <a:r>
              <a:rPr lang="en-US" altLang="ko-KR" dirty="0"/>
              <a:t>web server for this chatbot.)</a:t>
            </a:r>
          </a:p>
          <a:p>
            <a:pPr marL="0" indent="0">
              <a:buNone/>
            </a:pPr>
            <a:endParaRPr lang="en-US" altLang="ko-KR" dirty="0"/>
          </a:p>
          <a:p>
            <a:pPr marL="0" indent="0">
              <a:buNone/>
            </a:pPr>
            <a:endParaRPr lang="en-US" altLang="ko-KR" dirty="0"/>
          </a:p>
          <a:p>
            <a:pPr marL="0" indent="0">
              <a:buNone/>
            </a:pPr>
            <a:endParaRPr lang="en-US" altLang="ko-KR" dirty="0"/>
          </a:p>
          <a:p>
            <a:r>
              <a:rPr lang="en-US" altLang="ko-KR" dirty="0"/>
              <a:t>This template I made is for general purpose. As you can change dataset, you can make any chatbot you want for free.</a:t>
            </a:r>
            <a:endParaRPr lang="ko-KR" altLang="en-US" dirty="0"/>
          </a:p>
        </p:txBody>
      </p:sp>
      <p:pic>
        <p:nvPicPr>
          <p:cNvPr id="5" name="그림 4">
            <a:extLst>
              <a:ext uri="{FF2B5EF4-FFF2-40B4-BE49-F238E27FC236}">
                <a16:creationId xmlns:a16="http://schemas.microsoft.com/office/drawing/2014/main" id="{4C80CC54-B1A3-6E91-3C9C-4EDB5760985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000" y="2315633"/>
            <a:ext cx="3175000" cy="3175000"/>
          </a:xfrm>
          <a:prstGeom prst="rect">
            <a:avLst/>
          </a:prstGeom>
        </p:spPr>
      </p:pic>
    </p:spTree>
    <p:extLst>
      <p:ext uri="{BB962C8B-B14F-4D97-AF65-F5344CB8AC3E}">
        <p14:creationId xmlns:p14="http://schemas.microsoft.com/office/powerpoint/2010/main" val="397232501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0BFAD6C-3DC9-B1A4-0FBD-A61D819AD5E8}"/>
              </a:ext>
            </a:extLst>
          </p:cNvPr>
          <p:cNvSpPr>
            <a:spLocks noGrp="1"/>
          </p:cNvSpPr>
          <p:nvPr>
            <p:ph type="title"/>
          </p:nvPr>
        </p:nvSpPr>
        <p:spPr/>
        <p:txBody>
          <a:bodyPr/>
          <a:lstStyle/>
          <a:p>
            <a:r>
              <a:rPr lang="en-US" altLang="ko-KR" dirty="0"/>
              <a:t>Introduction</a:t>
            </a:r>
            <a:endParaRPr lang="ko-KR" altLang="en-US" dirty="0"/>
          </a:p>
        </p:txBody>
      </p:sp>
      <p:sp>
        <p:nvSpPr>
          <p:cNvPr id="3" name="내용 개체 틀 2">
            <a:extLst>
              <a:ext uri="{FF2B5EF4-FFF2-40B4-BE49-F238E27FC236}">
                <a16:creationId xmlns:a16="http://schemas.microsoft.com/office/drawing/2014/main" id="{D7191B68-E232-B8C9-6A27-2784C7F9E19C}"/>
              </a:ext>
            </a:extLst>
          </p:cNvPr>
          <p:cNvSpPr>
            <a:spLocks noGrp="1"/>
          </p:cNvSpPr>
          <p:nvPr>
            <p:ph idx="1"/>
          </p:nvPr>
        </p:nvSpPr>
        <p:spPr>
          <a:xfrm>
            <a:off x="838200" y="1825624"/>
            <a:ext cx="10515600" cy="5032375"/>
          </a:xfrm>
        </p:spPr>
        <p:txBody>
          <a:bodyPr>
            <a:normAutofit/>
          </a:bodyPr>
          <a:lstStyle/>
          <a:p>
            <a:r>
              <a:rPr lang="en-US" altLang="ko-KR" dirty="0"/>
              <a:t>A science teacher’s worries about AI chatbots</a:t>
            </a:r>
          </a:p>
          <a:p>
            <a:pPr lvl="1"/>
            <a:r>
              <a:rPr lang="en-US" altLang="ko-KR" dirty="0"/>
              <a:t>Cost: Public schools do not have enough money to pay for commercial AI services.</a:t>
            </a:r>
          </a:p>
          <a:p>
            <a:pPr lvl="1"/>
            <a:r>
              <a:rPr lang="en-US" altLang="ko-KR" dirty="0"/>
              <a:t>Privacy: We must protect student data. It’s necessary that students’ information do not flow to the public.</a:t>
            </a:r>
          </a:p>
          <a:p>
            <a:pPr lvl="1"/>
            <a:r>
              <a:rPr lang="en-US" altLang="ko-KR" dirty="0"/>
              <a:t>The Danger of AI Agents: If AI chatbots just give the final answer, students stop thinking for themselves.</a:t>
            </a:r>
          </a:p>
          <a:p>
            <a:pPr lvl="2"/>
            <a:r>
              <a:rPr lang="en-US" altLang="ko-KR" dirty="0"/>
              <a:t>AI agent solves complex problems automatically.</a:t>
            </a:r>
          </a:p>
          <a:p>
            <a:pPr lvl="2"/>
            <a:r>
              <a:rPr lang="en-US" altLang="ko-KR" dirty="0"/>
              <a:t>The AI does ALL the thinking.</a:t>
            </a:r>
          </a:p>
          <a:p>
            <a:pPr lvl="2"/>
            <a:r>
              <a:rPr lang="en-US" altLang="ko-KR" dirty="0"/>
              <a:t>Students just wait for the answer.</a:t>
            </a:r>
          </a:p>
          <a:p>
            <a:pPr lvl="2"/>
            <a:r>
              <a:rPr lang="en-US" altLang="ko-KR" dirty="0"/>
              <a:t>Reasoning process is invisible.</a:t>
            </a:r>
          </a:p>
          <a:p>
            <a:pPr lvl="2"/>
            <a:r>
              <a:rPr lang="en-US" altLang="ko-KR" dirty="0"/>
              <a:t>Student thinking is replaced, not supported.</a:t>
            </a:r>
          </a:p>
          <a:p>
            <a:r>
              <a:rPr lang="en-US" altLang="ko-KR" dirty="0"/>
              <a:t>We need an AI that acts as a 'Guide', not a 'Problem Solver'.</a:t>
            </a:r>
          </a:p>
          <a:p>
            <a:endParaRPr lang="en-US" altLang="ko-KR" dirty="0"/>
          </a:p>
          <a:p>
            <a:pPr lvl="1"/>
            <a:endParaRPr lang="ko-KR" altLang="en-US" dirty="0"/>
          </a:p>
        </p:txBody>
      </p:sp>
    </p:spTree>
    <p:extLst>
      <p:ext uri="{BB962C8B-B14F-4D97-AF65-F5344CB8AC3E}">
        <p14:creationId xmlns:p14="http://schemas.microsoft.com/office/powerpoint/2010/main" val="164955898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518F8E9-C970-BCB4-3E98-3DD6CA05A3D9}"/>
              </a:ext>
            </a:extLst>
          </p:cNvPr>
          <p:cNvSpPr>
            <a:spLocks noGrp="1"/>
          </p:cNvSpPr>
          <p:nvPr>
            <p:ph type="title"/>
          </p:nvPr>
        </p:nvSpPr>
        <p:spPr/>
        <p:txBody>
          <a:bodyPr/>
          <a:lstStyle/>
          <a:p>
            <a:r>
              <a:rPr lang="en-US" altLang="ko-KR" dirty="0"/>
              <a:t>Research questions</a:t>
            </a:r>
            <a:endParaRPr lang="ko-KR" altLang="en-US" dirty="0"/>
          </a:p>
        </p:txBody>
      </p:sp>
      <p:sp>
        <p:nvSpPr>
          <p:cNvPr id="3" name="내용 개체 틀 2">
            <a:extLst>
              <a:ext uri="{FF2B5EF4-FFF2-40B4-BE49-F238E27FC236}">
                <a16:creationId xmlns:a16="http://schemas.microsoft.com/office/drawing/2014/main" id="{CA94BC9C-4533-A638-A3B5-F17DE4208FD2}"/>
              </a:ext>
            </a:extLst>
          </p:cNvPr>
          <p:cNvSpPr>
            <a:spLocks noGrp="1"/>
          </p:cNvSpPr>
          <p:nvPr>
            <p:ph idx="1"/>
          </p:nvPr>
        </p:nvSpPr>
        <p:spPr/>
        <p:txBody>
          <a:bodyPr>
            <a:normAutofit/>
          </a:bodyPr>
          <a:lstStyle/>
          <a:p>
            <a:pPr marL="514350" indent="-514350">
              <a:buFont typeface="+mj-lt"/>
              <a:buAutoNum type="arabicPeriod"/>
            </a:pPr>
            <a:r>
              <a:rPr lang="en-US" altLang="ko-KR" dirty="0"/>
              <a:t>What is design guidelines for a school customized science Q&amp;A chatbot using open-source LLM?</a:t>
            </a:r>
          </a:p>
          <a:p>
            <a:pPr marL="514350" indent="-514350">
              <a:buFont typeface="+mj-lt"/>
              <a:buAutoNum type="arabicPeriod"/>
            </a:pPr>
            <a:endParaRPr lang="en-US" altLang="ko-KR" dirty="0"/>
          </a:p>
          <a:p>
            <a:pPr marL="514350" indent="-514350">
              <a:buFont typeface="+mj-lt"/>
              <a:buAutoNum type="arabicPeriod"/>
            </a:pPr>
            <a:r>
              <a:rPr lang="en-US" altLang="ko-KR" dirty="0"/>
              <a:t>How can we implement a school customized science Q&amp;A chatbot which is applied hybrid approach combined with RAG and IRQA?</a:t>
            </a:r>
            <a:endParaRPr lang="ko-KR" altLang="en-US" dirty="0"/>
          </a:p>
        </p:txBody>
      </p:sp>
    </p:spTree>
    <p:extLst>
      <p:ext uri="{BB962C8B-B14F-4D97-AF65-F5344CB8AC3E}">
        <p14:creationId xmlns:p14="http://schemas.microsoft.com/office/powerpoint/2010/main" val="401021706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DBADEB5-718C-205D-6897-CB7BA7FCA3D9}"/>
              </a:ext>
            </a:extLst>
          </p:cNvPr>
          <p:cNvSpPr>
            <a:spLocks noGrp="1"/>
          </p:cNvSpPr>
          <p:nvPr>
            <p:ph type="title"/>
          </p:nvPr>
        </p:nvSpPr>
        <p:spPr/>
        <p:txBody>
          <a:bodyPr/>
          <a:lstStyle/>
          <a:p>
            <a:r>
              <a:rPr lang="en-US" altLang="ko-KR" dirty="0"/>
              <a:t>Methods 1</a:t>
            </a:r>
            <a:endParaRPr lang="ko-KR" altLang="en-US" dirty="0"/>
          </a:p>
        </p:txBody>
      </p:sp>
      <p:sp>
        <p:nvSpPr>
          <p:cNvPr id="3" name="내용 개체 틀 2">
            <a:extLst>
              <a:ext uri="{FF2B5EF4-FFF2-40B4-BE49-F238E27FC236}">
                <a16:creationId xmlns:a16="http://schemas.microsoft.com/office/drawing/2014/main" id="{7231A444-0825-9051-A500-7082EDBDA287}"/>
              </a:ext>
            </a:extLst>
          </p:cNvPr>
          <p:cNvSpPr>
            <a:spLocks noGrp="1"/>
          </p:cNvSpPr>
          <p:nvPr>
            <p:ph idx="1"/>
          </p:nvPr>
        </p:nvSpPr>
        <p:spPr>
          <a:xfrm>
            <a:off x="838199" y="1825624"/>
            <a:ext cx="11236570" cy="5032375"/>
          </a:xfrm>
        </p:spPr>
        <p:txBody>
          <a:bodyPr>
            <a:normAutofit/>
          </a:bodyPr>
          <a:lstStyle/>
          <a:p>
            <a:r>
              <a:rPr lang="en-US" altLang="ko-KR" dirty="0"/>
              <a:t>This research took 5 years, from 2020 to 2025.</a:t>
            </a:r>
          </a:p>
          <a:p>
            <a:pPr lvl="1"/>
            <a:r>
              <a:rPr lang="en-US" altLang="ko-KR" dirty="0"/>
              <a:t>Cycle 1 (2020~2022) – Doc2Vec. IRQA only. (Min &amp; Yoo, 2022)</a:t>
            </a:r>
          </a:p>
          <a:p>
            <a:pPr lvl="1"/>
            <a:r>
              <a:rPr lang="en-US" altLang="ko-KR" dirty="0"/>
              <a:t>Cycle 2 (2023) – </a:t>
            </a:r>
            <a:r>
              <a:rPr lang="fr-FR" altLang="ko-KR" dirty="0"/>
              <a:t>Sentence-BERT. IRQA improved</a:t>
            </a:r>
            <a:r>
              <a:rPr lang="en-US" altLang="ko-KR" dirty="0"/>
              <a:t>. (Min &amp; Yoo, 2024)</a:t>
            </a:r>
          </a:p>
          <a:p>
            <a:pPr lvl="1"/>
            <a:r>
              <a:rPr lang="en-US" altLang="ko-KR" dirty="0"/>
              <a:t>Cycle 3 (2024) – Open-Source LLM + RAG. (Min &amp; Yoo, 2025)</a:t>
            </a:r>
          </a:p>
          <a:p>
            <a:pPr lvl="1"/>
            <a:r>
              <a:rPr lang="en-US" altLang="ko-KR" dirty="0"/>
              <a:t>Cycle 4 (2025~now) – LLM + RAG + IRQA</a:t>
            </a:r>
          </a:p>
          <a:p>
            <a:r>
              <a:rPr lang="en-US" altLang="ko-KR" dirty="0"/>
              <a:t>Because I am a teacher in a high school, I could test this directly with my students — this is called Design-Based Research (DBR).</a:t>
            </a:r>
          </a:p>
          <a:p>
            <a:pPr lvl="1"/>
            <a:r>
              <a:rPr lang="en-US" altLang="ko-KR" dirty="0"/>
              <a:t>5 years of continuous field research.</a:t>
            </a:r>
          </a:p>
          <a:p>
            <a:pPr lvl="1"/>
            <a:r>
              <a:rPr lang="en-US" altLang="ko-KR" dirty="0"/>
              <a:t>60,000+ real Q&amp;A pairs collected in class.</a:t>
            </a:r>
          </a:p>
          <a:p>
            <a:pPr lvl="1"/>
            <a:r>
              <a:rPr lang="fr-FR" altLang="ko-KR" dirty="0"/>
              <a:t>4 cycles of </a:t>
            </a:r>
            <a:r>
              <a:rPr lang="en-US" altLang="ko-KR" dirty="0"/>
              <a:t>of design, test, and improvement.</a:t>
            </a:r>
          </a:p>
          <a:p>
            <a:r>
              <a:rPr lang="fr-FR" altLang="ko-KR" dirty="0"/>
              <a:t>Also, we investigated related works. (Kuhail et al, 2023; ...)</a:t>
            </a:r>
          </a:p>
        </p:txBody>
      </p:sp>
    </p:spTree>
    <p:extLst>
      <p:ext uri="{BB962C8B-B14F-4D97-AF65-F5344CB8AC3E}">
        <p14:creationId xmlns:p14="http://schemas.microsoft.com/office/powerpoint/2010/main" val="123238230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F2A0DDB-41B2-08B9-BF4C-BCD15D84819C}"/>
              </a:ext>
            </a:extLst>
          </p:cNvPr>
          <p:cNvSpPr>
            <a:spLocks noGrp="1"/>
          </p:cNvSpPr>
          <p:nvPr>
            <p:ph type="title"/>
          </p:nvPr>
        </p:nvSpPr>
        <p:spPr/>
        <p:txBody>
          <a:bodyPr/>
          <a:lstStyle/>
          <a:p>
            <a:r>
              <a:rPr lang="en-US" altLang="ko-KR" dirty="0"/>
              <a:t>Methods 2</a:t>
            </a:r>
            <a:endParaRPr lang="ko-KR" altLang="en-US" dirty="0"/>
          </a:p>
        </p:txBody>
      </p:sp>
      <p:sp>
        <p:nvSpPr>
          <p:cNvPr id="3" name="내용 개체 틀 2">
            <a:extLst>
              <a:ext uri="{FF2B5EF4-FFF2-40B4-BE49-F238E27FC236}">
                <a16:creationId xmlns:a16="http://schemas.microsoft.com/office/drawing/2014/main" id="{6AA8D675-6D67-116F-E8BC-250CAD577A11}"/>
              </a:ext>
            </a:extLst>
          </p:cNvPr>
          <p:cNvSpPr>
            <a:spLocks noGrp="1"/>
          </p:cNvSpPr>
          <p:nvPr>
            <p:ph idx="1"/>
          </p:nvPr>
        </p:nvSpPr>
        <p:spPr>
          <a:xfrm>
            <a:off x="838200" y="1825625"/>
            <a:ext cx="10515600" cy="4821360"/>
          </a:xfrm>
        </p:spPr>
        <p:txBody>
          <a:bodyPr/>
          <a:lstStyle/>
          <a:p>
            <a:r>
              <a:rPr lang="en-US" altLang="ko-KR" dirty="0"/>
              <a:t>To conduct research, we made a local web server with AI implementation.</a:t>
            </a:r>
          </a:p>
          <a:p>
            <a:pPr lvl="1"/>
            <a:endParaRPr lang="en-US" altLang="ko-KR" dirty="0"/>
          </a:p>
          <a:p>
            <a:pPr lvl="1"/>
            <a:r>
              <a:rPr lang="en-US" altLang="ko-KR" dirty="0"/>
              <a:t>Hardware</a:t>
            </a:r>
          </a:p>
          <a:p>
            <a:pPr lvl="2"/>
            <a:r>
              <a:rPr lang="en-US" altLang="ko-KR" dirty="0"/>
              <a:t>Intel 14</a:t>
            </a:r>
            <a:r>
              <a:rPr lang="en-US" altLang="ko-KR" baseline="30000" dirty="0"/>
              <a:t>th</a:t>
            </a:r>
            <a:r>
              <a:rPr lang="en-US" altLang="ko-KR" dirty="0"/>
              <a:t> Core i7 CPU, Nvidia GeForce RTX 4080S 16GB</a:t>
            </a:r>
          </a:p>
          <a:p>
            <a:pPr lvl="1"/>
            <a:endParaRPr lang="en-US" altLang="ko-KR" dirty="0"/>
          </a:p>
          <a:p>
            <a:pPr lvl="1"/>
            <a:r>
              <a:rPr lang="en-US" altLang="ko-KR" dirty="0"/>
              <a:t>Software</a:t>
            </a:r>
          </a:p>
          <a:p>
            <a:pPr lvl="2"/>
            <a:r>
              <a:rPr lang="en-US" altLang="ko-KR" dirty="0"/>
              <a:t>OS: Ubuntu 24.04 LTS</a:t>
            </a:r>
          </a:p>
          <a:p>
            <a:pPr lvl="2"/>
            <a:r>
              <a:rPr lang="en-US" altLang="ko-KR" dirty="0"/>
              <a:t>Main programming language: Python 3.12</a:t>
            </a:r>
          </a:p>
          <a:p>
            <a:pPr lvl="2"/>
            <a:r>
              <a:rPr lang="en-US" altLang="ko-KR" dirty="0"/>
              <a:t>Open-source LLM: Google Gemma 3 12B powered by </a:t>
            </a:r>
            <a:r>
              <a:rPr lang="en-US" altLang="ko-KR" dirty="0" err="1"/>
              <a:t>Ollama</a:t>
            </a:r>
            <a:br>
              <a:rPr lang="en-US" altLang="ko-KR" dirty="0"/>
            </a:br>
            <a:r>
              <a:rPr lang="en-US" altLang="ko-KR" dirty="0"/>
              <a:t>(upgraded to Gemma 4 last week)</a:t>
            </a:r>
          </a:p>
          <a:p>
            <a:pPr lvl="2"/>
            <a:r>
              <a:rPr lang="en-US" altLang="ko-KR" dirty="0"/>
              <a:t>Framework and Databases, etc. : </a:t>
            </a:r>
            <a:r>
              <a:rPr lang="en-US" altLang="ko-KR" dirty="0" err="1"/>
              <a:t>LangChain</a:t>
            </a:r>
            <a:r>
              <a:rPr lang="en-US" altLang="ko-KR" dirty="0"/>
              <a:t>, FAISS, Sentence-BERT, MariaDB, …</a:t>
            </a:r>
          </a:p>
          <a:p>
            <a:pPr lvl="2"/>
            <a:r>
              <a:rPr lang="en-US" altLang="ko-KR" dirty="0"/>
              <a:t>Front-end: </a:t>
            </a:r>
            <a:r>
              <a:rPr lang="en-US" altLang="ko-KR" dirty="0" err="1"/>
              <a:t>Chainlit</a:t>
            </a:r>
            <a:endParaRPr lang="ko-KR" altLang="en-US" dirty="0"/>
          </a:p>
        </p:txBody>
      </p:sp>
    </p:spTree>
    <p:extLst>
      <p:ext uri="{BB962C8B-B14F-4D97-AF65-F5344CB8AC3E}">
        <p14:creationId xmlns:p14="http://schemas.microsoft.com/office/powerpoint/2010/main" val="170971329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3D23D4B-3881-9F2E-6C46-821AB5C79C28}"/>
              </a:ext>
            </a:extLst>
          </p:cNvPr>
          <p:cNvSpPr>
            <a:spLocks noGrp="1"/>
          </p:cNvSpPr>
          <p:nvPr>
            <p:ph type="title"/>
          </p:nvPr>
        </p:nvSpPr>
        <p:spPr/>
        <p:txBody>
          <a:bodyPr/>
          <a:lstStyle/>
          <a:p>
            <a:r>
              <a:rPr lang="en-US" altLang="ko-KR" dirty="0"/>
              <a:t>Our Solution: A Hybrid Approach</a:t>
            </a:r>
            <a:endParaRPr lang="ko-KR" altLang="en-US" dirty="0"/>
          </a:p>
        </p:txBody>
      </p:sp>
      <p:sp>
        <p:nvSpPr>
          <p:cNvPr id="3" name="내용 개체 틀 2">
            <a:extLst>
              <a:ext uri="{FF2B5EF4-FFF2-40B4-BE49-F238E27FC236}">
                <a16:creationId xmlns:a16="http://schemas.microsoft.com/office/drawing/2014/main" id="{5685C278-D07E-ACBC-50F5-BC33BA3B10E4}"/>
              </a:ext>
            </a:extLst>
          </p:cNvPr>
          <p:cNvSpPr>
            <a:spLocks noGrp="1"/>
          </p:cNvSpPr>
          <p:nvPr>
            <p:ph idx="1"/>
          </p:nvPr>
        </p:nvSpPr>
        <p:spPr>
          <a:xfrm>
            <a:off x="838199" y="1825624"/>
            <a:ext cx="10802815" cy="5032375"/>
          </a:xfrm>
        </p:spPr>
        <p:txBody>
          <a:bodyPr>
            <a:normAutofit/>
          </a:bodyPr>
          <a:lstStyle/>
          <a:p>
            <a:r>
              <a:rPr lang="en-US" altLang="ko-KR" dirty="0"/>
              <a:t>To solve these real classroom problems, we made a new system.</a:t>
            </a:r>
          </a:p>
          <a:p>
            <a:pPr lvl="1"/>
            <a:r>
              <a:rPr lang="en-US" altLang="ko-KR" dirty="0"/>
              <a:t>No API costs using open-source LLM – like Google Gemma 3 12B.</a:t>
            </a:r>
          </a:p>
          <a:p>
            <a:pPr lvl="1"/>
            <a:r>
              <a:rPr lang="en-US" altLang="ko-KR" dirty="0"/>
              <a:t>Runs on a local school server – No student data leaves the school.</a:t>
            </a:r>
          </a:p>
          <a:p>
            <a:pPr lvl="1"/>
            <a:r>
              <a:rPr lang="en-US" altLang="ko-KR" dirty="0"/>
              <a:t>Hybrid system – RAG + IRQA for accurate answers and peer learning.</a:t>
            </a:r>
          </a:p>
          <a:p>
            <a:endParaRPr lang="en-US" altLang="ko-KR" dirty="0"/>
          </a:p>
          <a:p>
            <a:r>
              <a:rPr lang="en-US" altLang="ko-KR" dirty="0"/>
              <a:t>By applying these hybrid approach, AI chatbots can be a guide.</a:t>
            </a:r>
          </a:p>
          <a:p>
            <a:pPr lvl="1"/>
            <a:r>
              <a:rPr lang="en-US" altLang="ko-KR" dirty="0"/>
              <a:t>Provides relevant information only.</a:t>
            </a:r>
          </a:p>
          <a:p>
            <a:pPr lvl="1"/>
            <a:r>
              <a:rPr lang="en-US" altLang="ko-KR" dirty="0"/>
              <a:t>Students still have to think and decide. – Active thinking is facilitated.</a:t>
            </a:r>
          </a:p>
          <a:p>
            <a:pPr lvl="1"/>
            <a:r>
              <a:rPr lang="en-US" altLang="ko-KR" dirty="0"/>
              <a:t>LLM’s reasoning process is shown step-by-step.</a:t>
            </a:r>
          </a:p>
          <a:p>
            <a:pPr lvl="1"/>
            <a:r>
              <a:rPr lang="en-US" altLang="ko-KR" dirty="0"/>
              <a:t>Teachers can control chatbot’s answers with its dataset.</a:t>
            </a:r>
          </a:p>
        </p:txBody>
      </p:sp>
    </p:spTree>
    <p:extLst>
      <p:ext uri="{BB962C8B-B14F-4D97-AF65-F5344CB8AC3E}">
        <p14:creationId xmlns:p14="http://schemas.microsoft.com/office/powerpoint/2010/main" val="319585271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B3DF939-3476-9FEF-4C02-ABAF5C3CE51F}"/>
              </a:ext>
            </a:extLst>
          </p:cNvPr>
          <p:cNvSpPr>
            <a:spLocks noGrp="1"/>
          </p:cNvSpPr>
          <p:nvPr>
            <p:ph type="title"/>
          </p:nvPr>
        </p:nvSpPr>
        <p:spPr>
          <a:xfrm>
            <a:off x="838200" y="365125"/>
            <a:ext cx="11353800" cy="1325563"/>
          </a:xfrm>
        </p:spPr>
        <p:txBody>
          <a:bodyPr/>
          <a:lstStyle/>
          <a:p>
            <a:r>
              <a:rPr lang="en-US" altLang="ko-KR" dirty="0"/>
              <a:t>Two Core Technologies for hybrid approach</a:t>
            </a:r>
            <a:endParaRPr lang="ko-KR" altLang="en-US" dirty="0"/>
          </a:p>
        </p:txBody>
      </p:sp>
      <p:sp>
        <p:nvSpPr>
          <p:cNvPr id="3" name="내용 개체 틀 2">
            <a:extLst>
              <a:ext uri="{FF2B5EF4-FFF2-40B4-BE49-F238E27FC236}">
                <a16:creationId xmlns:a16="http://schemas.microsoft.com/office/drawing/2014/main" id="{2DD5D5FC-2540-AF67-EAB2-E93B6593111D}"/>
              </a:ext>
            </a:extLst>
          </p:cNvPr>
          <p:cNvSpPr>
            <a:spLocks noGrp="1"/>
          </p:cNvSpPr>
          <p:nvPr>
            <p:ph idx="1"/>
          </p:nvPr>
        </p:nvSpPr>
        <p:spPr>
          <a:xfrm>
            <a:off x="838199" y="1825624"/>
            <a:ext cx="10662139" cy="4844807"/>
          </a:xfrm>
        </p:spPr>
        <p:txBody>
          <a:bodyPr/>
          <a:lstStyle/>
          <a:p>
            <a:r>
              <a:rPr lang="en-US" altLang="ko-KR" dirty="0"/>
              <a:t>RAG (Retrieval-Augmented Generation) for grounded answers</a:t>
            </a:r>
          </a:p>
          <a:p>
            <a:pPr lvl="1"/>
            <a:r>
              <a:rPr lang="en-US" altLang="ko-KR" dirty="0"/>
              <a:t>AI reads contexts about students’ question before answering.</a:t>
            </a:r>
          </a:p>
          <a:p>
            <a:pPr lvl="1"/>
            <a:r>
              <a:rPr lang="en-US" altLang="ko-KR" dirty="0"/>
              <a:t>Contexts:</a:t>
            </a:r>
          </a:p>
          <a:p>
            <a:pPr lvl="2"/>
            <a:r>
              <a:rPr lang="en-US" altLang="ko-KR" dirty="0"/>
              <a:t>4 pairs of the actual students’ questions and teacher’s answers.</a:t>
            </a:r>
          </a:p>
          <a:p>
            <a:pPr lvl="2"/>
            <a:r>
              <a:rPr lang="en-US" altLang="ko-KR" dirty="0"/>
              <a:t>6 corpuses of the actual science textbooks.</a:t>
            </a:r>
          </a:p>
          <a:p>
            <a:pPr lvl="1"/>
            <a:r>
              <a:rPr lang="en-US" altLang="ko-KR" dirty="0"/>
              <a:t>Benefits: It answers based on Q&amp;A pairs and the textbooks. So it reduces hallucination.</a:t>
            </a:r>
          </a:p>
          <a:p>
            <a:pPr lvl="1"/>
            <a:endParaRPr lang="en-US" altLang="ko-KR" dirty="0"/>
          </a:p>
          <a:p>
            <a:r>
              <a:rPr lang="fr-FR" altLang="ko-KR" dirty="0"/>
              <a:t>IRQA (Information Retrieval Q&amp;A) for peer learning</a:t>
            </a:r>
          </a:p>
          <a:p>
            <a:pPr lvl="1"/>
            <a:r>
              <a:rPr lang="en-US" altLang="ko-KR" dirty="0"/>
              <a:t>System searches past student questions and shows similar Q&amp;A pairs.</a:t>
            </a:r>
          </a:p>
          <a:p>
            <a:pPr lvl="1"/>
            <a:r>
              <a:rPr lang="en-US" altLang="ko-KR" dirty="0"/>
              <a:t>Benefits: Like reading a friend's study notes, students feel they are not studying alone by showing actual students’ Q&amp;A pairs.</a:t>
            </a:r>
          </a:p>
        </p:txBody>
      </p:sp>
    </p:spTree>
    <p:extLst>
      <p:ext uri="{BB962C8B-B14F-4D97-AF65-F5344CB8AC3E}">
        <p14:creationId xmlns:p14="http://schemas.microsoft.com/office/powerpoint/2010/main" val="82623550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B57E449-B3F1-B7FC-B9B2-6491ADBB03BF}"/>
              </a:ext>
            </a:extLst>
          </p:cNvPr>
          <p:cNvSpPr>
            <a:spLocks noGrp="1"/>
          </p:cNvSpPr>
          <p:nvPr>
            <p:ph type="title"/>
          </p:nvPr>
        </p:nvSpPr>
        <p:spPr/>
        <p:txBody>
          <a:bodyPr>
            <a:normAutofit/>
          </a:bodyPr>
          <a:lstStyle/>
          <a:p>
            <a:r>
              <a:rPr lang="en-US" altLang="ko-KR" dirty="0"/>
              <a:t>Results 1 </a:t>
            </a:r>
            <a:r>
              <a:rPr lang="en-US" altLang="ko-KR" sz="1300" dirty="0"/>
              <a:t>What is design guidelines for a school customized science Q&amp;A chatbot using open-source LLM?</a:t>
            </a:r>
            <a:endParaRPr lang="ko-KR" altLang="en-US" dirty="0"/>
          </a:p>
        </p:txBody>
      </p:sp>
      <p:sp>
        <p:nvSpPr>
          <p:cNvPr id="3" name="내용 개체 틀 2">
            <a:extLst>
              <a:ext uri="{FF2B5EF4-FFF2-40B4-BE49-F238E27FC236}">
                <a16:creationId xmlns:a16="http://schemas.microsoft.com/office/drawing/2014/main" id="{A40ED8A4-0A9F-AA57-3387-013099DD9F04}"/>
              </a:ext>
            </a:extLst>
          </p:cNvPr>
          <p:cNvSpPr>
            <a:spLocks noGrp="1"/>
          </p:cNvSpPr>
          <p:nvPr>
            <p:ph idx="1"/>
          </p:nvPr>
        </p:nvSpPr>
        <p:spPr>
          <a:xfrm>
            <a:off x="838200" y="1825624"/>
            <a:ext cx="10515600" cy="5032375"/>
          </a:xfrm>
        </p:spPr>
        <p:txBody>
          <a:bodyPr/>
          <a:lstStyle/>
          <a:p>
            <a:r>
              <a:rPr lang="en-US" altLang="ko-KR" dirty="0"/>
              <a:t>The 7 Design Guidelines</a:t>
            </a:r>
          </a:p>
          <a:p>
            <a:pPr marL="914400" lvl="1" indent="-457200">
              <a:buFont typeface="+mj-lt"/>
              <a:buAutoNum type="arabicPeriod"/>
            </a:pPr>
            <a:r>
              <a:rPr lang="en-US" altLang="ko-KR" dirty="0"/>
              <a:t>Personalized Help</a:t>
            </a:r>
          </a:p>
          <a:p>
            <a:pPr lvl="2"/>
            <a:r>
              <a:rPr lang="en-US" altLang="ko-KR" dirty="0"/>
              <a:t>Answer the specific question clearly and at the right level for the student.</a:t>
            </a:r>
          </a:p>
          <a:p>
            <a:pPr lvl="2"/>
            <a:r>
              <a:rPr lang="en-US" altLang="ko-KR" dirty="0"/>
              <a:t>Use the student's own words when possible.</a:t>
            </a:r>
          </a:p>
          <a:p>
            <a:pPr lvl="2"/>
            <a:r>
              <a:rPr lang="en-US" altLang="ko-KR" dirty="0"/>
              <a:t>Implemented by: LLM (generates personalized response)</a:t>
            </a:r>
          </a:p>
          <a:p>
            <a:pPr marL="914400" lvl="1" indent="-457200">
              <a:buFont typeface="+mj-lt"/>
              <a:buAutoNum type="arabicPeriod"/>
            </a:pPr>
            <a:r>
              <a:rPr lang="en-US" altLang="ko-KR" dirty="0"/>
              <a:t>Direct Context (RAG)</a:t>
            </a:r>
          </a:p>
          <a:p>
            <a:pPr lvl="2"/>
            <a:r>
              <a:rPr lang="en-US" altLang="ko-KR" dirty="0"/>
              <a:t>Use only verified school materials — textbooks and teacher-made Q&amp;A pairs.</a:t>
            </a:r>
          </a:p>
          <a:p>
            <a:pPr lvl="2"/>
            <a:r>
              <a:rPr lang="en-US" altLang="ko-KR" dirty="0"/>
              <a:t>Do not use random internet information.</a:t>
            </a:r>
          </a:p>
          <a:p>
            <a:pPr lvl="2"/>
            <a:r>
              <a:rPr lang="en-US" altLang="ko-KR" dirty="0"/>
              <a:t>Implemented by: RAG pipeline + FAISS vector store search</a:t>
            </a:r>
          </a:p>
          <a:p>
            <a:pPr marL="914400" lvl="1" indent="-457200">
              <a:buFont typeface="+mj-lt"/>
              <a:buAutoNum type="arabicPeriod"/>
            </a:pPr>
            <a:r>
              <a:rPr lang="en-US" altLang="ko-KR" dirty="0"/>
              <a:t>Small-talk</a:t>
            </a:r>
          </a:p>
          <a:p>
            <a:pPr lvl="2"/>
            <a:r>
              <a:rPr lang="en-US" altLang="ko-KR" dirty="0"/>
              <a:t>Allow friendly small-talk to build student trust.</a:t>
            </a:r>
          </a:p>
          <a:p>
            <a:pPr lvl="2"/>
            <a:r>
              <a:rPr lang="en-US" altLang="ko-KR" dirty="0"/>
              <a:t>Students should feel comfortable talking to the chatbot.</a:t>
            </a:r>
          </a:p>
          <a:p>
            <a:pPr lvl="2"/>
            <a:r>
              <a:rPr lang="en-US" altLang="ko-KR" dirty="0"/>
              <a:t>Implemented by: LLM (naturally handles casual conversation)</a:t>
            </a:r>
          </a:p>
          <a:p>
            <a:pPr lvl="2"/>
            <a:endParaRPr lang="en-US" altLang="ko-KR" dirty="0"/>
          </a:p>
          <a:p>
            <a:pPr lvl="2"/>
            <a:endParaRPr lang="ko-KR" altLang="en-US" dirty="0"/>
          </a:p>
        </p:txBody>
      </p:sp>
    </p:spTree>
    <p:extLst>
      <p:ext uri="{BB962C8B-B14F-4D97-AF65-F5344CB8AC3E}">
        <p14:creationId xmlns:p14="http://schemas.microsoft.com/office/powerpoint/2010/main" val="59385790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B57E449-B3F1-B7FC-B9B2-6491ADBB03BF}"/>
              </a:ext>
            </a:extLst>
          </p:cNvPr>
          <p:cNvSpPr>
            <a:spLocks noGrp="1"/>
          </p:cNvSpPr>
          <p:nvPr>
            <p:ph type="title"/>
          </p:nvPr>
        </p:nvSpPr>
        <p:spPr/>
        <p:txBody>
          <a:bodyPr>
            <a:normAutofit/>
          </a:bodyPr>
          <a:lstStyle/>
          <a:p>
            <a:r>
              <a:rPr lang="en-US" altLang="ko-KR" dirty="0"/>
              <a:t>Results 1 </a:t>
            </a:r>
            <a:r>
              <a:rPr lang="en-US" altLang="ko-KR" sz="1300" dirty="0"/>
              <a:t>What is design guidelines for a school customized science Q&amp;A chatbot using open-source LLM?</a:t>
            </a:r>
            <a:endParaRPr lang="ko-KR" altLang="en-US" sz="1300" dirty="0"/>
          </a:p>
        </p:txBody>
      </p:sp>
      <p:sp>
        <p:nvSpPr>
          <p:cNvPr id="3" name="내용 개체 틀 2">
            <a:extLst>
              <a:ext uri="{FF2B5EF4-FFF2-40B4-BE49-F238E27FC236}">
                <a16:creationId xmlns:a16="http://schemas.microsoft.com/office/drawing/2014/main" id="{A40ED8A4-0A9F-AA57-3387-013099DD9F04}"/>
              </a:ext>
            </a:extLst>
          </p:cNvPr>
          <p:cNvSpPr>
            <a:spLocks noGrp="1"/>
          </p:cNvSpPr>
          <p:nvPr>
            <p:ph idx="1"/>
          </p:nvPr>
        </p:nvSpPr>
        <p:spPr>
          <a:xfrm>
            <a:off x="838200" y="1825624"/>
            <a:ext cx="10515600" cy="5032375"/>
          </a:xfrm>
        </p:spPr>
        <p:txBody>
          <a:bodyPr>
            <a:normAutofit lnSpcReduction="10000"/>
          </a:bodyPr>
          <a:lstStyle/>
          <a:p>
            <a:pPr marL="914400" lvl="1" indent="-457200">
              <a:buFont typeface="+mj-lt"/>
              <a:buAutoNum type="arabicPeriod" startAt="4"/>
            </a:pPr>
            <a:r>
              <a:rPr lang="en-US" altLang="ko-KR" dirty="0"/>
              <a:t>Emotional Support</a:t>
            </a:r>
          </a:p>
          <a:p>
            <a:pPr lvl="2"/>
            <a:r>
              <a:rPr lang="en-US" altLang="ko-KR" dirty="0"/>
              <a:t>Recognize if a student is stressed or upset. Respond with empathy.</a:t>
            </a:r>
          </a:p>
          <a:p>
            <a:pPr lvl="2"/>
            <a:r>
              <a:rPr lang="en-US" altLang="ko-KR" dirty="0"/>
              <a:t>Implemented by: LLM + RAG (real student conversations as reference)</a:t>
            </a:r>
          </a:p>
          <a:p>
            <a:pPr marL="914400" lvl="1" indent="-457200">
              <a:buFont typeface="+mj-lt"/>
              <a:buAutoNum type="arabicPeriod" startAt="4"/>
            </a:pPr>
            <a:r>
              <a:rPr lang="en-US" altLang="ko-KR" dirty="0"/>
              <a:t>Scaffolding (IRQA)</a:t>
            </a:r>
          </a:p>
          <a:p>
            <a:pPr lvl="2"/>
            <a:r>
              <a:rPr lang="en-US" altLang="ko-KR" dirty="0"/>
              <a:t>Show similar questions to help students think more deeply — not just give the answer.</a:t>
            </a:r>
          </a:p>
          <a:p>
            <a:pPr lvl="2"/>
            <a:r>
              <a:rPr lang="en-US" altLang="ko-KR" dirty="0"/>
              <a:t>Implemented by: IRQA (searches 30,000+ past Q&amp;A pairs)</a:t>
            </a:r>
          </a:p>
          <a:p>
            <a:pPr marL="914400" lvl="1" indent="-457200">
              <a:buFont typeface="+mj-lt"/>
              <a:buAutoNum type="arabicPeriod" startAt="4"/>
            </a:pPr>
            <a:r>
              <a:rPr lang="en-US" altLang="ko-KR" dirty="0"/>
              <a:t>Stable Server</a:t>
            </a:r>
          </a:p>
          <a:p>
            <a:pPr lvl="2"/>
            <a:r>
              <a:rPr lang="en-US" altLang="ko-KR" dirty="0"/>
              <a:t>Run safely 24 hours / 7 days on a local school computer. Students study at night and on weekends too.</a:t>
            </a:r>
          </a:p>
          <a:p>
            <a:pPr lvl="2"/>
            <a:r>
              <a:rPr lang="en-US" altLang="ko-KR" dirty="0"/>
              <a:t>Implemented by: Ubuntu Linux local server + nginx HTTPS</a:t>
            </a:r>
          </a:p>
          <a:p>
            <a:pPr marL="914400" lvl="1" indent="-457200">
              <a:buFont typeface="+mj-lt"/>
              <a:buAutoNum type="arabicPeriod" startAt="4"/>
            </a:pPr>
            <a:r>
              <a:rPr lang="en-US" altLang="ko-KR" dirty="0"/>
              <a:t>Easy Access</a:t>
            </a:r>
          </a:p>
          <a:p>
            <a:pPr lvl="2"/>
            <a:r>
              <a:rPr lang="en-US" altLang="ko-KR" dirty="0"/>
              <a:t>Must work well on student smartphones. Simple web interface, no app installation needed.</a:t>
            </a:r>
          </a:p>
          <a:p>
            <a:pPr lvl="2"/>
            <a:r>
              <a:rPr lang="en-US" altLang="ko-KR" dirty="0"/>
              <a:t>Implemented by: </a:t>
            </a:r>
            <a:r>
              <a:rPr lang="en-US" altLang="ko-KR" dirty="0" err="1"/>
              <a:t>Chainlit</a:t>
            </a:r>
            <a:r>
              <a:rPr lang="en-US" altLang="ko-KR" dirty="0"/>
              <a:t> responsive web front-end</a:t>
            </a:r>
          </a:p>
          <a:p>
            <a:pPr lvl="2"/>
            <a:endParaRPr lang="ko-KR" altLang="en-US" dirty="0"/>
          </a:p>
        </p:txBody>
      </p:sp>
    </p:spTree>
    <p:extLst>
      <p:ext uri="{BB962C8B-B14F-4D97-AF65-F5344CB8AC3E}">
        <p14:creationId xmlns:p14="http://schemas.microsoft.com/office/powerpoint/2010/main" val="391750409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621D9E4-CA89-9960-B8FA-30C72F336A21}"/>
              </a:ext>
            </a:extLst>
          </p:cNvPr>
          <p:cNvSpPr>
            <a:spLocks noGrp="1"/>
          </p:cNvSpPr>
          <p:nvPr>
            <p:ph type="title"/>
          </p:nvPr>
        </p:nvSpPr>
        <p:spPr/>
        <p:txBody>
          <a:bodyPr/>
          <a:lstStyle/>
          <a:p>
            <a:r>
              <a:rPr lang="en-US" altLang="ko-KR" dirty="0"/>
              <a:t>Results 2</a:t>
            </a:r>
            <a:endParaRPr lang="ko-KR" altLang="en-US" dirty="0"/>
          </a:p>
        </p:txBody>
      </p:sp>
      <p:sp>
        <p:nvSpPr>
          <p:cNvPr id="3" name="내용 개체 틀 2">
            <a:extLst>
              <a:ext uri="{FF2B5EF4-FFF2-40B4-BE49-F238E27FC236}">
                <a16:creationId xmlns:a16="http://schemas.microsoft.com/office/drawing/2014/main" id="{8B03FA3E-FDF6-695C-9998-D1606BE9F7B7}"/>
              </a:ext>
            </a:extLst>
          </p:cNvPr>
          <p:cNvSpPr>
            <a:spLocks noGrp="1"/>
          </p:cNvSpPr>
          <p:nvPr>
            <p:ph idx="1"/>
          </p:nvPr>
        </p:nvSpPr>
        <p:spPr>
          <a:xfrm>
            <a:off x="838199" y="1825625"/>
            <a:ext cx="11260015" cy="4351338"/>
          </a:xfrm>
        </p:spPr>
        <p:txBody>
          <a:bodyPr/>
          <a:lstStyle/>
          <a:p>
            <a:r>
              <a:rPr lang="en-US" altLang="ko-KR" dirty="0"/>
              <a:t>System Architecture: Everything runs safely on a local Linux server.</a:t>
            </a:r>
          </a:p>
          <a:p>
            <a:endParaRPr lang="ko-KR" altLang="en-US" dirty="0"/>
          </a:p>
        </p:txBody>
      </p:sp>
      <p:sp>
        <p:nvSpPr>
          <p:cNvPr id="4" name="Shape 4">
            <a:extLst>
              <a:ext uri="{FF2B5EF4-FFF2-40B4-BE49-F238E27FC236}">
                <a16:creationId xmlns:a16="http://schemas.microsoft.com/office/drawing/2014/main" id="{C71BE99B-D046-8314-0C95-175143B9B64B}"/>
              </a:ext>
            </a:extLst>
          </p:cNvPr>
          <p:cNvSpPr/>
          <p:nvPr/>
        </p:nvSpPr>
        <p:spPr>
          <a:xfrm>
            <a:off x="1089073" y="2398102"/>
            <a:ext cx="8852096" cy="713304"/>
          </a:xfrm>
          <a:prstGeom prst="rect">
            <a:avLst/>
          </a:prstGeom>
          <a:solidFill>
            <a:srgbClr val="0D7377"/>
          </a:solidFill>
          <a:ln w="12700">
            <a:solidFill>
              <a:srgbClr val="0D7377"/>
            </a:solidFill>
            <a:prstDash val="solid"/>
          </a:ln>
        </p:spPr>
        <p:txBody>
          <a:bodyPr/>
          <a:lstStyle/>
          <a:p>
            <a:r>
              <a:rPr lang="en-US" altLang="ko-KR" sz="1800" b="1" dirty="0">
                <a:solidFill>
                  <a:srgbClr val="FFFFFF"/>
                </a:solidFill>
              </a:rPr>
              <a:t>Student / Teacher</a:t>
            </a:r>
            <a:endParaRPr lang="en-US" altLang="ko-KR" sz="1800" dirty="0"/>
          </a:p>
          <a:p>
            <a:r>
              <a:rPr lang="en-US" altLang="ko-KR" sz="1800" dirty="0">
                <a:solidFill>
                  <a:srgbClr val="FFFFFF"/>
                </a:solidFill>
              </a:rPr>
              <a:t>Web browser — phone, tablet, or PC</a:t>
            </a:r>
            <a:endParaRPr lang="en-US" altLang="ko-KR" sz="1800" dirty="0"/>
          </a:p>
          <a:p>
            <a:endParaRPr lang="ko-KR" altLang="en-US" dirty="0"/>
          </a:p>
        </p:txBody>
      </p:sp>
      <p:sp>
        <p:nvSpPr>
          <p:cNvPr id="5" name="Shape 7">
            <a:extLst>
              <a:ext uri="{FF2B5EF4-FFF2-40B4-BE49-F238E27FC236}">
                <a16:creationId xmlns:a16="http://schemas.microsoft.com/office/drawing/2014/main" id="{C8F8D983-4A20-493E-064E-B460A8F17CB7}"/>
              </a:ext>
            </a:extLst>
          </p:cNvPr>
          <p:cNvSpPr/>
          <p:nvPr/>
        </p:nvSpPr>
        <p:spPr>
          <a:xfrm>
            <a:off x="1089073" y="3198226"/>
            <a:ext cx="8852096" cy="713304"/>
          </a:xfrm>
          <a:prstGeom prst="rect">
            <a:avLst/>
          </a:prstGeom>
          <a:solidFill>
            <a:srgbClr val="2B7A78"/>
          </a:solidFill>
          <a:ln w="12700">
            <a:solidFill>
              <a:srgbClr val="2B7A78"/>
            </a:solidFill>
            <a:prstDash val="solid"/>
          </a:ln>
        </p:spPr>
        <p:txBody>
          <a:bodyPr/>
          <a:lstStyle/>
          <a:p>
            <a:r>
              <a:rPr lang="en-US" altLang="ko-KR" sz="1800" b="1" dirty="0">
                <a:solidFill>
                  <a:srgbClr val="FFFFFF"/>
                </a:solidFill>
              </a:rPr>
              <a:t>Frontend  →  </a:t>
            </a:r>
            <a:r>
              <a:rPr lang="en-US" altLang="ko-KR" sz="1800" b="1" dirty="0" err="1">
                <a:solidFill>
                  <a:srgbClr val="FFFFFF"/>
                </a:solidFill>
              </a:rPr>
              <a:t>Chainlit</a:t>
            </a:r>
            <a:endParaRPr lang="en-US" altLang="ko-KR" sz="1800" dirty="0"/>
          </a:p>
          <a:p>
            <a:r>
              <a:rPr lang="en-US" altLang="ko-KR" sz="1800" dirty="0">
                <a:solidFill>
                  <a:srgbClr val="FFFFFF"/>
                </a:solidFill>
              </a:rPr>
              <a:t>Python web chat interface (responsive, works on mobile)</a:t>
            </a:r>
            <a:endParaRPr lang="en-US" altLang="ko-KR" sz="1800" dirty="0"/>
          </a:p>
          <a:p>
            <a:endParaRPr lang="ko-KR" altLang="en-US" dirty="0"/>
          </a:p>
        </p:txBody>
      </p:sp>
      <p:sp>
        <p:nvSpPr>
          <p:cNvPr id="6" name="Shape 10">
            <a:extLst>
              <a:ext uri="{FF2B5EF4-FFF2-40B4-BE49-F238E27FC236}">
                <a16:creationId xmlns:a16="http://schemas.microsoft.com/office/drawing/2014/main" id="{933863C2-3889-D8EF-16D0-C46711DE00B5}"/>
              </a:ext>
            </a:extLst>
          </p:cNvPr>
          <p:cNvSpPr/>
          <p:nvPr/>
        </p:nvSpPr>
        <p:spPr>
          <a:xfrm>
            <a:off x="1089073" y="3998350"/>
            <a:ext cx="8852096" cy="713304"/>
          </a:xfrm>
          <a:prstGeom prst="rect">
            <a:avLst/>
          </a:prstGeom>
          <a:solidFill>
            <a:srgbClr val="1B5E6B"/>
          </a:solidFill>
          <a:ln w="12700">
            <a:solidFill>
              <a:srgbClr val="1B5E6B"/>
            </a:solidFill>
            <a:prstDash val="solid"/>
          </a:ln>
        </p:spPr>
        <p:txBody>
          <a:bodyPr/>
          <a:lstStyle/>
          <a:p>
            <a:r>
              <a:rPr lang="en-US" altLang="ko-KR" sz="1800" b="1" dirty="0">
                <a:solidFill>
                  <a:srgbClr val="FFFFFF"/>
                </a:solidFill>
              </a:rPr>
              <a:t>RAG Pipeline  →  </a:t>
            </a:r>
            <a:r>
              <a:rPr lang="en-US" altLang="ko-KR" sz="1800" b="1" dirty="0" err="1">
                <a:solidFill>
                  <a:srgbClr val="FFFFFF"/>
                </a:solidFill>
              </a:rPr>
              <a:t>LangChain</a:t>
            </a:r>
            <a:r>
              <a:rPr lang="en-US" altLang="ko-KR" sz="1800" b="1" dirty="0">
                <a:solidFill>
                  <a:srgbClr val="FFFFFF"/>
                </a:solidFill>
              </a:rPr>
              <a:t> + FAISS + Sentence-BERT (KURE-v1)</a:t>
            </a:r>
            <a:endParaRPr lang="en-US" altLang="ko-KR" sz="1800" dirty="0"/>
          </a:p>
          <a:p>
            <a:r>
              <a:rPr lang="en-US" altLang="ko-KR" sz="1800" dirty="0">
                <a:solidFill>
                  <a:srgbClr val="FFFFFF"/>
                </a:solidFill>
              </a:rPr>
              <a:t>Retrieves top 6 textbook paragraphs + top 4 Q&amp;A pairs, builds context for LLM</a:t>
            </a:r>
            <a:endParaRPr lang="en-US" altLang="ko-KR" sz="1800" dirty="0"/>
          </a:p>
          <a:p>
            <a:endParaRPr lang="ko-KR" altLang="en-US" dirty="0"/>
          </a:p>
        </p:txBody>
      </p:sp>
      <p:sp>
        <p:nvSpPr>
          <p:cNvPr id="7" name="Shape 13">
            <a:extLst>
              <a:ext uri="{FF2B5EF4-FFF2-40B4-BE49-F238E27FC236}">
                <a16:creationId xmlns:a16="http://schemas.microsoft.com/office/drawing/2014/main" id="{CCDBD05F-7F6F-3134-2B9F-89AF436F3C55}"/>
              </a:ext>
            </a:extLst>
          </p:cNvPr>
          <p:cNvSpPr/>
          <p:nvPr/>
        </p:nvSpPr>
        <p:spPr>
          <a:xfrm>
            <a:off x="1089073" y="4798474"/>
            <a:ext cx="8852096" cy="713304"/>
          </a:xfrm>
          <a:prstGeom prst="rect">
            <a:avLst/>
          </a:prstGeom>
          <a:solidFill>
            <a:srgbClr val="1B3A5C"/>
          </a:solidFill>
          <a:ln w="12700">
            <a:solidFill>
              <a:srgbClr val="1B3A5C"/>
            </a:solidFill>
            <a:prstDash val="solid"/>
          </a:ln>
        </p:spPr>
        <p:txBody>
          <a:bodyPr/>
          <a:lstStyle/>
          <a:p>
            <a:r>
              <a:rPr lang="en-US" altLang="ko-KR" sz="1800" b="1" dirty="0">
                <a:solidFill>
                  <a:srgbClr val="FFFFFF"/>
                </a:solidFill>
              </a:rPr>
              <a:t>Open-Source LLM  →  Google Gemma 3 12B or higher</a:t>
            </a:r>
            <a:endParaRPr lang="en-US" altLang="ko-KR" sz="1800" dirty="0"/>
          </a:p>
          <a:p>
            <a:r>
              <a:rPr lang="en-US" altLang="ko-KR" sz="1800" dirty="0">
                <a:solidFill>
                  <a:srgbClr val="FFFFFF"/>
                </a:solidFill>
              </a:rPr>
              <a:t>Generates the answer using Chain-of-Thought — reasoning is shown step by step</a:t>
            </a:r>
            <a:endParaRPr lang="en-US" altLang="ko-KR" sz="1800" dirty="0"/>
          </a:p>
          <a:p>
            <a:endParaRPr lang="ko-KR" altLang="en-US" dirty="0"/>
          </a:p>
        </p:txBody>
      </p:sp>
      <p:sp>
        <p:nvSpPr>
          <p:cNvPr id="8" name="Shape 16">
            <a:extLst>
              <a:ext uri="{FF2B5EF4-FFF2-40B4-BE49-F238E27FC236}">
                <a16:creationId xmlns:a16="http://schemas.microsoft.com/office/drawing/2014/main" id="{A6D7767D-6672-3DE7-7F73-B4E7F0661E20}"/>
              </a:ext>
            </a:extLst>
          </p:cNvPr>
          <p:cNvSpPr/>
          <p:nvPr/>
        </p:nvSpPr>
        <p:spPr>
          <a:xfrm>
            <a:off x="1089072" y="5598596"/>
            <a:ext cx="8852096" cy="713304"/>
          </a:xfrm>
          <a:prstGeom prst="rect">
            <a:avLst/>
          </a:prstGeom>
          <a:solidFill>
            <a:srgbClr val="0F2D47"/>
          </a:solidFill>
          <a:ln w="12700">
            <a:solidFill>
              <a:srgbClr val="0F2D47"/>
            </a:solidFill>
            <a:prstDash val="solid"/>
          </a:ln>
        </p:spPr>
        <p:txBody>
          <a:bodyPr/>
          <a:lstStyle/>
          <a:p>
            <a:r>
              <a:rPr lang="en-US" altLang="ko-KR" b="1" dirty="0">
                <a:solidFill>
                  <a:srgbClr val="FFFFFF"/>
                </a:solidFill>
              </a:rPr>
              <a:t>OS: Ubuntu Linux 24.04 LTS  | Database  </a:t>
            </a:r>
            <a:r>
              <a:rPr lang="en-US" altLang="ko-KR" sz="1800" b="1" dirty="0">
                <a:solidFill>
                  <a:srgbClr val="FFFFFF"/>
                </a:solidFill>
              </a:rPr>
              <a:t>→  MariaDB</a:t>
            </a:r>
            <a:endParaRPr lang="en-US" altLang="ko-KR" sz="1800" dirty="0"/>
          </a:p>
          <a:p>
            <a:r>
              <a:rPr lang="en-US" altLang="ko-KR" sz="1800" dirty="0">
                <a:solidFill>
                  <a:srgbClr val="FFFFFF"/>
                </a:solidFill>
              </a:rPr>
              <a:t>Stores all chat logs. Teacher reviews student questions via Django admin page.</a:t>
            </a:r>
            <a:endParaRPr lang="en-US" altLang="ko-KR" sz="1800" dirty="0"/>
          </a:p>
          <a:p>
            <a:endParaRPr lang="ko-KR" altLang="en-US" dirty="0"/>
          </a:p>
        </p:txBody>
      </p:sp>
      <p:sp>
        <p:nvSpPr>
          <p:cNvPr id="10" name="TextBox 9">
            <a:extLst>
              <a:ext uri="{FF2B5EF4-FFF2-40B4-BE49-F238E27FC236}">
                <a16:creationId xmlns:a16="http://schemas.microsoft.com/office/drawing/2014/main" id="{AD9EB3C7-4633-DB7F-88ED-6EE3CAF0D69E}"/>
              </a:ext>
            </a:extLst>
          </p:cNvPr>
          <p:cNvSpPr txBox="1"/>
          <p:nvPr/>
        </p:nvSpPr>
        <p:spPr>
          <a:xfrm>
            <a:off x="3820884" y="781684"/>
            <a:ext cx="7913915" cy="492443"/>
          </a:xfrm>
          <a:prstGeom prst="rect">
            <a:avLst/>
          </a:prstGeom>
          <a:noFill/>
        </p:spPr>
        <p:txBody>
          <a:bodyPr wrap="square">
            <a:spAutoFit/>
          </a:bodyPr>
          <a:lstStyle/>
          <a:p>
            <a:r>
              <a:rPr lang="en-US" altLang="ko-KR" sz="1300" dirty="0"/>
              <a:t>How can we implement a school customized science Q&amp;A chatbot which is applied hybrid approach combined with RAG and IRQA?</a:t>
            </a:r>
            <a:endParaRPr lang="ko-KR" altLang="en-US" sz="1300" dirty="0"/>
          </a:p>
        </p:txBody>
      </p:sp>
    </p:spTree>
    <p:extLst>
      <p:ext uri="{BB962C8B-B14F-4D97-AF65-F5344CB8AC3E}">
        <p14:creationId xmlns:p14="http://schemas.microsoft.com/office/powerpoint/2010/main" val="341464689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48D4278-F9A4-8787-67EA-AE98F85EB2B6}"/>
              </a:ext>
            </a:extLst>
          </p:cNvPr>
          <p:cNvSpPr>
            <a:spLocks noGrp="1"/>
          </p:cNvSpPr>
          <p:nvPr>
            <p:ph type="title"/>
          </p:nvPr>
        </p:nvSpPr>
        <p:spPr/>
        <p:txBody>
          <a:bodyPr/>
          <a:lstStyle/>
          <a:p>
            <a:r>
              <a:rPr lang="en-US" altLang="ko-KR" dirty="0"/>
              <a:t>Results 2</a:t>
            </a:r>
            <a:endParaRPr lang="ko-KR" altLang="en-US" dirty="0"/>
          </a:p>
        </p:txBody>
      </p:sp>
      <p:sp>
        <p:nvSpPr>
          <p:cNvPr id="6" name="텍스트 개체 틀 5">
            <a:extLst>
              <a:ext uri="{FF2B5EF4-FFF2-40B4-BE49-F238E27FC236}">
                <a16:creationId xmlns:a16="http://schemas.microsoft.com/office/drawing/2014/main" id="{C1BEFBEE-B9CA-428E-07FD-1FD980276EF6}"/>
              </a:ext>
            </a:extLst>
          </p:cNvPr>
          <p:cNvSpPr>
            <a:spLocks noGrp="1"/>
          </p:cNvSpPr>
          <p:nvPr>
            <p:ph type="body" idx="1"/>
          </p:nvPr>
        </p:nvSpPr>
        <p:spPr/>
        <p:txBody>
          <a:bodyPr/>
          <a:lstStyle/>
          <a:p>
            <a:r>
              <a:rPr lang="en-US" altLang="ko-KR" dirty="0"/>
              <a:t>How RAG Works in Our System</a:t>
            </a:r>
          </a:p>
        </p:txBody>
      </p:sp>
      <p:sp>
        <p:nvSpPr>
          <p:cNvPr id="7" name="내용 개체 틀 6">
            <a:extLst>
              <a:ext uri="{FF2B5EF4-FFF2-40B4-BE49-F238E27FC236}">
                <a16:creationId xmlns:a16="http://schemas.microsoft.com/office/drawing/2014/main" id="{DC79A1B2-6C87-6EFD-2EC4-D152477F4531}"/>
              </a:ext>
            </a:extLst>
          </p:cNvPr>
          <p:cNvSpPr>
            <a:spLocks noGrp="1"/>
          </p:cNvSpPr>
          <p:nvPr>
            <p:ph sz="half" idx="2"/>
          </p:nvPr>
        </p:nvSpPr>
        <p:spPr>
          <a:xfrm>
            <a:off x="839788" y="2505075"/>
            <a:ext cx="5157787" cy="4212248"/>
          </a:xfrm>
        </p:spPr>
        <p:txBody>
          <a:bodyPr>
            <a:normAutofit fontScale="92500"/>
          </a:bodyPr>
          <a:lstStyle/>
          <a:p>
            <a:r>
              <a:rPr lang="en-US" altLang="ko-KR" dirty="0"/>
              <a:t>The student types a science question (text or photo).</a:t>
            </a:r>
          </a:p>
          <a:p>
            <a:r>
              <a:rPr lang="en-US" altLang="ko-KR" dirty="0"/>
              <a:t>FAISS </a:t>
            </a:r>
            <a:r>
              <a:rPr lang="en-US" altLang="ko-KR" dirty="0" err="1"/>
              <a:t>vectorstore</a:t>
            </a:r>
            <a:r>
              <a:rPr lang="en-US" altLang="ko-KR" dirty="0"/>
              <a:t> searches</a:t>
            </a:r>
          </a:p>
          <a:p>
            <a:pPr lvl="1"/>
            <a:r>
              <a:rPr lang="en-US" altLang="ko-KR" dirty="0"/>
              <a:t>4 related Q&amp;A pairs and </a:t>
            </a:r>
          </a:p>
          <a:p>
            <a:pPr lvl="1"/>
            <a:r>
              <a:rPr lang="en-US" altLang="ko-KR" dirty="0"/>
              <a:t>6 textbook corpuses.</a:t>
            </a:r>
          </a:p>
          <a:p>
            <a:r>
              <a:rPr lang="en-US" altLang="ko-KR" dirty="0"/>
              <a:t>It gives this text to the Gemma 3 LLM as context.</a:t>
            </a:r>
          </a:p>
          <a:p>
            <a:r>
              <a:rPr lang="en-US" altLang="ko-KR" dirty="0"/>
              <a:t>The LLM reads it and writes an answer as accurate and safe as possible.</a:t>
            </a:r>
          </a:p>
          <a:p>
            <a:endParaRPr lang="ko-KR" altLang="en-US" dirty="0"/>
          </a:p>
        </p:txBody>
      </p:sp>
      <p:sp>
        <p:nvSpPr>
          <p:cNvPr id="8" name="텍스트 개체 틀 7">
            <a:extLst>
              <a:ext uri="{FF2B5EF4-FFF2-40B4-BE49-F238E27FC236}">
                <a16:creationId xmlns:a16="http://schemas.microsoft.com/office/drawing/2014/main" id="{A857FC9E-4FBD-0109-5846-E454B3520372}"/>
              </a:ext>
            </a:extLst>
          </p:cNvPr>
          <p:cNvSpPr>
            <a:spLocks noGrp="1"/>
          </p:cNvSpPr>
          <p:nvPr>
            <p:ph type="body" sz="quarter" idx="3"/>
          </p:nvPr>
        </p:nvSpPr>
        <p:spPr/>
        <p:txBody>
          <a:bodyPr/>
          <a:lstStyle/>
          <a:p>
            <a:r>
              <a:rPr lang="en-US" altLang="ko-KR" dirty="0"/>
              <a:t>How IRQA Works in Our System</a:t>
            </a:r>
            <a:endParaRPr lang="ko-KR" altLang="en-US" dirty="0"/>
          </a:p>
        </p:txBody>
      </p:sp>
      <p:sp>
        <p:nvSpPr>
          <p:cNvPr id="9" name="내용 개체 틀 8">
            <a:extLst>
              <a:ext uri="{FF2B5EF4-FFF2-40B4-BE49-F238E27FC236}">
                <a16:creationId xmlns:a16="http://schemas.microsoft.com/office/drawing/2014/main" id="{A2E62659-2366-C999-56EE-C0766E3C9CBB}"/>
              </a:ext>
            </a:extLst>
          </p:cNvPr>
          <p:cNvSpPr>
            <a:spLocks noGrp="1"/>
          </p:cNvSpPr>
          <p:nvPr>
            <p:ph sz="quarter" idx="4"/>
          </p:nvPr>
        </p:nvSpPr>
        <p:spPr>
          <a:xfrm>
            <a:off x="6172200" y="2505075"/>
            <a:ext cx="5183188" cy="4212248"/>
          </a:xfrm>
        </p:spPr>
        <p:txBody>
          <a:bodyPr>
            <a:normAutofit fontScale="92500"/>
          </a:bodyPr>
          <a:lstStyle/>
          <a:p>
            <a:r>
              <a:rPr lang="en-US" altLang="ko-KR" dirty="0"/>
              <a:t>After the AI answers, the IRQA system starts working.</a:t>
            </a:r>
          </a:p>
          <a:p>
            <a:r>
              <a:rPr lang="en-US" altLang="ko-KR" dirty="0"/>
              <a:t>It finds similar questions asked by students (from 30,000+ Q&amp;A pairs).</a:t>
            </a:r>
          </a:p>
          <a:p>
            <a:r>
              <a:rPr lang="en-US" altLang="ko-KR" dirty="0"/>
              <a:t>It shows some of these as clickable buttons on the screen.</a:t>
            </a:r>
          </a:p>
          <a:p>
            <a:r>
              <a:rPr lang="en-US" altLang="ko-KR" dirty="0"/>
              <a:t>The student can explore more related Q&amp;A pairs and think deeper.</a:t>
            </a:r>
          </a:p>
        </p:txBody>
      </p:sp>
      <p:sp>
        <p:nvSpPr>
          <p:cNvPr id="3" name="TextBox 2">
            <a:extLst>
              <a:ext uri="{FF2B5EF4-FFF2-40B4-BE49-F238E27FC236}">
                <a16:creationId xmlns:a16="http://schemas.microsoft.com/office/drawing/2014/main" id="{02ED75E7-FD0E-6FCA-CB51-5ADB43C35BC7}"/>
              </a:ext>
            </a:extLst>
          </p:cNvPr>
          <p:cNvSpPr txBox="1"/>
          <p:nvPr/>
        </p:nvSpPr>
        <p:spPr>
          <a:xfrm>
            <a:off x="3820884" y="781684"/>
            <a:ext cx="7913915" cy="492443"/>
          </a:xfrm>
          <a:prstGeom prst="rect">
            <a:avLst/>
          </a:prstGeom>
          <a:noFill/>
        </p:spPr>
        <p:txBody>
          <a:bodyPr wrap="square">
            <a:spAutoFit/>
          </a:bodyPr>
          <a:lstStyle/>
          <a:p>
            <a:r>
              <a:rPr lang="en-US" altLang="ko-KR" sz="1300" dirty="0"/>
              <a:t>How can we implement a school customized science Q&amp;A chatbot which is applied hybrid approach combined with RAG and IRQA?</a:t>
            </a:r>
            <a:endParaRPr lang="ko-KR" altLang="en-US" sz="1300" dirty="0"/>
          </a:p>
        </p:txBody>
      </p:sp>
    </p:spTree>
    <p:extLst>
      <p:ext uri="{BB962C8B-B14F-4D97-AF65-F5344CB8AC3E}">
        <p14:creationId xmlns:p14="http://schemas.microsoft.com/office/powerpoint/2010/main" val="206835765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제목 6">
            <a:extLst>
              <a:ext uri="{FF2B5EF4-FFF2-40B4-BE49-F238E27FC236}">
                <a16:creationId xmlns:a16="http://schemas.microsoft.com/office/drawing/2014/main" id="{73D128D3-FD77-8A54-D52D-C2D0E08E0D99}"/>
              </a:ext>
            </a:extLst>
          </p:cNvPr>
          <p:cNvSpPr>
            <a:spLocks noGrp="1"/>
          </p:cNvSpPr>
          <p:nvPr>
            <p:ph type="title"/>
          </p:nvPr>
        </p:nvSpPr>
        <p:spPr/>
        <p:txBody>
          <a:bodyPr/>
          <a:lstStyle/>
          <a:p>
            <a:r>
              <a:rPr lang="en-US" altLang="ko-KR" dirty="0"/>
              <a:t>Results 2</a:t>
            </a:r>
            <a:endParaRPr lang="ko-KR" altLang="en-US" dirty="0"/>
          </a:p>
        </p:txBody>
      </p:sp>
      <p:sp>
        <p:nvSpPr>
          <p:cNvPr id="8" name="내용 개체 틀 7">
            <a:extLst>
              <a:ext uri="{FF2B5EF4-FFF2-40B4-BE49-F238E27FC236}">
                <a16:creationId xmlns:a16="http://schemas.microsoft.com/office/drawing/2014/main" id="{42797C18-2036-DB7C-FD01-E83D805DCE23}"/>
              </a:ext>
            </a:extLst>
          </p:cNvPr>
          <p:cNvSpPr>
            <a:spLocks noGrp="1"/>
          </p:cNvSpPr>
          <p:nvPr>
            <p:ph idx="1"/>
          </p:nvPr>
        </p:nvSpPr>
        <p:spPr/>
        <p:txBody>
          <a:bodyPr/>
          <a:lstStyle/>
          <a:p>
            <a:r>
              <a:rPr lang="en-US" altLang="ko-KR" dirty="0"/>
              <a:t>Context engineering optimization by trial and error.</a:t>
            </a:r>
          </a:p>
          <a:p>
            <a:r>
              <a:rPr lang="en-US" altLang="ko-KR" dirty="0"/>
              <a:t>What is in the context window?</a:t>
            </a:r>
          </a:p>
          <a:p>
            <a:endParaRPr lang="ko-KR" altLang="en-US" dirty="0"/>
          </a:p>
        </p:txBody>
      </p:sp>
      <p:sp>
        <p:nvSpPr>
          <p:cNvPr id="2" name="TextBox 1">
            <a:extLst>
              <a:ext uri="{FF2B5EF4-FFF2-40B4-BE49-F238E27FC236}">
                <a16:creationId xmlns:a16="http://schemas.microsoft.com/office/drawing/2014/main" id="{E0DCC07D-EFAF-275F-0991-3F36435DA776}"/>
              </a:ext>
            </a:extLst>
          </p:cNvPr>
          <p:cNvSpPr txBox="1"/>
          <p:nvPr/>
        </p:nvSpPr>
        <p:spPr>
          <a:xfrm>
            <a:off x="3820884" y="781684"/>
            <a:ext cx="7913915" cy="492443"/>
          </a:xfrm>
          <a:prstGeom prst="rect">
            <a:avLst/>
          </a:prstGeom>
          <a:noFill/>
        </p:spPr>
        <p:txBody>
          <a:bodyPr wrap="square">
            <a:spAutoFit/>
          </a:bodyPr>
          <a:lstStyle/>
          <a:p>
            <a:r>
              <a:rPr lang="en-US" altLang="ko-KR" sz="1300" dirty="0"/>
              <a:t>How can we implement a school customized science Q&amp;A chatbot which is applied hybrid approach combined with RAG and IRQA?</a:t>
            </a:r>
            <a:endParaRPr lang="ko-KR" altLang="en-US" sz="1300" dirty="0"/>
          </a:p>
        </p:txBody>
      </p:sp>
      <p:graphicFrame>
        <p:nvGraphicFramePr>
          <p:cNvPr id="3" name="표 2">
            <a:extLst>
              <a:ext uri="{FF2B5EF4-FFF2-40B4-BE49-F238E27FC236}">
                <a16:creationId xmlns:a16="http://schemas.microsoft.com/office/drawing/2014/main" id="{78FCC7AC-34A1-D149-A8C5-00A4E22F1174}"/>
              </a:ext>
            </a:extLst>
          </p:cNvPr>
          <p:cNvGraphicFramePr>
            <a:graphicFrameLocks noGrp="1"/>
          </p:cNvGraphicFramePr>
          <p:nvPr/>
        </p:nvGraphicFramePr>
        <p:xfrm>
          <a:off x="1186542" y="2934698"/>
          <a:ext cx="7358744" cy="2560320"/>
        </p:xfrm>
        <a:graphic>
          <a:graphicData uri="http://schemas.openxmlformats.org/drawingml/2006/table">
            <a:tbl>
              <a:tblPr>
                <a:tableStyleId>{5940675A-B579-460E-94D1-54222C63F5DA}</a:tableStyleId>
              </a:tblPr>
              <a:tblGrid>
                <a:gridCol w="4735287">
                  <a:extLst>
                    <a:ext uri="{9D8B030D-6E8A-4147-A177-3AD203B41FA5}">
                      <a16:colId xmlns:a16="http://schemas.microsoft.com/office/drawing/2014/main" val="3138939896"/>
                    </a:ext>
                  </a:extLst>
                </a:gridCol>
                <a:gridCol w="2623457">
                  <a:extLst>
                    <a:ext uri="{9D8B030D-6E8A-4147-A177-3AD203B41FA5}">
                      <a16:colId xmlns:a16="http://schemas.microsoft.com/office/drawing/2014/main" val="3296345896"/>
                    </a:ext>
                  </a:extLst>
                </a:gridCol>
              </a:tblGrid>
              <a:tr h="0">
                <a:tc>
                  <a:txBody>
                    <a:bodyPr/>
                    <a:lstStyle/>
                    <a:p>
                      <a:pPr algn="ctr"/>
                      <a:r>
                        <a:rPr lang="en-US"/>
                        <a:t>Content</a:t>
                      </a:r>
                    </a:p>
                  </a:txBody>
                  <a:tcPr anchor="ctr"/>
                </a:tc>
                <a:tc>
                  <a:txBody>
                    <a:bodyPr/>
                    <a:lstStyle/>
                    <a:p>
                      <a:pPr algn="ctr"/>
                      <a:r>
                        <a:rPr lang="en-US"/>
                        <a:t>Source</a:t>
                      </a:r>
                    </a:p>
                  </a:txBody>
                  <a:tcPr anchor="ctr"/>
                </a:tc>
                <a:extLst>
                  <a:ext uri="{0D108BD9-81ED-4DB2-BD59-A6C34878D82A}">
                    <a16:rowId xmlns:a16="http://schemas.microsoft.com/office/drawing/2014/main" val="217599426"/>
                  </a:ext>
                </a:extLst>
              </a:tr>
              <a:tr h="0">
                <a:tc>
                  <a:txBody>
                    <a:bodyPr/>
                    <a:lstStyle/>
                    <a:p>
                      <a:pPr algn="ctr"/>
                      <a:r>
                        <a:rPr lang="en-US"/>
                        <a:t>Uploaded PDF (if any)</a:t>
                      </a:r>
                    </a:p>
                  </a:txBody>
                  <a:tcPr anchor="ctr"/>
                </a:tc>
                <a:tc>
                  <a:txBody>
                    <a:bodyPr/>
                    <a:lstStyle/>
                    <a:p>
                      <a:pPr algn="ctr"/>
                      <a:r>
                        <a:rPr lang="en-US"/>
                        <a:t>Student's file</a:t>
                      </a:r>
                    </a:p>
                  </a:txBody>
                  <a:tcPr anchor="ctr"/>
                </a:tc>
                <a:extLst>
                  <a:ext uri="{0D108BD9-81ED-4DB2-BD59-A6C34878D82A}">
                    <a16:rowId xmlns:a16="http://schemas.microsoft.com/office/drawing/2014/main" val="756035316"/>
                  </a:ext>
                </a:extLst>
              </a:tr>
              <a:tr h="0">
                <a:tc>
                  <a:txBody>
                    <a:bodyPr/>
                    <a:lstStyle/>
                    <a:p>
                      <a:pPr algn="ctr"/>
                      <a:r>
                        <a:rPr lang="en-US" dirty="0"/>
                        <a:t>Related past Q&amp;A pairs (4 pairs)</a:t>
                      </a:r>
                    </a:p>
                  </a:txBody>
                  <a:tcPr anchor="ctr"/>
                </a:tc>
                <a:tc>
                  <a:txBody>
                    <a:bodyPr/>
                    <a:lstStyle/>
                    <a:p>
                      <a:pPr algn="ctr"/>
                      <a:r>
                        <a:rPr lang="en-US"/>
                        <a:t>FAISS QNA vectorstore</a:t>
                      </a:r>
                    </a:p>
                  </a:txBody>
                  <a:tcPr anchor="ctr"/>
                </a:tc>
                <a:extLst>
                  <a:ext uri="{0D108BD9-81ED-4DB2-BD59-A6C34878D82A}">
                    <a16:rowId xmlns:a16="http://schemas.microsoft.com/office/drawing/2014/main" val="1068267965"/>
                  </a:ext>
                </a:extLst>
              </a:tr>
              <a:tr h="0">
                <a:tc>
                  <a:txBody>
                    <a:bodyPr/>
                    <a:lstStyle/>
                    <a:p>
                      <a:pPr algn="ctr"/>
                      <a:r>
                        <a:rPr lang="en-US" dirty="0"/>
                        <a:t>Relevant textbook passages (6 corpus sets)</a:t>
                      </a:r>
                    </a:p>
                  </a:txBody>
                  <a:tcPr anchor="ctr"/>
                </a:tc>
                <a:tc>
                  <a:txBody>
                    <a:bodyPr/>
                    <a:lstStyle/>
                    <a:p>
                      <a:pPr algn="ctr"/>
                      <a:r>
                        <a:rPr lang="en-US" dirty="0"/>
                        <a:t>FAISS PDF </a:t>
                      </a:r>
                      <a:r>
                        <a:rPr lang="en-US" dirty="0" err="1"/>
                        <a:t>vectorstore</a:t>
                      </a:r>
                      <a:endParaRPr lang="en-US" dirty="0"/>
                    </a:p>
                  </a:txBody>
                  <a:tcPr anchor="ctr"/>
                </a:tc>
                <a:extLst>
                  <a:ext uri="{0D108BD9-81ED-4DB2-BD59-A6C34878D82A}">
                    <a16:rowId xmlns:a16="http://schemas.microsoft.com/office/drawing/2014/main" val="3035823281"/>
                  </a:ext>
                </a:extLst>
              </a:tr>
              <a:tr h="0">
                <a:tc>
                  <a:txBody>
                    <a:bodyPr/>
                    <a:lstStyle/>
                    <a:p>
                      <a:pPr algn="ctr"/>
                      <a:r>
                        <a:rPr lang="en-US"/>
                        <a:t>System prompt (task + format rules)</a:t>
                      </a:r>
                    </a:p>
                  </a:txBody>
                  <a:tcPr anchor="ctr"/>
                </a:tc>
                <a:tc>
                  <a:txBody>
                    <a:bodyPr/>
                    <a:lstStyle/>
                    <a:p>
                      <a:pPr algn="ctr"/>
                      <a:r>
                        <a:rPr lang="en-US"/>
                        <a:t>Teacher-designed</a:t>
                      </a:r>
                    </a:p>
                  </a:txBody>
                  <a:tcPr anchor="ctr"/>
                </a:tc>
                <a:extLst>
                  <a:ext uri="{0D108BD9-81ED-4DB2-BD59-A6C34878D82A}">
                    <a16:rowId xmlns:a16="http://schemas.microsoft.com/office/drawing/2014/main" val="2584351368"/>
                  </a:ext>
                </a:extLst>
              </a:tr>
              <a:tr h="0">
                <a:tc>
                  <a:txBody>
                    <a:bodyPr/>
                    <a:lstStyle/>
                    <a:p>
                      <a:pPr algn="ctr"/>
                      <a:r>
                        <a:rPr lang="en-US"/>
                        <a:t>Conversation history (last 30 turns)</a:t>
                      </a:r>
                    </a:p>
                  </a:txBody>
                  <a:tcPr anchor="ctr"/>
                </a:tc>
                <a:tc>
                  <a:txBody>
                    <a:bodyPr/>
                    <a:lstStyle/>
                    <a:p>
                      <a:pPr algn="ctr"/>
                      <a:r>
                        <a:rPr lang="en-US" dirty="0"/>
                        <a:t>Session memory</a:t>
                      </a:r>
                    </a:p>
                  </a:txBody>
                  <a:tcPr anchor="ctr"/>
                </a:tc>
                <a:extLst>
                  <a:ext uri="{0D108BD9-81ED-4DB2-BD59-A6C34878D82A}">
                    <a16:rowId xmlns:a16="http://schemas.microsoft.com/office/drawing/2014/main" val="2905118606"/>
                  </a:ext>
                </a:extLst>
              </a:tr>
              <a:tr h="0">
                <a:tc>
                  <a:txBody>
                    <a:bodyPr/>
                    <a:lstStyle/>
                    <a:p>
                      <a:pPr algn="ctr"/>
                      <a:r>
                        <a:rPr lang="en-US" dirty="0"/>
                        <a:t>Student's question (+ image if any)</a:t>
                      </a:r>
                    </a:p>
                  </a:txBody>
                  <a:tcPr anchor="ctr"/>
                </a:tc>
                <a:tc>
                  <a:txBody>
                    <a:bodyPr/>
                    <a:lstStyle/>
                    <a:p>
                      <a:pPr algn="ctr"/>
                      <a:r>
                        <a:rPr lang="en-US" dirty="0"/>
                        <a:t>Current input</a:t>
                      </a:r>
                    </a:p>
                  </a:txBody>
                  <a:tcPr anchor="ctr"/>
                </a:tc>
                <a:extLst>
                  <a:ext uri="{0D108BD9-81ED-4DB2-BD59-A6C34878D82A}">
                    <a16:rowId xmlns:a16="http://schemas.microsoft.com/office/drawing/2014/main" val="98786126"/>
                  </a:ext>
                </a:extLst>
              </a:tr>
            </a:tbl>
          </a:graphicData>
        </a:graphic>
      </p:graphicFrame>
    </p:spTree>
    <p:extLst>
      <p:ext uri="{BB962C8B-B14F-4D97-AF65-F5344CB8AC3E}">
        <p14:creationId xmlns:p14="http://schemas.microsoft.com/office/powerpoint/2010/main" val="83416315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제목 6">
            <a:extLst>
              <a:ext uri="{FF2B5EF4-FFF2-40B4-BE49-F238E27FC236}">
                <a16:creationId xmlns:a16="http://schemas.microsoft.com/office/drawing/2014/main" id="{73D128D3-FD77-8A54-D52D-C2D0E08E0D99}"/>
              </a:ext>
            </a:extLst>
          </p:cNvPr>
          <p:cNvSpPr>
            <a:spLocks noGrp="1"/>
          </p:cNvSpPr>
          <p:nvPr>
            <p:ph type="title"/>
          </p:nvPr>
        </p:nvSpPr>
        <p:spPr/>
        <p:txBody>
          <a:bodyPr/>
          <a:lstStyle/>
          <a:p>
            <a:r>
              <a:rPr lang="en-US" altLang="ko-KR" dirty="0"/>
              <a:t>Results 2</a:t>
            </a:r>
            <a:endParaRPr lang="ko-KR" altLang="en-US" dirty="0"/>
          </a:p>
        </p:txBody>
      </p:sp>
      <p:sp>
        <p:nvSpPr>
          <p:cNvPr id="8" name="내용 개체 틀 7">
            <a:extLst>
              <a:ext uri="{FF2B5EF4-FFF2-40B4-BE49-F238E27FC236}">
                <a16:creationId xmlns:a16="http://schemas.microsoft.com/office/drawing/2014/main" id="{42797C18-2036-DB7C-FD01-E83D805DCE23}"/>
              </a:ext>
            </a:extLst>
          </p:cNvPr>
          <p:cNvSpPr>
            <a:spLocks noGrp="1"/>
          </p:cNvSpPr>
          <p:nvPr>
            <p:ph idx="1"/>
          </p:nvPr>
        </p:nvSpPr>
        <p:spPr/>
        <p:txBody>
          <a:bodyPr/>
          <a:lstStyle/>
          <a:p>
            <a:r>
              <a:rPr lang="en-US" altLang="ko-KR" dirty="0"/>
              <a:t>The system prompt is dynamically generated every turn.</a:t>
            </a:r>
            <a:endParaRPr lang="ko-KR" altLang="en-US" dirty="0"/>
          </a:p>
        </p:txBody>
      </p:sp>
      <p:sp>
        <p:nvSpPr>
          <p:cNvPr id="2" name="TextBox 1">
            <a:extLst>
              <a:ext uri="{FF2B5EF4-FFF2-40B4-BE49-F238E27FC236}">
                <a16:creationId xmlns:a16="http://schemas.microsoft.com/office/drawing/2014/main" id="{E0DCC07D-EFAF-275F-0991-3F36435DA776}"/>
              </a:ext>
            </a:extLst>
          </p:cNvPr>
          <p:cNvSpPr txBox="1"/>
          <p:nvPr/>
        </p:nvSpPr>
        <p:spPr>
          <a:xfrm>
            <a:off x="3820884" y="781684"/>
            <a:ext cx="7913915" cy="492443"/>
          </a:xfrm>
          <a:prstGeom prst="rect">
            <a:avLst/>
          </a:prstGeom>
          <a:noFill/>
        </p:spPr>
        <p:txBody>
          <a:bodyPr wrap="square">
            <a:spAutoFit/>
          </a:bodyPr>
          <a:lstStyle/>
          <a:p>
            <a:r>
              <a:rPr lang="en-US" altLang="ko-KR" sz="1300" dirty="0"/>
              <a:t>How can we implement a school customized science Q&amp;A chatbot which is applied hybrid approach combined with RAG and IRQA?</a:t>
            </a:r>
            <a:endParaRPr lang="ko-KR" altLang="en-US" sz="1300" dirty="0"/>
          </a:p>
        </p:txBody>
      </p:sp>
      <p:sp>
        <p:nvSpPr>
          <p:cNvPr id="5" name="TextBox 4">
            <a:extLst>
              <a:ext uri="{FF2B5EF4-FFF2-40B4-BE49-F238E27FC236}">
                <a16:creationId xmlns:a16="http://schemas.microsoft.com/office/drawing/2014/main" id="{C3B35FF8-E85A-44E6-8116-5D2B56D2EA6F}"/>
              </a:ext>
            </a:extLst>
          </p:cNvPr>
          <p:cNvSpPr txBox="1"/>
          <p:nvPr/>
        </p:nvSpPr>
        <p:spPr>
          <a:xfrm>
            <a:off x="1066799" y="2461002"/>
            <a:ext cx="8425545" cy="4031873"/>
          </a:xfrm>
          <a:prstGeom prst="rect">
            <a:avLst/>
          </a:prstGeom>
          <a:solidFill>
            <a:schemeClr val="tx1"/>
          </a:solidFill>
        </p:spPr>
        <p:txBody>
          <a:bodyPr wrap="square">
            <a:spAutoFit/>
          </a:bodyPr>
          <a:lstStyle/>
          <a:p>
            <a:r>
              <a:rPr lang="ko-KR" altLang="en-US" sz="1600" dirty="0">
                <a:solidFill>
                  <a:schemeClr val="bg1"/>
                </a:solidFill>
                <a:latin typeface="Consolas" panose="020B0609020204030204" pitchFamily="49" charset="0"/>
                <a:cs typeface="Cascadia Code" panose="020B0609020000020004" pitchFamily="49" charset="0"/>
              </a:rPr>
              <a:t>&lt;</a:t>
            </a:r>
            <a:r>
              <a:rPr lang="ko-KR" altLang="en-US" sz="1600" dirty="0" err="1">
                <a:solidFill>
                  <a:schemeClr val="bg1"/>
                </a:solidFill>
                <a:latin typeface="Consolas" panose="020B0609020204030204" pitchFamily="49" charset="0"/>
                <a:cs typeface="Cascadia Code" panose="020B0609020000020004" pitchFamily="49" charset="0"/>
              </a:rPr>
              <a:t>metadata</a:t>
            </a:r>
            <a:r>
              <a:rPr lang="ko-KR" altLang="en-US" sz="1600" dirty="0">
                <a:solidFill>
                  <a:schemeClr val="bg1"/>
                </a:solidFill>
                <a:latin typeface="Consolas" panose="020B0609020204030204" pitchFamily="49" charset="0"/>
                <a:cs typeface="Cascadia Code" panose="020B0609020000020004" pitchFamily="49" charset="0"/>
              </a:rPr>
              <a:t>&gt;</a:t>
            </a:r>
            <a:endParaRPr lang="en-US" altLang="ko-KR" sz="1600" dirty="0">
              <a:solidFill>
                <a:schemeClr val="bg1"/>
              </a:solidFill>
              <a:latin typeface="Consolas" panose="020B0609020204030204" pitchFamily="49" charset="0"/>
              <a:ea typeface="Cascadia Code" panose="020B0609020000020004" pitchFamily="49" charset="0"/>
              <a:cs typeface="Cascadia Code" panose="020B0609020000020004" pitchFamily="49" charset="0"/>
            </a:endParaRPr>
          </a:p>
          <a:p>
            <a:r>
              <a:rPr lang="en-US" altLang="ko-KR" sz="1600" dirty="0">
                <a:solidFill>
                  <a:schemeClr val="bg1"/>
                </a:solidFill>
                <a:latin typeface="Consolas" panose="020B0609020204030204" pitchFamily="49" charset="0"/>
                <a:ea typeface="Cascadia Code" panose="020B0609020000020004" pitchFamily="49" charset="0"/>
                <a:cs typeface="Cascadia Code" panose="020B0609020000020004" pitchFamily="49" charset="0"/>
              </a:rPr>
              <a:t>	</a:t>
            </a:r>
            <a:r>
              <a:rPr lang="ko-KR" altLang="en-US" sz="1600" dirty="0">
                <a:solidFill>
                  <a:schemeClr val="bg1"/>
                </a:solidFill>
                <a:latin typeface="Consolas" panose="020B0609020204030204" pitchFamily="49" charset="0"/>
                <a:cs typeface="Cascadia Code" panose="020B0609020000020004" pitchFamily="49" charset="0"/>
              </a:rPr>
              <a:t>&lt;</a:t>
            </a:r>
            <a:r>
              <a:rPr lang="ko-KR" altLang="en-US" sz="1600" dirty="0" err="1">
                <a:solidFill>
                  <a:schemeClr val="bg1"/>
                </a:solidFill>
                <a:latin typeface="Consolas" panose="020B0609020204030204" pitchFamily="49" charset="0"/>
                <a:cs typeface="Cascadia Code" panose="020B0609020000020004" pitchFamily="49" charset="0"/>
              </a:rPr>
              <a:t>current_time</a:t>
            </a:r>
            <a:r>
              <a:rPr lang="ko-KR" altLang="en-US" sz="1600" dirty="0">
                <a:solidFill>
                  <a:schemeClr val="bg1"/>
                </a:solidFill>
                <a:latin typeface="Consolas" panose="020B0609020204030204" pitchFamily="49" charset="0"/>
                <a:cs typeface="Cascadia Code" panose="020B0609020000020004" pitchFamily="49" charset="0"/>
              </a:rPr>
              <a:t>&gt;  ← </a:t>
            </a:r>
            <a:r>
              <a:rPr lang="ko-KR" altLang="en-US" sz="1600" dirty="0" err="1">
                <a:solidFill>
                  <a:schemeClr val="bg1"/>
                </a:solidFill>
                <a:latin typeface="Consolas" panose="020B0609020204030204" pitchFamily="49" charset="0"/>
                <a:cs typeface="Cascadia Code" panose="020B0609020000020004" pitchFamily="49" charset="0"/>
              </a:rPr>
              <a:t>Korean</a:t>
            </a:r>
            <a:r>
              <a:rPr lang="ko-KR" altLang="en-US" sz="1600" dirty="0">
                <a:solidFill>
                  <a:schemeClr val="bg1"/>
                </a:solidFill>
                <a:latin typeface="Consolas" panose="020B0609020204030204" pitchFamily="49" charset="0"/>
                <a:cs typeface="Cascadia Code" panose="020B0609020000020004" pitchFamily="49" charset="0"/>
              </a:rPr>
              <a:t> </a:t>
            </a:r>
            <a:r>
              <a:rPr lang="ko-KR" altLang="en-US" sz="1600" dirty="0" err="1">
                <a:solidFill>
                  <a:schemeClr val="bg1"/>
                </a:solidFill>
                <a:latin typeface="Consolas" panose="020B0609020204030204" pitchFamily="49" charset="0"/>
                <a:cs typeface="Cascadia Code" panose="020B0609020000020004" pitchFamily="49" charset="0"/>
              </a:rPr>
              <a:t>time</a:t>
            </a:r>
            <a:r>
              <a:rPr lang="ko-KR" altLang="en-US" sz="1600" dirty="0">
                <a:solidFill>
                  <a:schemeClr val="bg1"/>
                </a:solidFill>
                <a:latin typeface="Consolas" panose="020B0609020204030204" pitchFamily="49" charset="0"/>
                <a:cs typeface="Cascadia Code" panose="020B0609020000020004" pitchFamily="49" charset="0"/>
              </a:rPr>
              <a:t>, </a:t>
            </a:r>
            <a:r>
              <a:rPr lang="ko-KR" altLang="en-US" sz="1600" dirty="0" err="1">
                <a:solidFill>
                  <a:schemeClr val="bg1"/>
                </a:solidFill>
                <a:latin typeface="Consolas" panose="020B0609020204030204" pitchFamily="49" charset="0"/>
                <a:cs typeface="Cascadia Code" panose="020B0609020000020004" pitchFamily="49" charset="0"/>
              </a:rPr>
              <a:t>auto-inserted</a:t>
            </a:r>
            <a:endParaRPr lang="en-US" altLang="ko-KR" sz="1600" dirty="0">
              <a:solidFill>
                <a:schemeClr val="bg1"/>
              </a:solidFill>
              <a:latin typeface="Consolas" panose="020B0609020204030204" pitchFamily="49" charset="0"/>
              <a:ea typeface="Cascadia Code" panose="020B0609020000020004" pitchFamily="49" charset="0"/>
              <a:cs typeface="Cascadia Code" panose="020B0609020000020004" pitchFamily="49" charset="0"/>
            </a:endParaRPr>
          </a:p>
          <a:p>
            <a:r>
              <a:rPr lang="en-US" altLang="ko-KR" sz="1600" dirty="0">
                <a:solidFill>
                  <a:schemeClr val="bg1"/>
                </a:solidFill>
                <a:latin typeface="Consolas" panose="020B0609020204030204" pitchFamily="49" charset="0"/>
                <a:ea typeface="Cascadia Code" panose="020B0609020000020004" pitchFamily="49" charset="0"/>
                <a:cs typeface="Cascadia Code" panose="020B0609020000020004" pitchFamily="49" charset="0"/>
              </a:rPr>
              <a:t>	</a:t>
            </a:r>
            <a:r>
              <a:rPr lang="ko-KR" altLang="en-US" sz="1600" dirty="0">
                <a:solidFill>
                  <a:schemeClr val="bg1"/>
                </a:solidFill>
                <a:latin typeface="Consolas" panose="020B0609020204030204" pitchFamily="49" charset="0"/>
                <a:cs typeface="Cascadia Code" panose="020B0609020000020004" pitchFamily="49" charset="0"/>
              </a:rPr>
              <a:t>&lt;</a:t>
            </a:r>
            <a:r>
              <a:rPr lang="ko-KR" altLang="en-US" sz="1600" dirty="0" err="1">
                <a:solidFill>
                  <a:schemeClr val="bg1"/>
                </a:solidFill>
                <a:latin typeface="Consolas" panose="020B0609020204030204" pitchFamily="49" charset="0"/>
                <a:cs typeface="Cascadia Code" panose="020B0609020000020004" pitchFamily="49" charset="0"/>
              </a:rPr>
              <a:t>user_name</a:t>
            </a:r>
            <a:r>
              <a:rPr lang="ko-KR" altLang="en-US" sz="1600" dirty="0">
                <a:solidFill>
                  <a:schemeClr val="bg1"/>
                </a:solidFill>
                <a:latin typeface="Consolas" panose="020B0609020204030204" pitchFamily="49" charset="0"/>
                <a:cs typeface="Cascadia Code" panose="020B0609020000020004" pitchFamily="49" charset="0"/>
              </a:rPr>
              <a:t>&gt;     ← </a:t>
            </a:r>
            <a:r>
              <a:rPr lang="ko-KR" altLang="en-US" sz="1600" dirty="0" err="1">
                <a:solidFill>
                  <a:schemeClr val="bg1"/>
                </a:solidFill>
                <a:latin typeface="Consolas" panose="020B0609020204030204" pitchFamily="49" charset="0"/>
                <a:cs typeface="Cascadia Code" panose="020B0609020000020004" pitchFamily="49" charset="0"/>
              </a:rPr>
              <a:t>Student's</a:t>
            </a:r>
            <a:r>
              <a:rPr lang="ko-KR" altLang="en-US" sz="1600" dirty="0">
                <a:solidFill>
                  <a:schemeClr val="bg1"/>
                </a:solidFill>
                <a:latin typeface="Consolas" panose="020B0609020204030204" pitchFamily="49" charset="0"/>
                <a:cs typeface="Cascadia Code" panose="020B0609020000020004" pitchFamily="49" charset="0"/>
              </a:rPr>
              <a:t> </a:t>
            </a:r>
            <a:r>
              <a:rPr lang="ko-KR" altLang="en-US" sz="1600" dirty="0" err="1">
                <a:solidFill>
                  <a:schemeClr val="bg1"/>
                </a:solidFill>
                <a:latin typeface="Consolas" panose="020B0609020204030204" pitchFamily="49" charset="0"/>
                <a:cs typeface="Cascadia Code" panose="020B0609020000020004" pitchFamily="49" charset="0"/>
              </a:rPr>
              <a:t>nickname</a:t>
            </a:r>
            <a:r>
              <a:rPr lang="ko-KR" altLang="en-US" sz="1600" dirty="0">
                <a:solidFill>
                  <a:schemeClr val="bg1"/>
                </a:solidFill>
                <a:latin typeface="Consolas" panose="020B0609020204030204" pitchFamily="49" charset="0"/>
                <a:cs typeface="Cascadia Code" panose="020B0609020000020004" pitchFamily="49" charset="0"/>
              </a:rPr>
              <a:t>, </a:t>
            </a:r>
            <a:r>
              <a:rPr lang="ko-KR" altLang="en-US" sz="1600" dirty="0" err="1">
                <a:solidFill>
                  <a:schemeClr val="bg1"/>
                </a:solidFill>
                <a:latin typeface="Consolas" panose="020B0609020204030204" pitchFamily="49" charset="0"/>
                <a:cs typeface="Cascadia Code" panose="020B0609020000020004" pitchFamily="49" charset="0"/>
              </a:rPr>
              <a:t>if</a:t>
            </a:r>
            <a:r>
              <a:rPr lang="ko-KR" altLang="en-US" sz="1600" dirty="0">
                <a:solidFill>
                  <a:schemeClr val="bg1"/>
                </a:solidFill>
                <a:latin typeface="Consolas" panose="020B0609020204030204" pitchFamily="49" charset="0"/>
                <a:cs typeface="Cascadia Code" panose="020B0609020000020004" pitchFamily="49" charset="0"/>
              </a:rPr>
              <a:t> </a:t>
            </a:r>
            <a:r>
              <a:rPr lang="ko-KR" altLang="en-US" sz="1600" dirty="0" err="1">
                <a:solidFill>
                  <a:schemeClr val="bg1"/>
                </a:solidFill>
                <a:latin typeface="Consolas" panose="020B0609020204030204" pitchFamily="49" charset="0"/>
                <a:cs typeface="Cascadia Code" panose="020B0609020000020004" pitchFamily="49" charset="0"/>
              </a:rPr>
              <a:t>provided</a:t>
            </a:r>
            <a:endParaRPr lang="en-US" altLang="ko-KR" sz="1600" dirty="0">
              <a:solidFill>
                <a:schemeClr val="bg1"/>
              </a:solidFill>
              <a:latin typeface="Consolas" panose="020B0609020204030204" pitchFamily="49" charset="0"/>
              <a:ea typeface="Cascadia Code" panose="020B0609020000020004" pitchFamily="49" charset="0"/>
              <a:cs typeface="Cascadia Code" panose="020B0609020000020004" pitchFamily="49" charset="0"/>
            </a:endParaRPr>
          </a:p>
          <a:p>
            <a:r>
              <a:rPr lang="ko-KR" altLang="en-US" sz="1600" dirty="0">
                <a:solidFill>
                  <a:schemeClr val="bg1"/>
                </a:solidFill>
                <a:latin typeface="Consolas" panose="020B0609020204030204" pitchFamily="49" charset="0"/>
                <a:cs typeface="Cascadia Code" panose="020B0609020000020004" pitchFamily="49" charset="0"/>
              </a:rPr>
              <a:t>&lt;/</a:t>
            </a:r>
            <a:r>
              <a:rPr lang="ko-KR" altLang="en-US" sz="1600" dirty="0" err="1">
                <a:solidFill>
                  <a:schemeClr val="bg1"/>
                </a:solidFill>
                <a:latin typeface="Consolas" panose="020B0609020204030204" pitchFamily="49" charset="0"/>
                <a:cs typeface="Cascadia Code" panose="020B0609020000020004" pitchFamily="49" charset="0"/>
              </a:rPr>
              <a:t>metadata</a:t>
            </a:r>
            <a:r>
              <a:rPr lang="ko-KR" altLang="en-US" sz="1600" dirty="0">
                <a:solidFill>
                  <a:schemeClr val="bg1"/>
                </a:solidFill>
                <a:latin typeface="Consolas" panose="020B0609020204030204" pitchFamily="49" charset="0"/>
                <a:cs typeface="Cascadia Code" panose="020B0609020000020004" pitchFamily="49" charset="0"/>
              </a:rPr>
              <a:t>&gt;</a:t>
            </a:r>
            <a:endParaRPr lang="en-US" altLang="ko-KR" sz="1600" dirty="0">
              <a:solidFill>
                <a:schemeClr val="bg1"/>
              </a:solidFill>
              <a:latin typeface="Consolas" panose="020B0609020204030204" pitchFamily="49" charset="0"/>
              <a:ea typeface="Cascadia Code" panose="020B0609020000020004" pitchFamily="49" charset="0"/>
              <a:cs typeface="Cascadia Code" panose="020B0609020000020004" pitchFamily="49" charset="0"/>
            </a:endParaRPr>
          </a:p>
          <a:p>
            <a:r>
              <a:rPr lang="ko-KR" altLang="en-US" sz="1600" dirty="0">
                <a:solidFill>
                  <a:schemeClr val="bg1"/>
                </a:solidFill>
                <a:latin typeface="Consolas" panose="020B0609020204030204" pitchFamily="49" charset="0"/>
                <a:cs typeface="Cascadia Code" panose="020B0609020000020004" pitchFamily="49" charset="0"/>
              </a:rPr>
              <a:t>&lt;</a:t>
            </a:r>
            <a:r>
              <a:rPr lang="ko-KR" altLang="en-US" sz="1600" dirty="0" err="1">
                <a:solidFill>
                  <a:schemeClr val="bg1"/>
                </a:solidFill>
                <a:latin typeface="Consolas" panose="020B0609020204030204" pitchFamily="49" charset="0"/>
                <a:cs typeface="Cascadia Code" panose="020B0609020000020004" pitchFamily="49" charset="0"/>
              </a:rPr>
              <a:t>task</a:t>
            </a:r>
            <a:r>
              <a:rPr lang="ko-KR" altLang="en-US" sz="1600" dirty="0">
                <a:solidFill>
                  <a:schemeClr val="bg1"/>
                </a:solidFill>
                <a:latin typeface="Consolas" panose="020B0609020204030204" pitchFamily="49" charset="0"/>
                <a:cs typeface="Cascadia Code" panose="020B0609020000020004" pitchFamily="49" charset="0"/>
              </a:rPr>
              <a:t>&gt;</a:t>
            </a:r>
            <a:endParaRPr lang="en-US" altLang="ko-KR" sz="1600" dirty="0">
              <a:solidFill>
                <a:schemeClr val="bg1"/>
              </a:solidFill>
              <a:latin typeface="Consolas" panose="020B0609020204030204" pitchFamily="49" charset="0"/>
              <a:ea typeface="Cascadia Code" panose="020B0609020000020004" pitchFamily="49" charset="0"/>
              <a:cs typeface="Cascadia Code" panose="020B0609020000020004" pitchFamily="49" charset="0"/>
            </a:endParaRPr>
          </a:p>
          <a:p>
            <a:r>
              <a:rPr lang="en-US" altLang="ko-KR" sz="1600" dirty="0">
                <a:solidFill>
                  <a:schemeClr val="bg1"/>
                </a:solidFill>
                <a:latin typeface="Consolas" panose="020B0609020204030204" pitchFamily="49" charset="0"/>
                <a:ea typeface="Cascadia Code" panose="020B0609020000020004" pitchFamily="49" charset="0"/>
                <a:cs typeface="Cascadia Code" panose="020B0609020000020004" pitchFamily="49" charset="0"/>
              </a:rPr>
              <a:t>	</a:t>
            </a:r>
            <a:r>
              <a:rPr lang="ko-KR" altLang="en-US" sz="1600" dirty="0" err="1">
                <a:solidFill>
                  <a:schemeClr val="bg1"/>
                </a:solidFill>
                <a:latin typeface="Consolas" panose="020B0609020204030204" pitchFamily="49" charset="0"/>
                <a:cs typeface="Cascadia Code" panose="020B0609020000020004" pitchFamily="49" charset="0"/>
              </a:rPr>
              <a:t>Answer</a:t>
            </a:r>
            <a:r>
              <a:rPr lang="ko-KR" altLang="en-US" sz="1600" dirty="0">
                <a:solidFill>
                  <a:schemeClr val="bg1"/>
                </a:solidFill>
                <a:latin typeface="Consolas" panose="020B0609020204030204" pitchFamily="49" charset="0"/>
                <a:cs typeface="Cascadia Code" panose="020B0609020000020004" pitchFamily="49" charset="0"/>
              </a:rPr>
              <a:t> </a:t>
            </a:r>
            <a:r>
              <a:rPr lang="ko-KR" altLang="en-US" sz="1600" dirty="0" err="1">
                <a:solidFill>
                  <a:schemeClr val="bg1"/>
                </a:solidFill>
                <a:latin typeface="Consolas" panose="020B0609020204030204" pitchFamily="49" charset="0"/>
                <a:cs typeface="Cascadia Code" panose="020B0609020000020004" pitchFamily="49" charset="0"/>
              </a:rPr>
              <a:t>within</a:t>
            </a:r>
            <a:r>
              <a:rPr lang="ko-KR" altLang="en-US" sz="1600" dirty="0">
                <a:solidFill>
                  <a:schemeClr val="bg1"/>
                </a:solidFill>
                <a:latin typeface="Consolas" panose="020B0609020204030204" pitchFamily="49" charset="0"/>
                <a:cs typeface="Cascadia Code" panose="020B0609020000020004" pitchFamily="49" charset="0"/>
              </a:rPr>
              <a:t> 200 </a:t>
            </a:r>
            <a:r>
              <a:rPr lang="ko-KR" altLang="en-US" sz="1600" dirty="0" err="1">
                <a:solidFill>
                  <a:schemeClr val="bg1"/>
                </a:solidFill>
                <a:latin typeface="Consolas" panose="020B0609020204030204" pitchFamily="49" charset="0"/>
                <a:cs typeface="Cascadia Code" panose="020B0609020000020004" pitchFamily="49" charset="0"/>
              </a:rPr>
              <a:t>words</a:t>
            </a:r>
            <a:r>
              <a:rPr lang="ko-KR" altLang="en-US" sz="1600" dirty="0">
                <a:solidFill>
                  <a:schemeClr val="bg1"/>
                </a:solidFill>
                <a:latin typeface="Consolas" panose="020B0609020204030204" pitchFamily="49" charset="0"/>
                <a:cs typeface="Cascadia Code" panose="020B0609020000020004" pitchFamily="49" charset="0"/>
              </a:rPr>
              <a:t>, </a:t>
            </a:r>
            <a:r>
              <a:rPr lang="ko-KR" altLang="en-US" sz="1600" dirty="0" err="1">
                <a:solidFill>
                  <a:schemeClr val="bg1"/>
                </a:solidFill>
                <a:latin typeface="Consolas" panose="020B0609020204030204" pitchFamily="49" charset="0"/>
                <a:cs typeface="Cascadia Code" panose="020B0609020000020004" pitchFamily="49" charset="0"/>
              </a:rPr>
              <a:t>accurately</a:t>
            </a:r>
            <a:r>
              <a:rPr lang="ko-KR" altLang="en-US" sz="1600" dirty="0">
                <a:solidFill>
                  <a:schemeClr val="bg1"/>
                </a:solidFill>
                <a:latin typeface="Consolas" panose="020B0609020204030204" pitchFamily="49" charset="0"/>
                <a:cs typeface="Cascadia Code" panose="020B0609020000020004" pitchFamily="49" charset="0"/>
              </a:rPr>
              <a:t> and </a:t>
            </a:r>
            <a:r>
              <a:rPr lang="ko-KR" altLang="en-US" sz="1600" dirty="0" err="1">
                <a:solidFill>
                  <a:schemeClr val="bg1"/>
                </a:solidFill>
                <a:latin typeface="Consolas" panose="020B0609020204030204" pitchFamily="49" charset="0"/>
                <a:cs typeface="Cascadia Code" panose="020B0609020000020004" pitchFamily="49" charset="0"/>
              </a:rPr>
              <a:t>clearly</a:t>
            </a:r>
            <a:r>
              <a:rPr lang="ko-KR" altLang="en-US" sz="1600" dirty="0">
                <a:solidFill>
                  <a:schemeClr val="bg1"/>
                </a:solidFill>
                <a:latin typeface="Consolas" panose="020B0609020204030204" pitchFamily="49" charset="0"/>
                <a:cs typeface="Cascadia Code" panose="020B0609020000020004" pitchFamily="49" charset="0"/>
              </a:rPr>
              <a:t>.</a:t>
            </a:r>
            <a:br>
              <a:rPr lang="en-US" altLang="ko-KR" sz="1600" dirty="0">
                <a:solidFill>
                  <a:schemeClr val="bg1"/>
                </a:solidFill>
                <a:latin typeface="Consolas" panose="020B0609020204030204" pitchFamily="49" charset="0"/>
                <a:ea typeface="Cascadia Code" panose="020B0609020000020004" pitchFamily="49" charset="0"/>
                <a:cs typeface="Cascadia Code" panose="020B0609020000020004" pitchFamily="49" charset="0"/>
              </a:rPr>
            </a:br>
            <a:r>
              <a:rPr lang="ko-KR" altLang="en-US" sz="1600" dirty="0">
                <a:solidFill>
                  <a:schemeClr val="bg1"/>
                </a:solidFill>
                <a:latin typeface="Consolas" panose="020B0609020204030204" pitchFamily="49" charset="0"/>
                <a:cs typeface="Cascadia Code" panose="020B0609020000020004" pitchFamily="49" charset="0"/>
              </a:rPr>
              <a:t>&lt;/</a:t>
            </a:r>
            <a:r>
              <a:rPr lang="ko-KR" altLang="en-US" sz="1600" dirty="0" err="1">
                <a:solidFill>
                  <a:schemeClr val="bg1"/>
                </a:solidFill>
                <a:latin typeface="Consolas" panose="020B0609020204030204" pitchFamily="49" charset="0"/>
                <a:cs typeface="Cascadia Code" panose="020B0609020000020004" pitchFamily="49" charset="0"/>
              </a:rPr>
              <a:t>task</a:t>
            </a:r>
            <a:r>
              <a:rPr lang="ko-KR" altLang="en-US" sz="1600" dirty="0">
                <a:solidFill>
                  <a:schemeClr val="bg1"/>
                </a:solidFill>
                <a:latin typeface="Consolas" panose="020B0609020204030204" pitchFamily="49" charset="0"/>
                <a:cs typeface="Cascadia Code" panose="020B0609020000020004" pitchFamily="49" charset="0"/>
              </a:rPr>
              <a:t>&gt;</a:t>
            </a:r>
            <a:endParaRPr lang="en-US" altLang="ko-KR" sz="1600" dirty="0">
              <a:solidFill>
                <a:schemeClr val="bg1"/>
              </a:solidFill>
              <a:latin typeface="Consolas" panose="020B0609020204030204" pitchFamily="49" charset="0"/>
              <a:ea typeface="Cascadia Code" panose="020B0609020000020004" pitchFamily="49" charset="0"/>
              <a:cs typeface="Cascadia Code" panose="020B0609020000020004" pitchFamily="49" charset="0"/>
            </a:endParaRPr>
          </a:p>
          <a:p>
            <a:r>
              <a:rPr lang="ko-KR" altLang="en-US" sz="1600" dirty="0">
                <a:solidFill>
                  <a:schemeClr val="bg1"/>
                </a:solidFill>
                <a:latin typeface="Consolas" panose="020B0609020204030204" pitchFamily="49" charset="0"/>
                <a:cs typeface="Cascadia Code" panose="020B0609020000020004" pitchFamily="49" charset="0"/>
              </a:rPr>
              <a:t>&lt;</a:t>
            </a:r>
            <a:r>
              <a:rPr lang="ko-KR" altLang="en-US" sz="1600" dirty="0" err="1">
                <a:solidFill>
                  <a:schemeClr val="bg1"/>
                </a:solidFill>
                <a:latin typeface="Consolas" panose="020B0609020204030204" pitchFamily="49" charset="0"/>
                <a:cs typeface="Cascadia Code" panose="020B0609020000020004" pitchFamily="49" charset="0"/>
              </a:rPr>
              <a:t>format_instructions</a:t>
            </a:r>
            <a:r>
              <a:rPr lang="ko-KR" altLang="en-US" sz="1600" dirty="0">
                <a:solidFill>
                  <a:schemeClr val="bg1"/>
                </a:solidFill>
                <a:latin typeface="Consolas" panose="020B0609020204030204" pitchFamily="49" charset="0"/>
                <a:cs typeface="Cascadia Code" panose="020B0609020000020004" pitchFamily="49" charset="0"/>
              </a:rPr>
              <a:t>&gt;</a:t>
            </a:r>
            <a:endParaRPr lang="en-US" altLang="ko-KR" sz="1600" dirty="0">
              <a:solidFill>
                <a:schemeClr val="bg1"/>
              </a:solidFill>
              <a:latin typeface="Consolas" panose="020B0609020204030204" pitchFamily="49" charset="0"/>
              <a:ea typeface="Cascadia Code" panose="020B0609020000020004" pitchFamily="49" charset="0"/>
              <a:cs typeface="Cascadia Code" panose="020B0609020000020004" pitchFamily="49" charset="0"/>
            </a:endParaRPr>
          </a:p>
          <a:p>
            <a:r>
              <a:rPr lang="en-US" altLang="ko-KR" sz="1600" dirty="0">
                <a:solidFill>
                  <a:schemeClr val="bg1"/>
                </a:solidFill>
                <a:latin typeface="Consolas" panose="020B0609020204030204" pitchFamily="49" charset="0"/>
                <a:ea typeface="Cascadia Code" panose="020B0609020000020004" pitchFamily="49" charset="0"/>
                <a:cs typeface="Cascadia Code" panose="020B0609020000020004" pitchFamily="49" charset="0"/>
              </a:rPr>
              <a:t>	</a:t>
            </a:r>
            <a:r>
              <a:rPr lang="ko-KR" altLang="en-US" sz="1600" dirty="0" err="1">
                <a:solidFill>
                  <a:schemeClr val="bg1"/>
                </a:solidFill>
                <a:latin typeface="Consolas" panose="020B0609020204030204" pitchFamily="49" charset="0"/>
                <a:cs typeface="Cascadia Code" panose="020B0609020000020004" pitchFamily="49" charset="0"/>
              </a:rPr>
              <a:t>Markdown</a:t>
            </a:r>
            <a:r>
              <a:rPr lang="ko-KR" altLang="en-US" sz="1600" dirty="0">
                <a:solidFill>
                  <a:schemeClr val="bg1"/>
                </a:solidFill>
                <a:latin typeface="Consolas" panose="020B0609020204030204" pitchFamily="49" charset="0"/>
                <a:cs typeface="Cascadia Code" panose="020B0609020000020004" pitchFamily="49" charset="0"/>
              </a:rPr>
              <a:t> </a:t>
            </a:r>
            <a:r>
              <a:rPr lang="ko-KR" altLang="en-US" sz="1600" dirty="0" err="1">
                <a:solidFill>
                  <a:schemeClr val="bg1"/>
                </a:solidFill>
                <a:latin typeface="Consolas" panose="020B0609020204030204" pitchFamily="49" charset="0"/>
                <a:cs typeface="Cascadia Code" panose="020B0609020000020004" pitchFamily="49" charset="0"/>
              </a:rPr>
              <a:t>output</a:t>
            </a:r>
            <a:r>
              <a:rPr lang="en-US" altLang="ko-KR" sz="1600" dirty="0">
                <a:solidFill>
                  <a:schemeClr val="bg1"/>
                </a:solidFill>
                <a:latin typeface="Consolas" panose="020B0609020204030204" pitchFamily="49" charset="0"/>
                <a:ea typeface="Cascadia Code" panose="020B0609020000020004" pitchFamily="49" charset="0"/>
                <a:cs typeface="Cascadia Code" panose="020B0609020000020004" pitchFamily="49" charset="0"/>
              </a:rPr>
              <a:t>, </a:t>
            </a:r>
            <a:r>
              <a:rPr lang="ko-KR" altLang="en-US" sz="1600" dirty="0" err="1">
                <a:solidFill>
                  <a:schemeClr val="bg1"/>
                </a:solidFill>
                <a:latin typeface="Consolas" panose="020B0609020204030204" pitchFamily="49" charset="0"/>
                <a:cs typeface="Cascadia Code" panose="020B0609020000020004" pitchFamily="49" charset="0"/>
              </a:rPr>
              <a:t>LaTeX</a:t>
            </a:r>
            <a:r>
              <a:rPr lang="ko-KR" altLang="en-US" sz="1600" dirty="0">
                <a:solidFill>
                  <a:schemeClr val="bg1"/>
                </a:solidFill>
                <a:latin typeface="Consolas" panose="020B0609020204030204" pitchFamily="49" charset="0"/>
                <a:cs typeface="Cascadia Code" panose="020B0609020000020004" pitchFamily="49" charset="0"/>
              </a:rPr>
              <a:t> </a:t>
            </a:r>
            <a:r>
              <a:rPr lang="ko-KR" altLang="en-US" sz="1600" dirty="0" err="1">
                <a:solidFill>
                  <a:schemeClr val="bg1"/>
                </a:solidFill>
                <a:latin typeface="Consolas" panose="020B0609020204030204" pitchFamily="49" charset="0"/>
                <a:cs typeface="Cascadia Code" panose="020B0609020000020004" pitchFamily="49" charset="0"/>
              </a:rPr>
              <a:t>for</a:t>
            </a:r>
            <a:r>
              <a:rPr lang="ko-KR" altLang="en-US" sz="1600" dirty="0">
                <a:solidFill>
                  <a:schemeClr val="bg1"/>
                </a:solidFill>
                <a:latin typeface="Consolas" panose="020B0609020204030204" pitchFamily="49" charset="0"/>
                <a:cs typeface="Cascadia Code" panose="020B0609020000020004" pitchFamily="49" charset="0"/>
              </a:rPr>
              <a:t> </a:t>
            </a:r>
            <a:r>
              <a:rPr lang="ko-KR" altLang="en-US" sz="1600" dirty="0" err="1">
                <a:solidFill>
                  <a:schemeClr val="bg1"/>
                </a:solidFill>
                <a:latin typeface="Consolas" panose="020B0609020204030204" pitchFamily="49" charset="0"/>
                <a:cs typeface="Cascadia Code" panose="020B0609020000020004" pitchFamily="49" charset="0"/>
              </a:rPr>
              <a:t>math</a:t>
            </a:r>
            <a:r>
              <a:rPr lang="ko-KR" altLang="en-US" sz="1600" dirty="0">
                <a:solidFill>
                  <a:schemeClr val="bg1"/>
                </a:solidFill>
                <a:latin typeface="Consolas" panose="020B0609020204030204" pitchFamily="49" charset="0"/>
                <a:cs typeface="Cascadia Code" panose="020B0609020000020004" pitchFamily="49" charset="0"/>
              </a:rPr>
              <a:t> </a:t>
            </a:r>
            <a:r>
              <a:rPr lang="ko-KR" altLang="en-US" sz="1600" dirty="0" err="1">
                <a:solidFill>
                  <a:schemeClr val="bg1"/>
                </a:solidFill>
                <a:latin typeface="Consolas" panose="020B0609020204030204" pitchFamily="49" charset="0"/>
                <a:cs typeface="Cascadia Code" panose="020B0609020000020004" pitchFamily="49" charset="0"/>
              </a:rPr>
              <a:t>expressions</a:t>
            </a:r>
            <a:r>
              <a:rPr lang="en-US" altLang="ko-KR" sz="1600" dirty="0">
                <a:solidFill>
                  <a:schemeClr val="bg1"/>
                </a:solidFill>
                <a:latin typeface="Consolas" panose="020B0609020204030204" pitchFamily="49" charset="0"/>
                <a:ea typeface="Cascadia Code" panose="020B0609020000020004" pitchFamily="49" charset="0"/>
                <a:cs typeface="Cascadia Code" panose="020B0609020000020004" pitchFamily="49" charset="0"/>
              </a:rPr>
              <a:t>, </a:t>
            </a:r>
            <a:r>
              <a:rPr lang="ko-KR" altLang="en-US" sz="1600" dirty="0" err="1">
                <a:solidFill>
                  <a:schemeClr val="bg1"/>
                </a:solidFill>
                <a:latin typeface="Consolas" panose="020B0609020204030204" pitchFamily="49" charset="0"/>
                <a:cs typeface="Cascadia Code" panose="020B0609020000020004" pitchFamily="49" charset="0"/>
              </a:rPr>
              <a:t>Plain</a:t>
            </a:r>
            <a:r>
              <a:rPr lang="ko-KR" altLang="en-US" sz="1600" dirty="0">
                <a:solidFill>
                  <a:schemeClr val="bg1"/>
                </a:solidFill>
                <a:latin typeface="Consolas" panose="020B0609020204030204" pitchFamily="49" charset="0"/>
                <a:cs typeface="Cascadia Code" panose="020B0609020000020004" pitchFamily="49" charset="0"/>
              </a:rPr>
              <a:t> </a:t>
            </a:r>
            <a:r>
              <a:rPr lang="ko-KR" altLang="en-US" sz="1600" dirty="0" err="1">
                <a:solidFill>
                  <a:schemeClr val="bg1"/>
                </a:solidFill>
                <a:latin typeface="Consolas" panose="020B0609020204030204" pitchFamily="49" charset="0"/>
                <a:cs typeface="Cascadia Code" panose="020B0609020000020004" pitchFamily="49" charset="0"/>
              </a:rPr>
              <a:t>text</a:t>
            </a:r>
            <a:r>
              <a:rPr lang="ko-KR" altLang="en-US" sz="1600" dirty="0">
                <a:solidFill>
                  <a:schemeClr val="bg1"/>
                </a:solidFill>
                <a:latin typeface="Consolas" panose="020B0609020204030204" pitchFamily="49" charset="0"/>
                <a:cs typeface="Cascadia Code" panose="020B0609020000020004" pitchFamily="49" charset="0"/>
              </a:rPr>
              <a:t> </a:t>
            </a:r>
            <a:r>
              <a:rPr lang="ko-KR" altLang="en-US" sz="1600" dirty="0" err="1">
                <a:solidFill>
                  <a:schemeClr val="bg1"/>
                </a:solidFill>
                <a:latin typeface="Consolas" panose="020B0609020204030204" pitchFamily="49" charset="0"/>
                <a:cs typeface="Cascadia Code" panose="020B0609020000020004" pitchFamily="49" charset="0"/>
              </a:rPr>
              <a:t>for</a:t>
            </a:r>
            <a:r>
              <a:rPr lang="ko-KR" altLang="en-US" sz="1600" dirty="0">
                <a:solidFill>
                  <a:schemeClr val="bg1"/>
                </a:solidFill>
                <a:latin typeface="Consolas" panose="020B0609020204030204" pitchFamily="49" charset="0"/>
                <a:cs typeface="Cascadia Code" panose="020B0609020000020004" pitchFamily="49" charset="0"/>
              </a:rPr>
              <a:t> </a:t>
            </a:r>
            <a:r>
              <a:rPr lang="ko-KR" altLang="en-US" sz="1600" dirty="0" err="1">
                <a:solidFill>
                  <a:schemeClr val="bg1"/>
                </a:solidFill>
                <a:latin typeface="Consolas" panose="020B0609020204030204" pitchFamily="49" charset="0"/>
                <a:cs typeface="Cascadia Code" panose="020B0609020000020004" pitchFamily="49" charset="0"/>
              </a:rPr>
              <a:t>URLs</a:t>
            </a:r>
            <a:endParaRPr lang="en-US" altLang="ko-KR" sz="1600" dirty="0">
              <a:solidFill>
                <a:schemeClr val="bg1"/>
              </a:solidFill>
              <a:latin typeface="Consolas" panose="020B0609020204030204" pitchFamily="49" charset="0"/>
              <a:ea typeface="Cascadia Code" panose="020B0609020000020004" pitchFamily="49" charset="0"/>
              <a:cs typeface="Cascadia Code" panose="020B0609020000020004" pitchFamily="49" charset="0"/>
            </a:endParaRPr>
          </a:p>
          <a:p>
            <a:r>
              <a:rPr lang="ko-KR" altLang="en-US" sz="1600" dirty="0">
                <a:solidFill>
                  <a:schemeClr val="bg1"/>
                </a:solidFill>
                <a:latin typeface="Consolas" panose="020B0609020204030204" pitchFamily="49" charset="0"/>
                <a:cs typeface="Cascadia Code" panose="020B0609020000020004" pitchFamily="49" charset="0"/>
              </a:rPr>
              <a:t>&lt;/</a:t>
            </a:r>
            <a:r>
              <a:rPr lang="ko-KR" altLang="en-US" sz="1600" dirty="0" err="1">
                <a:solidFill>
                  <a:schemeClr val="bg1"/>
                </a:solidFill>
                <a:latin typeface="Consolas" panose="020B0609020204030204" pitchFamily="49" charset="0"/>
                <a:cs typeface="Cascadia Code" panose="020B0609020000020004" pitchFamily="49" charset="0"/>
              </a:rPr>
              <a:t>format_instructions</a:t>
            </a:r>
            <a:r>
              <a:rPr lang="ko-KR" altLang="en-US" sz="1600" dirty="0">
                <a:solidFill>
                  <a:schemeClr val="bg1"/>
                </a:solidFill>
                <a:latin typeface="Consolas" panose="020B0609020204030204" pitchFamily="49" charset="0"/>
                <a:cs typeface="Cascadia Code" panose="020B0609020000020004" pitchFamily="49" charset="0"/>
              </a:rPr>
              <a:t>&gt;</a:t>
            </a:r>
            <a:endParaRPr lang="en-US" altLang="ko-KR" sz="1600" dirty="0">
              <a:solidFill>
                <a:schemeClr val="bg1"/>
              </a:solidFill>
              <a:latin typeface="Consolas" panose="020B0609020204030204" pitchFamily="49" charset="0"/>
              <a:ea typeface="Cascadia Code" panose="020B0609020000020004" pitchFamily="49" charset="0"/>
              <a:cs typeface="Cascadia Code" panose="020B0609020000020004" pitchFamily="49" charset="0"/>
            </a:endParaRPr>
          </a:p>
          <a:p>
            <a:r>
              <a:rPr lang="ko-KR" altLang="en-US" sz="1600" dirty="0">
                <a:solidFill>
                  <a:schemeClr val="bg1"/>
                </a:solidFill>
                <a:latin typeface="Consolas" panose="020B0609020204030204" pitchFamily="49" charset="0"/>
                <a:cs typeface="Cascadia Code" panose="020B0609020000020004" pitchFamily="49" charset="0"/>
              </a:rPr>
              <a:t>&lt;</a:t>
            </a:r>
            <a:r>
              <a:rPr lang="ko-KR" altLang="en-US" sz="1600" dirty="0" err="1">
                <a:solidFill>
                  <a:schemeClr val="bg1"/>
                </a:solidFill>
                <a:latin typeface="Consolas" panose="020B0609020204030204" pitchFamily="49" charset="0"/>
                <a:cs typeface="Cascadia Code" panose="020B0609020000020004" pitchFamily="49" charset="0"/>
              </a:rPr>
              <a:t>output_instructions</a:t>
            </a:r>
            <a:r>
              <a:rPr lang="ko-KR" altLang="en-US" sz="1600" dirty="0">
                <a:solidFill>
                  <a:schemeClr val="bg1"/>
                </a:solidFill>
                <a:latin typeface="Consolas" panose="020B0609020204030204" pitchFamily="49" charset="0"/>
                <a:cs typeface="Cascadia Code" panose="020B0609020000020004" pitchFamily="49" charset="0"/>
              </a:rPr>
              <a:t>&gt;</a:t>
            </a:r>
            <a:endParaRPr lang="en-US" altLang="ko-KR" sz="1600" dirty="0">
              <a:solidFill>
                <a:schemeClr val="bg1"/>
              </a:solidFill>
              <a:latin typeface="Consolas" panose="020B0609020204030204" pitchFamily="49" charset="0"/>
              <a:ea typeface="Cascadia Code" panose="020B0609020000020004" pitchFamily="49" charset="0"/>
              <a:cs typeface="Cascadia Code" panose="020B0609020000020004" pitchFamily="49" charset="0"/>
            </a:endParaRPr>
          </a:p>
          <a:p>
            <a:r>
              <a:rPr lang="en-US" altLang="ko-KR" sz="1600" dirty="0">
                <a:solidFill>
                  <a:schemeClr val="bg1"/>
                </a:solidFill>
                <a:latin typeface="Consolas" panose="020B0609020204030204" pitchFamily="49" charset="0"/>
                <a:ea typeface="Cascadia Code" panose="020B0609020000020004" pitchFamily="49" charset="0"/>
                <a:cs typeface="Cascadia Code" panose="020B0609020000020004" pitchFamily="49" charset="0"/>
              </a:rPr>
              <a:t>	</a:t>
            </a:r>
            <a:r>
              <a:rPr lang="ko-KR" altLang="en-US" sz="1600" dirty="0" err="1">
                <a:solidFill>
                  <a:schemeClr val="bg1"/>
                </a:solidFill>
                <a:latin typeface="Consolas" panose="020B0609020204030204" pitchFamily="49" charset="0"/>
                <a:cs typeface="Cascadia Code" panose="020B0609020000020004" pitchFamily="49" charset="0"/>
              </a:rPr>
              <a:t>Split</a:t>
            </a:r>
            <a:r>
              <a:rPr lang="ko-KR" altLang="en-US" sz="1600" dirty="0">
                <a:solidFill>
                  <a:schemeClr val="bg1"/>
                </a:solidFill>
                <a:latin typeface="Consolas" panose="020B0609020204030204" pitchFamily="49" charset="0"/>
                <a:cs typeface="Cascadia Code" panose="020B0609020000020004" pitchFamily="49" charset="0"/>
              </a:rPr>
              <a:t> </a:t>
            </a:r>
            <a:r>
              <a:rPr lang="ko-KR" altLang="en-US" sz="1600" dirty="0" err="1">
                <a:solidFill>
                  <a:schemeClr val="bg1"/>
                </a:solidFill>
                <a:latin typeface="Consolas" panose="020B0609020204030204" pitchFamily="49" charset="0"/>
                <a:cs typeface="Cascadia Code" panose="020B0609020000020004" pitchFamily="49" charset="0"/>
              </a:rPr>
              <a:t>response</a:t>
            </a:r>
            <a:r>
              <a:rPr lang="ko-KR" altLang="en-US" sz="1600" dirty="0">
                <a:solidFill>
                  <a:schemeClr val="bg1"/>
                </a:solidFill>
                <a:latin typeface="Consolas" panose="020B0609020204030204" pitchFamily="49" charset="0"/>
                <a:cs typeface="Cascadia Code" panose="020B0609020000020004" pitchFamily="49" charset="0"/>
              </a:rPr>
              <a:t> </a:t>
            </a:r>
            <a:r>
              <a:rPr lang="ko-KR" altLang="en-US" sz="1600" dirty="0" err="1">
                <a:solidFill>
                  <a:schemeClr val="bg1"/>
                </a:solidFill>
                <a:latin typeface="Consolas" panose="020B0609020204030204" pitchFamily="49" charset="0"/>
                <a:cs typeface="Cascadia Code" panose="020B0609020000020004" pitchFamily="49" charset="0"/>
              </a:rPr>
              <a:t>into</a:t>
            </a:r>
            <a:r>
              <a:rPr lang="ko-KR" altLang="en-US" sz="1600" dirty="0">
                <a:solidFill>
                  <a:schemeClr val="bg1"/>
                </a:solidFill>
                <a:latin typeface="Consolas" panose="020B0609020204030204" pitchFamily="49" charset="0"/>
                <a:cs typeface="Cascadia Code" panose="020B0609020000020004" pitchFamily="49" charset="0"/>
              </a:rPr>
              <a:t> "</a:t>
            </a:r>
            <a:r>
              <a:rPr lang="ko-KR" altLang="en-US" sz="1600" dirty="0" err="1">
                <a:solidFill>
                  <a:schemeClr val="bg1"/>
                </a:solidFill>
                <a:latin typeface="Consolas" panose="020B0609020204030204" pitchFamily="49" charset="0"/>
                <a:cs typeface="Cascadia Code" panose="020B0609020000020004" pitchFamily="49" charset="0"/>
              </a:rPr>
              <a:t>Thinking</a:t>
            </a:r>
            <a:r>
              <a:rPr lang="ko-KR" altLang="en-US" sz="1600" dirty="0">
                <a:solidFill>
                  <a:schemeClr val="bg1"/>
                </a:solidFill>
                <a:latin typeface="Consolas" panose="020B0609020204030204" pitchFamily="49" charset="0"/>
                <a:cs typeface="Cascadia Code" panose="020B0609020000020004" pitchFamily="49" charset="0"/>
              </a:rPr>
              <a:t>" and "</a:t>
            </a:r>
            <a:r>
              <a:rPr lang="ko-KR" altLang="en-US" sz="1600" dirty="0" err="1">
                <a:solidFill>
                  <a:schemeClr val="bg1"/>
                </a:solidFill>
                <a:latin typeface="Consolas" panose="020B0609020204030204" pitchFamily="49" charset="0"/>
                <a:cs typeface="Cascadia Code" panose="020B0609020000020004" pitchFamily="49" charset="0"/>
              </a:rPr>
              <a:t>Answer</a:t>
            </a:r>
            <a:r>
              <a:rPr lang="ko-KR" altLang="en-US" sz="1600" dirty="0">
                <a:solidFill>
                  <a:schemeClr val="bg1"/>
                </a:solidFill>
                <a:latin typeface="Consolas" panose="020B0609020204030204" pitchFamily="49" charset="0"/>
                <a:cs typeface="Cascadia Code" panose="020B0609020000020004" pitchFamily="49" charset="0"/>
              </a:rPr>
              <a:t>“</a:t>
            </a:r>
            <a:endParaRPr lang="en-US" altLang="ko-KR" sz="1600" dirty="0">
              <a:solidFill>
                <a:schemeClr val="bg1"/>
              </a:solidFill>
              <a:latin typeface="Consolas" panose="020B0609020204030204" pitchFamily="49" charset="0"/>
              <a:ea typeface="Cascadia Code" panose="020B0609020000020004" pitchFamily="49" charset="0"/>
              <a:cs typeface="Cascadia Code" panose="020B0609020000020004" pitchFamily="49" charset="0"/>
            </a:endParaRPr>
          </a:p>
          <a:p>
            <a:r>
              <a:rPr lang="en-US" altLang="ko-KR" sz="1600" dirty="0">
                <a:solidFill>
                  <a:schemeClr val="bg1"/>
                </a:solidFill>
                <a:latin typeface="Consolas" panose="020B0609020204030204" pitchFamily="49" charset="0"/>
                <a:ea typeface="Cascadia Code" panose="020B0609020000020004" pitchFamily="49" charset="0"/>
                <a:cs typeface="Cascadia Code" panose="020B0609020000020004" pitchFamily="49" charset="0"/>
              </a:rPr>
              <a:t>	</a:t>
            </a:r>
            <a:r>
              <a:rPr lang="ko-KR" altLang="en-US" sz="1600" dirty="0" err="1">
                <a:solidFill>
                  <a:schemeClr val="bg1"/>
                </a:solidFill>
                <a:latin typeface="Consolas" panose="020B0609020204030204" pitchFamily="49" charset="0"/>
                <a:cs typeface="Cascadia Code" panose="020B0609020000020004" pitchFamily="49" charset="0"/>
              </a:rPr>
              <a:t>Thinking</a:t>
            </a:r>
            <a:r>
              <a:rPr lang="ko-KR" altLang="en-US" sz="1600" dirty="0">
                <a:solidFill>
                  <a:schemeClr val="bg1"/>
                </a:solidFill>
                <a:latin typeface="Consolas" panose="020B0609020204030204" pitchFamily="49" charset="0"/>
                <a:cs typeface="Cascadia Code" panose="020B0609020000020004" pitchFamily="49" charset="0"/>
              </a:rPr>
              <a:t> </a:t>
            </a:r>
            <a:r>
              <a:rPr lang="ko-KR" altLang="en-US" sz="1600" dirty="0" err="1">
                <a:solidFill>
                  <a:schemeClr val="bg1"/>
                </a:solidFill>
                <a:latin typeface="Consolas" panose="020B0609020204030204" pitchFamily="49" charset="0"/>
                <a:cs typeface="Cascadia Code" panose="020B0609020000020004" pitchFamily="49" charset="0"/>
              </a:rPr>
              <a:t>section</a:t>
            </a:r>
            <a:r>
              <a:rPr lang="ko-KR" altLang="en-US" sz="1600" dirty="0">
                <a:solidFill>
                  <a:schemeClr val="bg1"/>
                </a:solidFill>
                <a:latin typeface="Consolas" panose="020B0609020204030204" pitchFamily="49" charset="0"/>
                <a:cs typeface="Cascadia Code" panose="020B0609020000020004" pitchFamily="49" charset="0"/>
              </a:rPr>
              <a:t>: </a:t>
            </a:r>
            <a:r>
              <a:rPr lang="ko-KR" altLang="en-US" sz="1600" dirty="0" err="1">
                <a:solidFill>
                  <a:schemeClr val="bg1"/>
                </a:solidFill>
                <a:latin typeface="Consolas" panose="020B0609020204030204" pitchFamily="49" charset="0"/>
                <a:cs typeface="Cascadia Code" panose="020B0609020000020004" pitchFamily="49" charset="0"/>
              </a:rPr>
              <a:t>Requirements</a:t>
            </a:r>
            <a:r>
              <a:rPr lang="ko-KR" altLang="en-US" sz="1600" dirty="0">
                <a:solidFill>
                  <a:schemeClr val="bg1"/>
                </a:solidFill>
                <a:latin typeface="Consolas" panose="020B0609020204030204" pitchFamily="49" charset="0"/>
                <a:cs typeface="Cascadia Code" panose="020B0609020000020004" pitchFamily="49" charset="0"/>
              </a:rPr>
              <a:t> → </a:t>
            </a:r>
            <a:r>
              <a:rPr lang="ko-KR" altLang="en-US" sz="1600" dirty="0" err="1">
                <a:solidFill>
                  <a:schemeClr val="bg1"/>
                </a:solidFill>
                <a:latin typeface="Consolas" panose="020B0609020204030204" pitchFamily="49" charset="0"/>
                <a:cs typeface="Cascadia Code" panose="020B0609020000020004" pitchFamily="49" charset="0"/>
              </a:rPr>
              <a:t>Evidence</a:t>
            </a:r>
            <a:r>
              <a:rPr lang="ko-KR" altLang="en-US" sz="1600" dirty="0">
                <a:solidFill>
                  <a:schemeClr val="bg1"/>
                </a:solidFill>
                <a:latin typeface="Consolas" panose="020B0609020204030204" pitchFamily="49" charset="0"/>
                <a:cs typeface="Cascadia Code" panose="020B0609020000020004" pitchFamily="49" charset="0"/>
              </a:rPr>
              <a:t> → </a:t>
            </a:r>
            <a:r>
              <a:rPr lang="ko-KR" altLang="en-US" sz="1600" dirty="0" err="1">
                <a:solidFill>
                  <a:schemeClr val="bg1"/>
                </a:solidFill>
                <a:latin typeface="Consolas" panose="020B0609020204030204" pitchFamily="49" charset="0"/>
                <a:cs typeface="Cascadia Code" panose="020B0609020000020004" pitchFamily="49" charset="0"/>
              </a:rPr>
              <a:t>Evaluation</a:t>
            </a:r>
            <a:endParaRPr lang="en-US" altLang="ko-KR" sz="1600" dirty="0">
              <a:solidFill>
                <a:schemeClr val="bg1"/>
              </a:solidFill>
              <a:latin typeface="Consolas" panose="020B0609020204030204" pitchFamily="49" charset="0"/>
              <a:ea typeface="Cascadia Code" panose="020B0609020000020004" pitchFamily="49" charset="0"/>
              <a:cs typeface="Cascadia Code" panose="020B0609020000020004" pitchFamily="49" charset="0"/>
            </a:endParaRPr>
          </a:p>
          <a:p>
            <a:r>
              <a:rPr lang="en-US" altLang="ko-KR" sz="1600" dirty="0">
                <a:solidFill>
                  <a:schemeClr val="bg1"/>
                </a:solidFill>
                <a:latin typeface="Consolas" panose="020B0609020204030204" pitchFamily="49" charset="0"/>
                <a:ea typeface="Cascadia Code" panose="020B0609020000020004" pitchFamily="49" charset="0"/>
                <a:cs typeface="Cascadia Code" panose="020B0609020000020004" pitchFamily="49" charset="0"/>
              </a:rPr>
              <a:t>	</a:t>
            </a:r>
            <a:r>
              <a:rPr lang="ko-KR" altLang="en-US" sz="1600" dirty="0" err="1">
                <a:solidFill>
                  <a:schemeClr val="bg1"/>
                </a:solidFill>
                <a:latin typeface="Consolas" panose="020B0609020204030204" pitchFamily="49" charset="0"/>
                <a:cs typeface="Cascadia Code" panose="020B0609020000020004" pitchFamily="49" charset="0"/>
              </a:rPr>
              <a:t>Prioritize</a:t>
            </a:r>
            <a:r>
              <a:rPr lang="ko-KR" altLang="en-US" sz="1600" dirty="0">
                <a:solidFill>
                  <a:schemeClr val="bg1"/>
                </a:solidFill>
                <a:latin typeface="Consolas" panose="020B0609020204030204" pitchFamily="49" charset="0"/>
                <a:cs typeface="Cascadia Code" panose="020B0609020000020004" pitchFamily="49" charset="0"/>
              </a:rPr>
              <a:t> </a:t>
            </a:r>
            <a:r>
              <a:rPr lang="ko-KR" altLang="en-US" sz="1600" dirty="0" err="1">
                <a:solidFill>
                  <a:schemeClr val="bg1"/>
                </a:solidFill>
                <a:latin typeface="Consolas" panose="020B0609020204030204" pitchFamily="49" charset="0"/>
                <a:cs typeface="Cascadia Code" panose="020B0609020000020004" pitchFamily="49" charset="0"/>
              </a:rPr>
              <a:t>past</a:t>
            </a:r>
            <a:r>
              <a:rPr lang="ko-KR" altLang="en-US" sz="1600" dirty="0">
                <a:solidFill>
                  <a:schemeClr val="bg1"/>
                </a:solidFill>
                <a:latin typeface="Consolas" panose="020B0609020204030204" pitchFamily="49" charset="0"/>
                <a:cs typeface="Cascadia Code" panose="020B0609020000020004" pitchFamily="49" charset="0"/>
              </a:rPr>
              <a:t> Q&amp;A </a:t>
            </a:r>
            <a:r>
              <a:rPr lang="ko-KR" altLang="en-US" sz="1600" dirty="0" err="1">
                <a:solidFill>
                  <a:schemeClr val="bg1"/>
                </a:solidFill>
                <a:latin typeface="Consolas" panose="020B0609020204030204" pitchFamily="49" charset="0"/>
                <a:cs typeface="Cascadia Code" panose="020B0609020000020004" pitchFamily="49" charset="0"/>
              </a:rPr>
              <a:t>pairs</a:t>
            </a:r>
            <a:r>
              <a:rPr lang="ko-KR" altLang="en-US" sz="1600" dirty="0">
                <a:solidFill>
                  <a:schemeClr val="bg1"/>
                </a:solidFill>
                <a:latin typeface="Consolas" panose="020B0609020204030204" pitchFamily="49" charset="0"/>
                <a:cs typeface="Cascadia Code" panose="020B0609020000020004" pitchFamily="49" charset="0"/>
              </a:rPr>
              <a:t> → </a:t>
            </a:r>
            <a:r>
              <a:rPr lang="ko-KR" altLang="en-US" sz="1600" dirty="0" err="1">
                <a:solidFill>
                  <a:schemeClr val="bg1"/>
                </a:solidFill>
                <a:latin typeface="Consolas" panose="020B0609020204030204" pitchFamily="49" charset="0"/>
                <a:cs typeface="Cascadia Code" panose="020B0609020000020004" pitchFamily="49" charset="0"/>
              </a:rPr>
              <a:t>then</a:t>
            </a:r>
            <a:r>
              <a:rPr lang="ko-KR" altLang="en-US" sz="1600" dirty="0">
                <a:solidFill>
                  <a:schemeClr val="bg1"/>
                </a:solidFill>
                <a:latin typeface="Consolas" panose="020B0609020204030204" pitchFamily="49" charset="0"/>
                <a:cs typeface="Cascadia Code" panose="020B0609020000020004" pitchFamily="49" charset="0"/>
              </a:rPr>
              <a:t> </a:t>
            </a:r>
            <a:r>
              <a:rPr lang="ko-KR" altLang="en-US" sz="1600" dirty="0" err="1">
                <a:solidFill>
                  <a:schemeClr val="bg1"/>
                </a:solidFill>
                <a:latin typeface="Consolas" panose="020B0609020204030204" pitchFamily="49" charset="0"/>
                <a:cs typeface="Cascadia Code" panose="020B0609020000020004" pitchFamily="49" charset="0"/>
              </a:rPr>
              <a:t>textbook</a:t>
            </a:r>
            <a:r>
              <a:rPr lang="ko-KR" altLang="en-US" sz="1600" dirty="0">
                <a:solidFill>
                  <a:schemeClr val="bg1"/>
                </a:solidFill>
                <a:latin typeface="Consolas" panose="020B0609020204030204" pitchFamily="49" charset="0"/>
                <a:cs typeface="Cascadia Code" panose="020B0609020000020004" pitchFamily="49" charset="0"/>
              </a:rPr>
              <a:t> → </a:t>
            </a:r>
            <a:r>
              <a:rPr lang="ko-KR" altLang="en-US" sz="1600" dirty="0" err="1">
                <a:solidFill>
                  <a:schemeClr val="bg1"/>
                </a:solidFill>
                <a:latin typeface="Consolas" panose="020B0609020204030204" pitchFamily="49" charset="0"/>
                <a:cs typeface="Cascadia Code" panose="020B0609020000020004" pitchFamily="49" charset="0"/>
              </a:rPr>
              <a:t>then</a:t>
            </a:r>
            <a:r>
              <a:rPr lang="ko-KR" altLang="en-US" sz="1600" dirty="0">
                <a:solidFill>
                  <a:schemeClr val="bg1"/>
                </a:solidFill>
                <a:latin typeface="Consolas" panose="020B0609020204030204" pitchFamily="49" charset="0"/>
                <a:cs typeface="Cascadia Code" panose="020B0609020000020004" pitchFamily="49" charset="0"/>
              </a:rPr>
              <a:t> LLM </a:t>
            </a:r>
            <a:r>
              <a:rPr lang="ko-KR" altLang="en-US" sz="1600" dirty="0" err="1">
                <a:solidFill>
                  <a:schemeClr val="bg1"/>
                </a:solidFill>
                <a:latin typeface="Consolas" panose="020B0609020204030204" pitchFamily="49" charset="0"/>
                <a:cs typeface="Cascadia Code" panose="020B0609020000020004" pitchFamily="49" charset="0"/>
              </a:rPr>
              <a:t>knowledge</a:t>
            </a:r>
            <a:endParaRPr lang="en-US" altLang="ko-KR" sz="1600" dirty="0">
              <a:solidFill>
                <a:schemeClr val="bg1"/>
              </a:solidFill>
              <a:latin typeface="Consolas" panose="020B0609020204030204" pitchFamily="49" charset="0"/>
              <a:cs typeface="Cascadia Code" panose="020B0609020000020004" pitchFamily="49" charset="0"/>
            </a:endParaRPr>
          </a:p>
          <a:p>
            <a:r>
              <a:rPr lang="en-US" altLang="ko-KR" sz="1600" dirty="0">
                <a:solidFill>
                  <a:schemeClr val="bg1"/>
                </a:solidFill>
                <a:latin typeface="Consolas" panose="020B0609020204030204" pitchFamily="49" charset="0"/>
                <a:cs typeface="Cascadia Code" panose="020B0609020000020004" pitchFamily="49" charset="0"/>
              </a:rPr>
              <a:t>	</a:t>
            </a:r>
            <a:r>
              <a:rPr lang="ko-KR" altLang="en-US" sz="1600" dirty="0" err="1">
                <a:solidFill>
                  <a:schemeClr val="bg1"/>
                </a:solidFill>
                <a:latin typeface="Consolas" panose="020B0609020204030204" pitchFamily="49" charset="0"/>
                <a:cs typeface="Cascadia Code" panose="020B0609020000020004" pitchFamily="49" charset="0"/>
              </a:rPr>
              <a:t>Use</a:t>
            </a:r>
            <a:r>
              <a:rPr lang="ko-KR" altLang="en-US" sz="1600" dirty="0">
                <a:solidFill>
                  <a:schemeClr val="bg1"/>
                </a:solidFill>
                <a:latin typeface="Consolas" panose="020B0609020204030204" pitchFamily="49" charset="0"/>
                <a:cs typeface="Cascadia Code" panose="020B0609020000020004" pitchFamily="49" charset="0"/>
              </a:rPr>
              <a:t> </a:t>
            </a:r>
            <a:r>
              <a:rPr lang="ko-KR" altLang="en-US" sz="1600" dirty="0" err="1">
                <a:solidFill>
                  <a:schemeClr val="bg1"/>
                </a:solidFill>
                <a:latin typeface="Consolas" panose="020B0609020204030204" pitchFamily="49" charset="0"/>
                <a:cs typeface="Cascadia Code" panose="020B0609020000020004" pitchFamily="49" charset="0"/>
              </a:rPr>
              <a:t>vocabulary</a:t>
            </a:r>
            <a:r>
              <a:rPr lang="ko-KR" altLang="en-US" sz="1600" dirty="0">
                <a:solidFill>
                  <a:schemeClr val="bg1"/>
                </a:solidFill>
                <a:latin typeface="Consolas" panose="020B0609020204030204" pitchFamily="49" charset="0"/>
                <a:cs typeface="Cascadia Code" panose="020B0609020000020004" pitchFamily="49" charset="0"/>
              </a:rPr>
              <a:t> </a:t>
            </a:r>
            <a:r>
              <a:rPr lang="ko-KR" altLang="en-US" sz="1600" dirty="0" err="1">
                <a:solidFill>
                  <a:schemeClr val="bg1"/>
                </a:solidFill>
                <a:latin typeface="Consolas" panose="020B0609020204030204" pitchFamily="49" charset="0"/>
                <a:cs typeface="Cascadia Code" panose="020B0609020000020004" pitchFamily="49" charset="0"/>
              </a:rPr>
              <a:t>appropriate</a:t>
            </a:r>
            <a:r>
              <a:rPr lang="ko-KR" altLang="en-US" sz="1600" dirty="0">
                <a:solidFill>
                  <a:schemeClr val="bg1"/>
                </a:solidFill>
                <a:latin typeface="Consolas" panose="020B0609020204030204" pitchFamily="49" charset="0"/>
                <a:cs typeface="Cascadia Code" panose="020B0609020000020004" pitchFamily="49" charset="0"/>
              </a:rPr>
              <a:t> </a:t>
            </a:r>
            <a:r>
              <a:rPr lang="ko-KR" altLang="en-US" sz="1600" dirty="0" err="1">
                <a:solidFill>
                  <a:schemeClr val="bg1"/>
                </a:solidFill>
                <a:latin typeface="Consolas" panose="020B0609020204030204" pitchFamily="49" charset="0"/>
                <a:cs typeface="Cascadia Code" panose="020B0609020000020004" pitchFamily="49" charset="0"/>
              </a:rPr>
              <a:t>for</a:t>
            </a:r>
            <a:r>
              <a:rPr lang="ko-KR" altLang="en-US" sz="1600" dirty="0">
                <a:solidFill>
                  <a:schemeClr val="bg1"/>
                </a:solidFill>
                <a:latin typeface="Consolas" panose="020B0609020204030204" pitchFamily="49" charset="0"/>
                <a:cs typeface="Cascadia Code" panose="020B0609020000020004" pitchFamily="49" charset="0"/>
              </a:rPr>
              <a:t> </a:t>
            </a:r>
            <a:r>
              <a:rPr lang="ko-KR" altLang="en-US" sz="1600" dirty="0" err="1">
                <a:solidFill>
                  <a:schemeClr val="bg1"/>
                </a:solidFill>
                <a:latin typeface="Consolas" panose="020B0609020204030204" pitchFamily="49" charset="0"/>
                <a:cs typeface="Cascadia Code" panose="020B0609020000020004" pitchFamily="49" charset="0"/>
              </a:rPr>
              <a:t>Grade</a:t>
            </a:r>
            <a:r>
              <a:rPr lang="ko-KR" altLang="en-US" sz="1600" dirty="0">
                <a:solidFill>
                  <a:schemeClr val="bg1"/>
                </a:solidFill>
                <a:latin typeface="Consolas" panose="020B0609020204030204" pitchFamily="49" charset="0"/>
                <a:cs typeface="Cascadia Code" panose="020B0609020000020004" pitchFamily="49" charset="0"/>
              </a:rPr>
              <a:t> 10 </a:t>
            </a:r>
            <a:r>
              <a:rPr lang="ko-KR" altLang="en-US" sz="1600" dirty="0" err="1">
                <a:solidFill>
                  <a:schemeClr val="bg1"/>
                </a:solidFill>
                <a:latin typeface="Consolas" panose="020B0609020204030204" pitchFamily="49" charset="0"/>
                <a:cs typeface="Cascadia Code" panose="020B0609020000020004" pitchFamily="49" charset="0"/>
              </a:rPr>
              <a:t>students</a:t>
            </a:r>
            <a:endParaRPr lang="en-US" altLang="ko-KR" sz="1600" dirty="0">
              <a:solidFill>
                <a:schemeClr val="bg1"/>
              </a:solidFill>
              <a:latin typeface="Consolas" panose="020B0609020204030204" pitchFamily="49" charset="0"/>
              <a:cs typeface="Cascadia Code" panose="020B0609020000020004" pitchFamily="49" charset="0"/>
            </a:endParaRPr>
          </a:p>
          <a:p>
            <a:r>
              <a:rPr lang="ko-KR" altLang="en-US" sz="1600" dirty="0">
                <a:solidFill>
                  <a:schemeClr val="bg1"/>
                </a:solidFill>
                <a:latin typeface="Consolas" panose="020B0609020204030204" pitchFamily="49" charset="0"/>
                <a:cs typeface="Cascadia Code" panose="020B0609020000020004" pitchFamily="49" charset="0"/>
              </a:rPr>
              <a:t>&lt;/</a:t>
            </a:r>
            <a:r>
              <a:rPr lang="ko-KR" altLang="en-US" sz="1600" dirty="0" err="1">
                <a:solidFill>
                  <a:schemeClr val="bg1"/>
                </a:solidFill>
                <a:latin typeface="Consolas" panose="020B0609020204030204" pitchFamily="49" charset="0"/>
                <a:cs typeface="Cascadia Code" panose="020B0609020000020004" pitchFamily="49" charset="0"/>
              </a:rPr>
              <a:t>output_instructions</a:t>
            </a:r>
            <a:r>
              <a:rPr lang="ko-KR" altLang="en-US" sz="1600" dirty="0">
                <a:solidFill>
                  <a:schemeClr val="bg1"/>
                </a:solidFill>
                <a:latin typeface="Consolas" panose="020B0609020204030204" pitchFamily="49" charset="0"/>
                <a:cs typeface="Cascadia Code" panose="020B0609020000020004" pitchFamily="49" charset="0"/>
              </a:rPr>
              <a:t>&gt;</a:t>
            </a:r>
          </a:p>
        </p:txBody>
      </p:sp>
    </p:spTree>
    <p:extLst>
      <p:ext uri="{BB962C8B-B14F-4D97-AF65-F5344CB8AC3E}">
        <p14:creationId xmlns:p14="http://schemas.microsoft.com/office/powerpoint/2010/main" val="362608125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제목 6">
            <a:extLst>
              <a:ext uri="{FF2B5EF4-FFF2-40B4-BE49-F238E27FC236}">
                <a16:creationId xmlns:a16="http://schemas.microsoft.com/office/drawing/2014/main" id="{73D128D3-FD77-8A54-D52D-C2D0E08E0D99}"/>
              </a:ext>
            </a:extLst>
          </p:cNvPr>
          <p:cNvSpPr>
            <a:spLocks noGrp="1"/>
          </p:cNvSpPr>
          <p:nvPr>
            <p:ph type="title"/>
          </p:nvPr>
        </p:nvSpPr>
        <p:spPr/>
        <p:txBody>
          <a:bodyPr/>
          <a:lstStyle/>
          <a:p>
            <a:r>
              <a:rPr lang="en-US" altLang="ko-KR" dirty="0"/>
              <a:t>Results 2</a:t>
            </a:r>
            <a:endParaRPr lang="ko-KR" altLang="en-US" dirty="0"/>
          </a:p>
        </p:txBody>
      </p:sp>
      <p:sp>
        <p:nvSpPr>
          <p:cNvPr id="8" name="내용 개체 틀 7">
            <a:extLst>
              <a:ext uri="{FF2B5EF4-FFF2-40B4-BE49-F238E27FC236}">
                <a16:creationId xmlns:a16="http://schemas.microsoft.com/office/drawing/2014/main" id="{42797C18-2036-DB7C-FD01-E83D805DCE23}"/>
              </a:ext>
            </a:extLst>
          </p:cNvPr>
          <p:cNvSpPr>
            <a:spLocks noGrp="1"/>
          </p:cNvSpPr>
          <p:nvPr>
            <p:ph idx="1"/>
          </p:nvPr>
        </p:nvSpPr>
        <p:spPr>
          <a:xfrm>
            <a:off x="838199" y="1825625"/>
            <a:ext cx="10896599" cy="4749346"/>
          </a:xfrm>
        </p:spPr>
        <p:txBody>
          <a:bodyPr>
            <a:normAutofit/>
          </a:bodyPr>
          <a:lstStyle/>
          <a:p>
            <a:r>
              <a:rPr lang="en-US" altLang="ko-KR" dirty="0"/>
              <a:t>IRQA is separate from LLM — important distinction</a:t>
            </a:r>
          </a:p>
          <a:p>
            <a:endParaRPr lang="en-US" altLang="ko-KR" dirty="0"/>
          </a:p>
          <a:p>
            <a:r>
              <a:rPr lang="en-US" altLang="ko-KR" dirty="0"/>
              <a:t>After the LLM generates its answer, IRQA runs independently:</a:t>
            </a:r>
          </a:p>
          <a:p>
            <a:pPr lvl="1"/>
            <a:r>
              <a:rPr lang="en-US" altLang="ko-KR" dirty="0"/>
              <a:t>High-similarity questions: shown with score label</a:t>
            </a:r>
          </a:p>
          <a:p>
            <a:pPr lvl="1"/>
            <a:r>
              <a:rPr lang="en-US" altLang="ko-KR" dirty="0"/>
              <a:t>MMR-diverse questions (always 4): shown for broader exploration</a:t>
            </a:r>
          </a:p>
          <a:p>
            <a:pPr lvl="1"/>
            <a:r>
              <a:rPr lang="en-US" altLang="ko-KR" dirty="0"/>
              <a:t>Clicking a button shows the teacher's original answer — no LLM involved</a:t>
            </a:r>
          </a:p>
          <a:p>
            <a:endParaRPr lang="en-US" altLang="ko-KR" dirty="0"/>
          </a:p>
          <a:p>
            <a:r>
              <a:rPr lang="en-US" altLang="ko-KR" dirty="0"/>
              <a:t>This separation means IRQA answers are 100% teacher-authored and never hallucinated.</a:t>
            </a:r>
          </a:p>
        </p:txBody>
      </p:sp>
      <p:sp>
        <p:nvSpPr>
          <p:cNvPr id="2" name="TextBox 1">
            <a:extLst>
              <a:ext uri="{FF2B5EF4-FFF2-40B4-BE49-F238E27FC236}">
                <a16:creationId xmlns:a16="http://schemas.microsoft.com/office/drawing/2014/main" id="{E0DCC07D-EFAF-275F-0991-3F36435DA776}"/>
              </a:ext>
            </a:extLst>
          </p:cNvPr>
          <p:cNvSpPr txBox="1"/>
          <p:nvPr/>
        </p:nvSpPr>
        <p:spPr>
          <a:xfrm>
            <a:off x="3820884" y="781684"/>
            <a:ext cx="7913915" cy="492443"/>
          </a:xfrm>
          <a:prstGeom prst="rect">
            <a:avLst/>
          </a:prstGeom>
          <a:noFill/>
        </p:spPr>
        <p:txBody>
          <a:bodyPr wrap="square">
            <a:spAutoFit/>
          </a:bodyPr>
          <a:lstStyle/>
          <a:p>
            <a:r>
              <a:rPr lang="en-US" altLang="ko-KR" sz="1300" dirty="0"/>
              <a:t>How can we implement a school customized science Q&amp;A chatbot which is applied hybrid approach combined with RAG and IRQA?</a:t>
            </a:r>
            <a:endParaRPr lang="ko-KR" altLang="en-US" sz="1300" dirty="0"/>
          </a:p>
        </p:txBody>
      </p:sp>
    </p:spTree>
    <p:extLst>
      <p:ext uri="{BB962C8B-B14F-4D97-AF65-F5344CB8AC3E}">
        <p14:creationId xmlns:p14="http://schemas.microsoft.com/office/powerpoint/2010/main" val="35206197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25F9C25-9B1F-A948-70B1-DDD185C146A1}"/>
              </a:ext>
            </a:extLst>
          </p:cNvPr>
          <p:cNvSpPr>
            <a:spLocks noGrp="1"/>
          </p:cNvSpPr>
          <p:nvPr>
            <p:ph type="title"/>
          </p:nvPr>
        </p:nvSpPr>
        <p:spPr/>
        <p:txBody>
          <a:bodyPr/>
          <a:lstStyle/>
          <a:p>
            <a:r>
              <a:rPr lang="en-US" altLang="ko-KR" dirty="0"/>
              <a:t>Conclusion, Discussion</a:t>
            </a:r>
            <a:endParaRPr lang="ko-KR" altLang="en-US" dirty="0"/>
          </a:p>
        </p:txBody>
      </p:sp>
      <p:sp>
        <p:nvSpPr>
          <p:cNvPr id="3" name="내용 개체 틀 2">
            <a:extLst>
              <a:ext uri="{FF2B5EF4-FFF2-40B4-BE49-F238E27FC236}">
                <a16:creationId xmlns:a16="http://schemas.microsoft.com/office/drawing/2014/main" id="{BEFC685E-2BED-1580-2B11-C7E26F5D317E}"/>
              </a:ext>
            </a:extLst>
          </p:cNvPr>
          <p:cNvSpPr>
            <a:spLocks noGrp="1"/>
          </p:cNvSpPr>
          <p:nvPr>
            <p:ph idx="1"/>
          </p:nvPr>
        </p:nvSpPr>
        <p:spPr>
          <a:xfrm>
            <a:off x="838200" y="1825624"/>
            <a:ext cx="11353800" cy="5032375"/>
          </a:xfrm>
        </p:spPr>
        <p:txBody>
          <a:bodyPr>
            <a:normAutofit/>
          </a:bodyPr>
          <a:lstStyle/>
          <a:p>
            <a:r>
              <a:rPr lang="en-US" altLang="ko-KR" dirty="0"/>
              <a:t>Educational Value (Teacher's View)</a:t>
            </a:r>
          </a:p>
          <a:p>
            <a:pPr lvl="1"/>
            <a:r>
              <a:rPr lang="en-US" altLang="ko-KR" dirty="0"/>
              <a:t>As a teacher, I have full control over this AI.</a:t>
            </a:r>
          </a:p>
          <a:p>
            <a:pPr lvl="1"/>
            <a:r>
              <a:rPr lang="en-US" altLang="ko-KR" dirty="0"/>
              <a:t>I can check the AI's logic and edit the database.</a:t>
            </a:r>
          </a:p>
          <a:p>
            <a:pPr lvl="1"/>
            <a:r>
              <a:rPr lang="en-US" altLang="ko-KR" dirty="0"/>
              <a:t>Because it is NOT an autonomous Agent, it protects active thinking.</a:t>
            </a:r>
          </a:p>
          <a:p>
            <a:pPr lvl="1"/>
            <a:r>
              <a:rPr lang="en-US" altLang="ko-KR" dirty="0"/>
              <a:t>It guides the students, but the students still have to think.</a:t>
            </a:r>
          </a:p>
          <a:p>
            <a:endParaRPr lang="en-US" altLang="ko-KR" dirty="0"/>
          </a:p>
          <a:p>
            <a:r>
              <a:rPr lang="en-US" altLang="ko-KR" dirty="0"/>
              <a:t>Practical Value</a:t>
            </a:r>
          </a:p>
          <a:p>
            <a:pPr lvl="1"/>
            <a:r>
              <a:rPr lang="en-US" altLang="ko-KR" dirty="0"/>
              <a:t>It is 100% Free. No API costs. (Even if you use Google API, 14,000 requests are still free.)</a:t>
            </a:r>
          </a:p>
          <a:p>
            <a:pPr lvl="1"/>
            <a:r>
              <a:rPr lang="en-US" altLang="ko-KR" dirty="0"/>
              <a:t>It is secure. No data leaves my classroom if you run LLM on local server.</a:t>
            </a:r>
          </a:p>
          <a:p>
            <a:pPr lvl="1"/>
            <a:r>
              <a:rPr lang="en-US" altLang="ko-KR" dirty="0"/>
              <a:t>It saves my time. I don't have to answer the same question repeatedly.</a:t>
            </a:r>
          </a:p>
          <a:p>
            <a:pPr lvl="1"/>
            <a:r>
              <a:rPr lang="en-US" altLang="ko-KR" dirty="0"/>
              <a:t>I can use that time to care for my students more deeply.</a:t>
            </a:r>
          </a:p>
          <a:p>
            <a:pPr lvl="1"/>
            <a:endParaRPr lang="ko-KR" altLang="en-US" dirty="0"/>
          </a:p>
        </p:txBody>
      </p:sp>
    </p:spTree>
    <p:extLst>
      <p:ext uri="{BB962C8B-B14F-4D97-AF65-F5344CB8AC3E}">
        <p14:creationId xmlns:p14="http://schemas.microsoft.com/office/powerpoint/2010/main" val="90763704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7CEEF55-AAE7-8F1E-82E3-8C967B9B6F91}"/>
              </a:ext>
            </a:extLst>
          </p:cNvPr>
          <p:cNvSpPr>
            <a:spLocks noGrp="1"/>
          </p:cNvSpPr>
          <p:nvPr>
            <p:ph type="title"/>
          </p:nvPr>
        </p:nvSpPr>
        <p:spPr/>
        <p:txBody>
          <a:bodyPr/>
          <a:lstStyle/>
          <a:p>
            <a:r>
              <a:rPr lang="en-US" altLang="ko-KR" dirty="0"/>
              <a:t>What We Will Present Tomorrow is…</a:t>
            </a:r>
            <a:endParaRPr lang="ko-KR" altLang="en-US" dirty="0"/>
          </a:p>
        </p:txBody>
      </p:sp>
      <p:sp>
        <p:nvSpPr>
          <p:cNvPr id="3" name="내용 개체 틀 2">
            <a:extLst>
              <a:ext uri="{FF2B5EF4-FFF2-40B4-BE49-F238E27FC236}">
                <a16:creationId xmlns:a16="http://schemas.microsoft.com/office/drawing/2014/main" id="{CB2C36C5-0285-D3EF-D7F6-EEA6E4D5D8FD}"/>
              </a:ext>
            </a:extLst>
          </p:cNvPr>
          <p:cNvSpPr>
            <a:spLocks noGrp="1"/>
          </p:cNvSpPr>
          <p:nvPr>
            <p:ph idx="1"/>
          </p:nvPr>
        </p:nvSpPr>
        <p:spPr>
          <a:xfrm>
            <a:off x="838200" y="1825625"/>
            <a:ext cx="10515600" cy="4886902"/>
          </a:xfrm>
        </p:spPr>
        <p:txBody>
          <a:bodyPr>
            <a:normAutofit/>
          </a:bodyPr>
          <a:lstStyle/>
          <a:p>
            <a:r>
              <a:rPr lang="en-US" altLang="ko-KR" dirty="0">
                <a:effectLst/>
              </a:rPr>
              <a:t>Demonstration of open-source LLM (Gemma 4) on a relatively low-cost server.</a:t>
            </a:r>
          </a:p>
          <a:p>
            <a:r>
              <a:rPr lang="en-US" altLang="ko-KR" dirty="0">
                <a:effectLst/>
              </a:rPr>
              <a:t>Example of RAG and IRQA with textbooks and past </a:t>
            </a:r>
            <a:r>
              <a:rPr lang="en-US" altLang="ko-KR" dirty="0"/>
              <a:t>real student </a:t>
            </a:r>
            <a:r>
              <a:rPr lang="en-US" altLang="ko-KR" dirty="0">
                <a:effectLst/>
              </a:rPr>
              <a:t>questions.</a:t>
            </a:r>
          </a:p>
          <a:p>
            <a:r>
              <a:rPr lang="en-US" altLang="ko-KR" dirty="0">
                <a:effectLst/>
              </a:rPr>
              <a:t>This creates sustainable, low-cost tools for public education.</a:t>
            </a:r>
          </a:p>
          <a:p>
            <a:r>
              <a:rPr lang="en-US" altLang="ko-KR" dirty="0">
                <a:effectLst/>
              </a:rPr>
              <a:t>We have operated a school customized chatbot system since summer of 2020</a:t>
            </a:r>
            <a:r>
              <a:rPr lang="en-US" altLang="ko-KR" dirty="0"/>
              <a:t>(Min &amp; Yoo, 2022; 2024; 2025).</a:t>
            </a:r>
          </a:p>
          <a:p>
            <a:endParaRPr lang="en-US" altLang="ko-KR" dirty="0"/>
          </a:p>
          <a:p>
            <a:r>
              <a:rPr lang="en-US" altLang="ko-KR" dirty="0"/>
              <a:t>In part 2, I’ll demonstrate how to implement this system on your computer.</a:t>
            </a:r>
          </a:p>
        </p:txBody>
      </p:sp>
    </p:spTree>
    <p:extLst>
      <p:ext uri="{BB962C8B-B14F-4D97-AF65-F5344CB8AC3E}">
        <p14:creationId xmlns:p14="http://schemas.microsoft.com/office/powerpoint/2010/main" val="192962367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696FB67-FB6D-07B6-C81F-2B4D0DA4AF35}"/>
              </a:ext>
            </a:extLst>
          </p:cNvPr>
          <p:cNvSpPr>
            <a:spLocks noGrp="1"/>
          </p:cNvSpPr>
          <p:nvPr>
            <p:ph type="title"/>
          </p:nvPr>
        </p:nvSpPr>
        <p:spPr/>
        <p:txBody>
          <a:bodyPr/>
          <a:lstStyle/>
          <a:p>
            <a:r>
              <a:rPr lang="en-US" altLang="ko-KR" dirty="0"/>
              <a:t>Limitations,</a:t>
            </a:r>
            <a:r>
              <a:rPr lang="ko-KR" altLang="en-US" dirty="0"/>
              <a:t> </a:t>
            </a:r>
            <a:r>
              <a:rPr lang="en-US" altLang="ko-KR" dirty="0"/>
              <a:t>How-</a:t>
            </a:r>
            <a:r>
              <a:rPr lang="en-US" altLang="ko-KR" dirty="0" err="1"/>
              <a:t>tos</a:t>
            </a:r>
            <a:r>
              <a:rPr lang="en-US" altLang="ko-KR" dirty="0"/>
              <a:t>, References</a:t>
            </a:r>
            <a:endParaRPr lang="ko-KR" altLang="en-US" dirty="0"/>
          </a:p>
        </p:txBody>
      </p:sp>
      <p:sp>
        <p:nvSpPr>
          <p:cNvPr id="3" name="내용 개체 틀 2">
            <a:extLst>
              <a:ext uri="{FF2B5EF4-FFF2-40B4-BE49-F238E27FC236}">
                <a16:creationId xmlns:a16="http://schemas.microsoft.com/office/drawing/2014/main" id="{44242D3A-018C-1CAB-D67E-F11673341927}"/>
              </a:ext>
            </a:extLst>
          </p:cNvPr>
          <p:cNvSpPr>
            <a:spLocks noGrp="1"/>
          </p:cNvSpPr>
          <p:nvPr>
            <p:ph idx="1"/>
          </p:nvPr>
        </p:nvSpPr>
        <p:spPr>
          <a:xfrm>
            <a:off x="838199" y="1825624"/>
            <a:ext cx="10882745" cy="5032376"/>
          </a:xfrm>
        </p:spPr>
        <p:txBody>
          <a:bodyPr>
            <a:normAutofit fontScale="92500" lnSpcReduction="20000"/>
          </a:bodyPr>
          <a:lstStyle/>
          <a:p>
            <a:r>
              <a:rPr lang="en-US" altLang="ko-KR" dirty="0"/>
              <a:t>I only tested this with Korean High School Science.</a:t>
            </a:r>
          </a:p>
          <a:p>
            <a:pPr lvl="1"/>
            <a:r>
              <a:rPr lang="en-US" altLang="ko-KR" dirty="0"/>
              <a:t>But I think it will also work well in Bulgarian if system prompt is well translated in </a:t>
            </a:r>
            <a:r>
              <a:rPr lang="en-US" altLang="ko-KR" dirty="0" err="1"/>
              <a:t>Bulagrian</a:t>
            </a:r>
            <a:r>
              <a:rPr lang="en-US" altLang="ko-KR" dirty="0"/>
              <a:t>.</a:t>
            </a:r>
          </a:p>
          <a:p>
            <a:r>
              <a:rPr lang="en-US" altLang="ko-KR" dirty="0"/>
              <a:t>I did not measure test score improvements yet.</a:t>
            </a:r>
          </a:p>
          <a:p>
            <a:r>
              <a:rPr lang="en-US" altLang="ko-KR" dirty="0"/>
              <a:t>I only measured how much students used it.</a:t>
            </a:r>
          </a:p>
          <a:p>
            <a:endParaRPr lang="en-US" altLang="ko-KR" dirty="0"/>
          </a:p>
          <a:p>
            <a:r>
              <a:rPr lang="en-US" altLang="ko-KR" dirty="0"/>
              <a:t>To implement this chatbot system, I made a setup guide.</a:t>
            </a:r>
            <a:endParaRPr lang="bg-BG" altLang="ko-KR" dirty="0"/>
          </a:p>
          <a:p>
            <a:pPr lvl="1"/>
            <a:r>
              <a:rPr lang="en-US" altLang="ko-KR" dirty="0">
                <a:hlinkClick r:id="rId3"/>
              </a:rPr>
              <a:t>https://github.com/kungmo/science_qna_rag_irqa_chatbot_bg</a:t>
            </a:r>
            <a:r>
              <a:rPr lang="en-US" altLang="ko-KR" dirty="0"/>
              <a:t> </a:t>
            </a:r>
          </a:p>
          <a:p>
            <a:pPr lvl="1"/>
            <a:r>
              <a:rPr lang="en-US" altLang="ko-KR" dirty="0"/>
              <a:t>You can setup chatbot system with it in 1 hour. I’ll demonstrate this process step by step from scratch.</a:t>
            </a:r>
          </a:p>
          <a:p>
            <a:endParaRPr lang="en-US" altLang="ko-KR" dirty="0"/>
          </a:p>
          <a:p>
            <a:r>
              <a:rPr lang="en-US" altLang="ko-KR" dirty="0"/>
              <a:t>References</a:t>
            </a:r>
          </a:p>
          <a:p>
            <a:pPr lvl="1"/>
            <a:r>
              <a:rPr lang="en-US" altLang="ko-KR" dirty="0" err="1"/>
              <a:t>Gyeongmo</a:t>
            </a:r>
            <a:r>
              <a:rPr lang="en-US" altLang="ko-KR" dirty="0"/>
              <a:t> Min. (2025). Development and Evaluation of a Q&amp;A Chatbot for High School Integrated Science using Open-Source LLM and RAG</a:t>
            </a:r>
            <a:r>
              <a:rPr lang="en-US" altLang="ko-KR" i="1" dirty="0"/>
              <a:t>[electronic resource]</a:t>
            </a:r>
            <a:r>
              <a:rPr lang="en-US" altLang="ko-KR" dirty="0"/>
              <a:t>. Seoul National University Graduate School, Seoul.</a:t>
            </a:r>
          </a:p>
          <a:p>
            <a:endParaRPr lang="ko-KR" altLang="en-US" dirty="0"/>
          </a:p>
        </p:txBody>
      </p:sp>
    </p:spTree>
    <p:extLst>
      <p:ext uri="{BB962C8B-B14F-4D97-AF65-F5344CB8AC3E}">
        <p14:creationId xmlns:p14="http://schemas.microsoft.com/office/powerpoint/2010/main" val="396795074"/>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1672</TotalTime>
  <Words>6070</Words>
  <Application>Microsoft Macintosh PowerPoint</Application>
  <PresentationFormat>와이드스크린</PresentationFormat>
  <Paragraphs>482</Paragraphs>
  <Slides>45</Slides>
  <Notes>19</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45</vt:i4>
      </vt:variant>
    </vt:vector>
  </HeadingPairs>
  <TitlesOfParts>
    <vt:vector size="49" baseType="lpstr">
      <vt:lpstr>맑은 고딕</vt:lpstr>
      <vt:lpstr>Arial</vt:lpstr>
      <vt:lpstr>Consolas</vt:lpstr>
      <vt:lpstr>Office 테마</vt:lpstr>
      <vt:lpstr>Overview of educational chatbots and the practical need for a high school integrated science Q&amp;A chatbot in a real school environment </vt:lpstr>
      <vt:lpstr>What We Will Cover Today</vt:lpstr>
      <vt:lpstr>What is a Chatbot?</vt:lpstr>
      <vt:lpstr>Early Chatbots – Rule-Based Era (until 1995)</vt:lpstr>
      <vt:lpstr>PowerPoint 프레젠테이션</vt:lpstr>
      <vt:lpstr>PowerPoint 프레젠테이션</vt:lpstr>
      <vt:lpstr>PowerPoint 프레젠테이션</vt:lpstr>
      <vt:lpstr>Pattern Matching and Data-Based Chatbots (1995–2015)</vt:lpstr>
      <vt:lpstr>PowerPoint 프레젠테이션</vt:lpstr>
      <vt:lpstr>PowerPoint 프레젠테이션</vt:lpstr>
      <vt:lpstr>Limitations Before LLMs</vt:lpstr>
      <vt:lpstr>The Big Revolution – Large Language Models (2017–2022)</vt:lpstr>
      <vt:lpstr>Current LLMs</vt:lpstr>
      <vt:lpstr>Educational chatbots powered by LLMs</vt:lpstr>
      <vt:lpstr>Design Principles for Educational Chatbots</vt:lpstr>
      <vt:lpstr>Applications of Educational Chatbots</vt:lpstr>
      <vt:lpstr>Problems with Current Educational Chatbots</vt:lpstr>
      <vt:lpstr>High School Integrated Science in Korea</vt:lpstr>
      <vt:lpstr>Difficulties in teaching Integrated Science in high school</vt:lpstr>
      <vt:lpstr>Importance of Cultural Context and Big Challenges in Korean Integrated Science</vt:lpstr>
      <vt:lpstr>Role of Questions in Science Education</vt:lpstr>
      <vt:lpstr>The Practical Need for a Science Q&amp;A Chatbot in Korea</vt:lpstr>
      <vt:lpstr>How a School Customized Science Q&amp;A Chatbot Helps</vt:lpstr>
      <vt:lpstr>Benefits for Korean Science Education</vt:lpstr>
      <vt:lpstr>Conclusion</vt:lpstr>
      <vt:lpstr>References</vt:lpstr>
      <vt:lpstr>References</vt:lpstr>
      <vt:lpstr>High School Science Q&amp;A Chatbot: A Hybrid IRQA–RAG Approach with an Open-Source LLMs (part 1: theoretical approach)</vt:lpstr>
      <vt:lpstr>Chatbot demonstration</vt:lpstr>
      <vt:lpstr>Introduction</vt:lpstr>
      <vt:lpstr>Research questions</vt:lpstr>
      <vt:lpstr>Methods 1</vt:lpstr>
      <vt:lpstr>Methods 2</vt:lpstr>
      <vt:lpstr>Our Solution: A Hybrid Approach</vt:lpstr>
      <vt:lpstr>Two Core Technologies for hybrid approach</vt:lpstr>
      <vt:lpstr>Results 1 What is design guidelines for a school customized science Q&amp;A chatbot using open-source LLM?</vt:lpstr>
      <vt:lpstr>Results 1 What is design guidelines for a school customized science Q&amp;A chatbot using open-source LLM?</vt:lpstr>
      <vt:lpstr>Results 2</vt:lpstr>
      <vt:lpstr>Results 2</vt:lpstr>
      <vt:lpstr>Results 2</vt:lpstr>
      <vt:lpstr>Results 2</vt:lpstr>
      <vt:lpstr>Results 2</vt:lpstr>
      <vt:lpstr>Conclusion, Discussion</vt:lpstr>
      <vt:lpstr>What We Will Present Tomorrow is…</vt:lpstr>
      <vt:lpstr>Limitations, How-tos, 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경모 민</dc:creator>
  <cp:lastModifiedBy>민경모</cp:lastModifiedBy>
  <cp:revision>153</cp:revision>
  <dcterms:created xsi:type="dcterms:W3CDTF">2025-07-22T14:29:11Z</dcterms:created>
  <dcterms:modified xsi:type="dcterms:W3CDTF">2026-04-21T02:51:08Z</dcterms:modified>
</cp:coreProperties>
</file>